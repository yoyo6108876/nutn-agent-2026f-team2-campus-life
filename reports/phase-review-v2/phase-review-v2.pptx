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0cca77b6-8488-e5f7-c19f-1826a7980436}">
          <p14:sldIdLst>
            <p14:sldId id="256"/>
            <p14:sldId id="257"/>
            <p14:sldId id="258"/>
          </p14:sldIdLst>
        </p14:section>
        <p14:section name="系統設計" id="{62b4963e-3b8d-1e94-8678-ccf4f0ab643c}">
          <p14:sldIdLst>
            <p14:sldId id="259"/>
            <p14:sldId id="260"/>
            <p14:sldId id="261"/>
            <p14:sldId id="262"/>
          </p14:sldIdLst>
        </p14:section>
        <p14:section name="實際示範" id="{f32f4bb9-97a8-2dda-02aa-50c469c5c2af}">
          <p14:sldIdLst>
            <p14:sldId id="263"/>
            <p14:sldId id="264"/>
          </p14:sldIdLst>
        </p14:section>
        <p14:section name="PDF 預檢" id="{992aba50-e4b6-f714-08de-7303eae1a1bd}">
          <p14:sldIdLst>
            <p14:sldId id="265"/>
            <p14:sldId id="266"/>
            <p14:sldId id="267"/>
          </p14:sldIdLst>
        </p14:section>
        <p14:section name="驗證與限制" id="{75b64418-5965-d4dd-03a0-2472368f9b50}">
          <p14:sldIdLst>
            <p14:sldId id="268"/>
            <p14:sldId id="269"/>
            <p14:sldId id="270"/>
          </p14:sldIdLst>
        </p14:section>
        <p14:section name="結尾" id="{cd3eaa52-0710-9780-2879-c780abb5f812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通過測試</c:v>
                </c:pt>
              </c:strCache>
            </c:strRef>
          </c:tx>
          <c:spPr>
            <a:solidFill>
              <a:srgbClr val="6676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A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6768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76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D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C5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D6BB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W4</c:v>
                  </c:pt>
                  <c:pt idx="1">
                    <c:v>W5</c:v>
                  </c:pt>
                  <c:pt idx="2">
                    <c:v>W7</c:v>
                  </c:pt>
                  <c:pt idx="3">
                    <c:v>v0.8</c:v>
                  </c:pt>
                  <c:pt idx="4">
                    <c:v>W6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</c:v>
                </c:pt>
                <c:pt idx="1">
                  <c:v>131</c:v>
                </c:pt>
                <c:pt idx="2">
                  <c:v>148</c:v>
                </c:pt>
                <c:pt idx="3">
                  <c:v>178</c:v>
                </c:pt>
                <c:pt idx="4">
                  <c:v>213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A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676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　【時間】約 20 秒
【講稿】
大家好，我們是第 02 組，題目是「作業規格與缺漏檢查助手」。我是林崇瑋，隊長是陳冠友。
簡單說，學生交作業前，系統會拿老師的範例和規格來比對，把每一項要求標成已完成、需補件或待確認，就像右邊這張卡片。今天展示的是本機的階段原型，所有資料都是合成的。
【注意】
・不要說成「完整自動批改」或「正式校園服務」。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　【時間】約 50 秒
【講稿】
先講問題。老師會給範例和必做要求，但學生交之前，常常不知道自己少了哪一段。難的地方在於：「有寫」不等於「符合」。
看右邊三個例子。第一個，學生把「使用者」這一節寫成「誰會用」，標題不同，但內容有描述對象和情境，應該算已完成。第二個，失敗案例只寫了輸入和結果，沒寫原因，這是需補件。第三個，學生說測試紀錄在附錄，但系統讀不到附錄，不能直接判缺交，只能標待確認、交給老師。
標題和用字一直在變，關鍵字規則判不準，這就是我們需要 LLM 判讀語意的原因。
【注意】
・完整的「學生到老師通知」流程仍是願景，現有結果只在系統畫面內呈現。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　【時間】約 45 秒
【講稿】
這是我們七週的累積。綠點是有證據的完成項，下面橘色字是還沒補齊的缺口，例如 Week 4 課程指定的 Gemini 沒有驗證。Week 6 是 10 月 30 日補交的，在 PDF 預檢上加了「評估後修訂」，真實比較還沒證明有改善。最右邊黃色的 v0.8，是 10 月 28 日晚上新增的 PDF 預檢。
整理下來有三條路徑：A 文字語意比對、B 補件工具流程、C PDF 預檢，三條都有真實呼叫成功的紀錄；但 C 用的是合成 PDF，而且事先寫好的 7 項業務預期只中 6 項。
最大的缺口是：A 和 C 的判讀結果還沒接到 B 的草稿工具，B 目前讀的是預先寫好的合成評閱快照。
【注意】
・Week 3 缺教師費率原文、Week 4／5 分別是 107／131 項測試，被問到再回答。
・舊版簡報寫「PDF 規劃中」、Week 6「不列為完成」，現在要以這頁為準。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45 秒
【講稿】
接下來由我陳冠友說明設計。我們的原則是：需要理解語意的交給模型，能明確驗證的交給程式。
模型負責判斷換句話說是否符合、內容有沒有寫完整、讀 PDF 的文字和圖片，以及提出工具呼叫。程式負責欄位和版本驗證、原文引用和頁碼核對、權限與人工確認，還有資料庫交易。
要強調的是，單次比對其實不需要 Agent；只有「先查詢、再提案、使用者確認後才執行、最後回填結果」這種多步流程，才需要受控的工具迴圈。
【注意】
・模型是在受限的工具集合裡產生 call，Host 控制允許的順序，不是自由規劃。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55 秒
【講稿】
這是系統架構。使用者從瀏覽器的 /week7 進來，所有請求都先經過中間的 FastAPI 和 Host。Host 先驗證 Cookie 和 Session 身分，再把 context 送給 OpenAI。
模型回來的只是「提出工具呼叫」，Host 會檢查參數和允許的工具順序，通過了才執行。下面四塊是 Host 管理的資料：來源與 RAG gate 管版本和 hash；MCP 唯讀伺服器提供既有的評閱快照；SQLite 存草稿、收據和稽核，只有使用者確認後才會寫；Session 記憶只留最近一筆成功摘要。
工具結果回填模型之後，Host 會再核對一次摘要才回傳畫面。記憶只是背景資訊，不能拿來授權寫入。
【注意】
・PDF 預檢預設模型是 gpt-5.4-2026-03-05；工具與文字流程是 gpt-4.1-mini-2025-04-14。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45 秒
【講稿】
兩個工具都有明確的輸入、輸出和驗證。get_submission_review 是唯讀的，透過 MCP stdio 讀出缺漏、待確認項和引用。
create_revision_draft 是寫入工具，但模型呼叫它時只算「提案」。確認旗標和 request_id 不是模型給的，而是使用者按下確認後由 Host 綁定，同一個 run ID 只會寫一次。
另外有三個硬性上限：模型最多三輪、可重試的錯誤最多兩次、提案十分鐘到期。遇到非法參數、順序不符、引用不足或沒有權限，就立刻停止、不寫入，交給老師處理。
【注意】
・可指向 contracts.py 的 Pydantic schema。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45 秒
【講稿】
Week 7 我們做的是 Session 記憶。成功的報告摘要通過核對後，只在這個 Session 保留最近一筆，大小在 4096 bytes 以內，不含原文，也不含先前的同意。下次呼叫模型時，會先核對擁有者和來源版本。
有三種情況會切斷記憶：清除對話、換成另一位使用者、來源更新成新版本。這時 context 裡的 memory 就是 null，舊的提案也會失效。右邊是實際畫面。
要注意，清除不等於刪除：草稿、交易和稽核紀錄還是保留在本機。
【注意】
・對應 Lecture07 第 8 頁／投影片 84。
・不要說「清除後全部資料都刪掉了」。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【講者】陳冠友操作、林崇瑋補充　【時間】約 1 分 50 秒
【操作】
・開啟 /week7，選「示範學生 A」→「切換／開始」，執行方式選「GPT 實際 AI」。
・按「準備補件清單」，等結果出來。
・展開 trace，再按「確認建立草稿」。
【講稿】
接下來實際操作。我按「準備補件清單」，這時 GPT 真的在決定要呼叫哪個工具、帶什麼參數。
結果出來了：使用者與需求已完成、失敗案例需補件、附錄待確認，每一項都附了引用。注意現在的狀態是「等待確認」，資料庫還沒有寫入任何東西。
展開 trace，可以看到流程是 function_call、tool_validated、read_executed、tool_result_returned，然後停在 awaiting_confirmation。
現在我按「確認建立草稿」。收到收據、狀態是 LIVE_PASS，這時候才寫入一份本機草稿，沒有通知任何人；同一個請求重送，仍然只有一份。
要說明的是，這個工具讀的是預先寫好的合成評閱快照，不是剛剛重新批改。
【注意】
・API 失敗時不要一直重按，改用 reports/midterm/screenshots/01、02 截圖，並說明「這是 2026-10-28、程式 6a5bc9b 的執行畫面」，不能稱為現場成功。
・不要現場重按「準備」當成同 ID 重送；同 ID 重送的證據在 W01/W02 JSON。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【講者】林崇瑋解說、陳冠友操作　【時間】約 1 分 30 秒
【操作】
・切到「文字語意比對」，勾選「我已核對以上項目為本次必做要求」，按「呼叫 GPT 進行語意檢查」。
・結束前按「清除對話，開始新 Session」，切回補件工具流程，展開「本次記憶範圍」。
【講稿】
再看文字語意比對，這一條才是真正讓模型做判斷。老師要求說明使用者情境，並提供包含輸入、結果和原因的失敗案例。
結果 R1 已完成：學生用「誰會用」當標題，但仍然描述了對象和情境。R2 需補件：有輸入、有結果，但沒寫失敗原因。
系統確認每一段引用確實存在於原文；但引用存在不代表判斷一定對，模型建議的失敗原因也需要學生自己查證，不能照抄。
最後我們按「清除對話」，再看記憶範圍：memory 是 null，舊摘要已經不會進入模型。
【注意】
・語意結果尚未接回工具流程的固定快照，兩條流程分開驗證。
・備援截圖：03 語意比對、04 清除對話。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1 分鐘
【講稿】
這是舊版簡報之後新增的 PDF 預檢。學生上傳老師的規格和自己的報告，每份最多 6 MiB、25 頁，兩份合計 35 頁。
Host 先擷取文字並把每一行編號。GPT 同時讀文字和頁面圖片，判斷每項要求有沒有完成，但它只回傳證據的「行號」，引文由 Host 從原文直接複製，所以引用不會被模型改寫。
估分有三道關卡：老師原文要明列配分、總和要是 100、使用者要確認配分正確。三個都成立才顯示估分區間，否則只列缺漏。只交 PDF 時看不到 C++ 原始碼，這只會列為待確認，不會直接算零分。
【注意】
・原版一次操作只呼叫一次模型，候選流程未通過時最多兩次，都會使用 API 額度。
・正式時間內不現場跑 PDF（gpt-5.4 一次約 35 秒，會超出 14 分鐘）。問答時若要示範，只用 examples/week6 的合成 PDF，不要投影真實學生作業。估分區間未與老師成績校準，被問到再說明。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50 秒
【講稿】
PDF 這條我們把真實呼叫紀錄都列出來。第一版用 gpt-4.1-mini 讓模型直接寫引文，它把摘要當成逐字引文，被 UNGROUNDED_PDF_REPORT 擋下。第二版改成模型只選行號，它又選了跨頁、過長的範圍，被 INVALID_SOURCE_REFERENCE 擋下。
第三版換成 gpt-5.4。Week 6 用合成 PDF 實測兩輪，都通過系統核對；但我們事先寫好的 7 項業務預期，每次只中 6 項：模型說學生第 2 頁有終端機截圖，實際上沒有，系統核對也擋不住這種錯。
所以格式通過、引用正確、語意判斷正確，是三件不同的事，要分開驗證。
【注意】
・通過紀錄是合成 PDF、每版每輪一次，只能說「這組案例通過」，不能說準確率。
・真實學生作業、分數與引文只留本機，不要投影或公開。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【講者】陳冠友　【時間】約 1 分鐘
【講稿】
Week 6 的作業是挑一段子流程，用講義的五種 workflow 之一重構。我們選 PDF 預檢，用 Evaluator–optimizer。
原本模型產生一次，系統遇到第一個錯就整份作廢。現在系統用同一套規則列出草稿 A 的問題和位置，連同 A 送回 GPT 修訂一次；修訂稿 B 用同一套規則重評，還是不過就停在第 2 份、不給分。A 一次就通過的話，呼叫次數和原版一樣。
真實比較的結果，我們照實講：gpt-5.4 兩輪都是第一份就通過，候選沒有多花呼叫，但也沒有差異；gpt-4.1-mini 兩輪都失敗，而且修訂稿兩次都和 A 一字不差，tokens 約為原版的 2.3 倍。
所以結論是「尚未證明改善」，預設維持原版。下一步是把草稿 A 改放在 user 訊息裡再重測。
【注意】
・離線 15 個案例證明的是控制邏輯（修訂後通過、到上限停止、檔案放反不修訂），不是真實效果。
・比較表與 ADR 在 docs/week06/，被問到細節可直接打開。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　【時間】約 40 秒
【講稿】
再來是測試。回歸測試從 Week 4 的 107 項、Week 5 的 131 項、Week 7 的 148 項，加入 PDF 後到 178 項，Week 6 補交後是 213 項，全部通過。
右邊是關鍵案例，每一列都標了執行模式：GPT 是真實呼叫，HTTP 是伺服器權限檢查，故障注入和離線是我們刻意製造的情境。例如跨使用者讀取，會回傳 RUN_NOT_FOUND，不會透露別人的資料存不存在。
要提醒的是，離線測試通過不等於真實模型的準確率。
【注意】
・W6 長條排在 v0.8 之後，因為 Week 6 是 10/30 才補交。
・Week 7 共 14 次回覆、18,296 tokens；Week 6 共 10 次回覆、86,451 tokens。tokens 是用量，不是帳單金額。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　【時間】約 40 秒
【講稿】
我們也保留了一個真實失敗。原版和加了 Session 記憶的候選版，用同樣的輸入、同樣的模型、同樣的來源各跑一次。
原版讀完資料後直接回答，跳過了草稿提案，Host 用 UNEXPECTED_TOOL_SEQUENCE 擋下，沒有寫入；候選版則正常完成。數字上，原版 2 次回覆、2,133 tokens，候選版 3 次、4,352 tokens。
但這只有一組樣本，而且兩邊完成的終點不同，所以我們不能說記憶提升了品質或降低了成本。另外，課程指定的 Google Cloud Gemini 我們沒有執行，這部分還不符合要求。
【注意】
・完整 live index 是 all_passed=false，不要只挑候選成功說整組通過。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【講者】林崇瑋　【時間】約 50 秒
【講稿】
最後整理現況。已完成且驗證的有：文字語意比對、補件工具流程、Session 清除與跨人隔離。
已經實作、但效果還沒證明的有：Week 6 的評估後修訂，真實比較尚未證明改善；PDF 預檢在合成 PDF 上通過，但 7 項業務預期只中 6 項；來源 v2 排除只有離線測試，估分區間還沒和老師成績校準。
期末前的第一優先，是把 PDF 和語意判讀的結果轉成不可變的評閱快照，再接進草稿工具；同時建立 20 組老師標註的案例。之後再做掃描 PDF 的 OCR、正式登入和教師角色。
驗收方式是：20 組標註案例、跨人隔離、來源變更拒寫、可重現的 trace，並分開報告正確率和拒答率。
【注意】
・正式登入尚未實作，不能放進「已實作，效果待證明」那欄。外部通知與 LMS 串接需另行授權，仍是規劃。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【講者】兩人　【時間】約 30 秒
【講稿】
（陳冠友）分工上，目前的建議是：我負責後端、工具確認、Session 記憶和 PDF 預檢示範。
（林崇瑋）我負責使用情境、來源引用、測試和失敗分析。
開發、測試和簡報製作有使用 Codex 和 Claude 協助。以上是我們的報告，謝謝，歡迎提問。
【注意】
・這是建議分工，上台前請改成兩人確認過的實際分工，不要把建議念成已完成的事實。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6766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69494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accent6"/>
                </a:solidFill>
              </a:rPr>
              <a:t>第 02 組 · 作業規格與缺漏檢查助手</a:t>
            </a:r>
            <a:endParaRPr lang="zh-TW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dirty="0">
                <a:solidFill>
                  <a:schemeClr val="bg2"/>
                </a:solidFill>
              </a:rPr>
              <a:t>第 02 組 · 作業規格與缺漏檢查助手</a:t>
            </a:r>
            <a:endParaRPr lang="zh-TW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3-1.png"/><Relationship Id="rId3" Type="http://schemas.openxmlformats.org/officeDocument/2006/relationships/image" Target="../media/image-13-2.png"/><Relationship Id="rId4" Type="http://schemas.openxmlformats.org/officeDocument/2006/relationships/image" Target="../media/image-13-3.png"/><Relationship Id="rId5" Type="http://schemas.openxmlformats.org/officeDocument/2006/relationships/image" Target="../media/image-13-4.png"/><Relationship Id="rId6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階段性成果檢視 · WEEK 01–07 ＋ PDF 預檢 v0.8</a:t>
            </a:r>
            <a:endParaRPr lang="zh-TW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2588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4400" b="1" dirty="0">
                <a:solidFill>
                  <a:schemeClr val="bg1"/>
                </a:solidFill>
              </a:rPr>
              <a:t>作業規格與缺漏檢查助手</a:t>
            </a:r>
            <a:endParaRPr lang="zh-TW" sz="4400" dirty="0"/>
          </a:p>
        </p:txBody>
      </p:sp>
      <p:sp>
        <p:nvSpPr>
          <p:cNvPr id="5" name="text-1"/>
          <p:cNvSpPr txBox="1"/>
          <p:nvPr/>
        </p:nvSpPr>
        <p:spPr>
          <a:xfrm>
            <a:off x="548640" y="2468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altLang="en-US" sz="2000" dirty="0">
                <a:solidFill>
                  <a:schemeClr val="bg2"/>
                </a:solidFill>
              </a:rPr>
              <a:t>以老師範例為參考，交作業前先指出哪些已完成、哪些需要補件、哪些要等老師確認。</a:t>
            </a:r>
            <a:endParaRPr lang="zh-TW" sz="2000" dirty="0"/>
          </a:p>
        </p:txBody>
      </p:sp>
      <p:sp>
        <p:nvSpPr>
          <p:cNvPr id="6" name="chip-met-2"/>
          <p:cNvSpPr/>
          <p:nvPr/>
        </p:nvSpPr>
        <p:spPr>
          <a:xfrm>
            <a:off x="548640" y="3657600"/>
            <a:ext cx="1139342" cy="3495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7" name="chip-icon-3" descr="已完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727501"/>
            <a:ext cx="209702" cy="209702"/>
          </a:xfrm>
          <a:prstGeom prst="rect">
            <a:avLst/>
          </a:prstGeom>
        </p:spPr>
      </p:pic>
      <p:sp>
        <p:nvSpPr>
          <p:cNvPr id="8" name="chip-text-4"/>
          <p:cNvSpPr txBox="1"/>
          <p:nvPr/>
        </p:nvSpPr>
        <p:spPr>
          <a:xfrm>
            <a:off x="932078" y="3657600"/>
            <a:ext cx="746760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已完成</a:t>
            </a:r>
            <a:endParaRPr lang="zh-TW" sz="1600" dirty="0"/>
          </a:p>
        </p:txBody>
      </p:sp>
      <p:sp>
        <p:nvSpPr>
          <p:cNvPr id="9" name="chip-partial-5"/>
          <p:cNvSpPr/>
          <p:nvPr/>
        </p:nvSpPr>
        <p:spPr>
          <a:xfrm>
            <a:off x="1870862" y="3657600"/>
            <a:ext cx="1139342" cy="3495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pic>
        <p:nvPicPr>
          <p:cNvPr id="10" name="chip-icon-6" descr="需補件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590" y="3727501"/>
            <a:ext cx="209702" cy="209702"/>
          </a:xfrm>
          <a:prstGeom prst="rect">
            <a:avLst/>
          </a:prstGeom>
        </p:spPr>
      </p:pic>
      <p:sp>
        <p:nvSpPr>
          <p:cNvPr id="11" name="chip-text-7"/>
          <p:cNvSpPr txBox="1"/>
          <p:nvPr/>
        </p:nvSpPr>
        <p:spPr>
          <a:xfrm>
            <a:off x="2254301" y="3657600"/>
            <a:ext cx="746760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需補件</a:t>
            </a:r>
            <a:endParaRPr lang="zh-TW" sz="1600" dirty="0"/>
          </a:p>
        </p:txBody>
      </p:sp>
      <p:sp>
        <p:nvSpPr>
          <p:cNvPr id="12" name="chip-unsure-8"/>
          <p:cNvSpPr/>
          <p:nvPr/>
        </p:nvSpPr>
        <p:spPr>
          <a:xfrm>
            <a:off x="3193085" y="3657600"/>
            <a:ext cx="1139342" cy="3495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13" name="chip-icon-9" descr="待確認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813" y="3727501"/>
            <a:ext cx="209702" cy="209702"/>
          </a:xfrm>
          <a:prstGeom prst="rect">
            <a:avLst/>
          </a:prstGeom>
        </p:spPr>
      </p:pic>
      <p:sp>
        <p:nvSpPr>
          <p:cNvPr id="14" name="chip-text-10"/>
          <p:cNvSpPr txBox="1"/>
          <p:nvPr/>
        </p:nvSpPr>
        <p:spPr>
          <a:xfrm>
            <a:off x="3576523" y="3657600"/>
            <a:ext cx="746760" cy="34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待確認</a:t>
            </a:r>
            <a:endParaRPr lang="zh-TW" sz="1600" dirty="0"/>
          </a:p>
        </p:txBody>
      </p:sp>
      <p:sp>
        <p:nvSpPr>
          <p:cNvPr id="15" name="text-11"/>
          <p:cNvSpPr txBox="1"/>
          <p:nvPr/>
        </p:nvSpPr>
        <p:spPr>
          <a:xfrm>
            <a:off x="5486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第 02 組</a:t>
            </a:r>
            <a:endParaRPr lang="zh-TW" sz="1800" dirty="0"/>
          </a:p>
        </p:txBody>
      </p:sp>
      <p:sp>
        <p:nvSpPr>
          <p:cNvPr id="16" name="text-12"/>
          <p:cNvSpPr txBox="1"/>
          <p:nvPr/>
        </p:nvSpPr>
        <p:spPr>
          <a:xfrm>
            <a:off x="548640" y="5120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陳冠友 S11259039（隊長）　林崇瑋 S11259031（隊員）</a:t>
            </a:r>
            <a:endParaRPr lang="zh-TW" sz="1600" dirty="0"/>
          </a:p>
        </p:txBody>
      </p:sp>
      <p:sp>
        <p:nvSpPr>
          <p:cNvPr id="17" name="text-13"/>
          <p:cNvSpPr txBox="1"/>
          <p:nvPr/>
        </p:nvSpPr>
        <p:spPr>
          <a:xfrm>
            <a:off x="548640" y="59893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證據 2026-10-28／30 · W7 6a5bc9b · PDF 13b2b1e · W6 327b7e2 · 資料皆為合成</a:t>
            </a:r>
            <a:endParaRPr lang="zh-TW" sz="1200" dirty="0"/>
          </a:p>
        </p:txBody>
      </p:sp>
      <p:sp>
        <p:nvSpPr>
          <p:cNvPr id="18" name="mock-card-14"/>
          <p:cNvSpPr/>
          <p:nvPr/>
        </p:nvSpPr>
        <p:spPr>
          <a:xfrm>
            <a:off x="7818120" y="1097280"/>
            <a:ext cx="3822192" cy="4526280"/>
          </a:xfrm>
          <a:prstGeom prst="roundRect">
            <a:avLst>
              <a:gd name="adj" fmla="val 23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9" name="icon-bg-15"/>
          <p:cNvSpPr/>
          <p:nvPr/>
        </p:nvSpPr>
        <p:spPr>
          <a:xfrm>
            <a:off x="8092440" y="1371600"/>
            <a:ext cx="530352" cy="53035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-16" descr="Fi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724" y="1498884"/>
            <a:ext cx="275783" cy="275783"/>
          </a:xfrm>
          <a:prstGeom prst="rect">
            <a:avLst/>
          </a:prstGeom>
        </p:spPr>
      </p:pic>
      <p:sp>
        <p:nvSpPr>
          <p:cNvPr id="21" name="text-17"/>
          <p:cNvSpPr txBox="1"/>
          <p:nvPr/>
        </p:nvSpPr>
        <p:spPr>
          <a:xfrm>
            <a:off x="877824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作業檢查結果</a:t>
            </a:r>
            <a:endParaRPr lang="zh-TW" sz="1800" dirty="0"/>
          </a:p>
        </p:txBody>
      </p:sp>
      <p:sp>
        <p:nvSpPr>
          <p:cNvPr id="22" name="text-18"/>
          <p:cNvSpPr txBox="1"/>
          <p:nvPr/>
        </p:nvSpPr>
        <p:spPr>
          <a:xfrm>
            <a:off x="8778240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提交前自我檢查 · 不是正式成績</a:t>
            </a:r>
            <a:endParaRPr lang="zh-TW" sz="1100" dirty="0"/>
          </a:p>
        </p:txBody>
      </p:sp>
      <p:sp>
        <p:nvSpPr>
          <p:cNvPr id="23" name="rule-19"/>
          <p:cNvSpPr/>
          <p:nvPr/>
        </p:nvSpPr>
        <p:spPr>
          <a:xfrm>
            <a:off x="8092440" y="2295144"/>
            <a:ext cx="329184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4" name="text-20"/>
          <p:cNvSpPr txBox="1"/>
          <p:nvPr/>
        </p:nvSpPr>
        <p:spPr>
          <a:xfrm>
            <a:off x="8092440" y="24231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使用者與需求</a:t>
            </a:r>
            <a:endParaRPr lang="zh-TW" sz="1500" dirty="0"/>
          </a:p>
        </p:txBody>
      </p:sp>
      <p:sp>
        <p:nvSpPr>
          <p:cNvPr id="25" name="chip-met-21"/>
          <p:cNvSpPr/>
          <p:nvPr/>
        </p:nvSpPr>
        <p:spPr>
          <a:xfrm>
            <a:off x="10332720" y="2441448"/>
            <a:ext cx="910742" cy="2860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6" name="chip-icon-22" descr="已完成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2498649"/>
            <a:ext cx="171602" cy="171602"/>
          </a:xfrm>
          <a:prstGeom prst="rect">
            <a:avLst/>
          </a:prstGeom>
        </p:spPr>
      </p:pic>
      <p:sp>
        <p:nvSpPr>
          <p:cNvPr id="27" name="chip-text-23"/>
          <p:cNvSpPr txBox="1"/>
          <p:nvPr/>
        </p:nvSpPr>
        <p:spPr>
          <a:xfrm>
            <a:off x="10678058" y="2441448"/>
            <a:ext cx="556260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已完成</a:t>
            </a:r>
            <a:endParaRPr lang="zh-TW" sz="1100" dirty="0"/>
          </a:p>
        </p:txBody>
      </p:sp>
      <p:sp>
        <p:nvSpPr>
          <p:cNvPr id="28" name="bar-24"/>
          <p:cNvSpPr/>
          <p:nvPr/>
        </p:nvSpPr>
        <p:spPr>
          <a:xfrm>
            <a:off x="8092440" y="2862072"/>
            <a:ext cx="2103120" cy="100584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29" name="bar-25"/>
          <p:cNvSpPr/>
          <p:nvPr/>
        </p:nvSpPr>
        <p:spPr>
          <a:xfrm>
            <a:off x="8092440" y="3044952"/>
            <a:ext cx="1472184" cy="100584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30" name="rule-26"/>
          <p:cNvSpPr/>
          <p:nvPr/>
        </p:nvSpPr>
        <p:spPr>
          <a:xfrm>
            <a:off x="8092440" y="3319272"/>
            <a:ext cx="329184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1" name="text-27"/>
          <p:cNvSpPr txBox="1"/>
          <p:nvPr/>
        </p:nvSpPr>
        <p:spPr>
          <a:xfrm>
            <a:off x="8092440" y="3447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失敗案例的原因</a:t>
            </a:r>
            <a:endParaRPr lang="zh-TW" sz="1500" dirty="0"/>
          </a:p>
        </p:txBody>
      </p:sp>
      <p:sp>
        <p:nvSpPr>
          <p:cNvPr id="32" name="chip-partial-28"/>
          <p:cNvSpPr/>
          <p:nvPr/>
        </p:nvSpPr>
        <p:spPr>
          <a:xfrm>
            <a:off x="10332720" y="3465576"/>
            <a:ext cx="910742" cy="2860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pic>
        <p:nvPicPr>
          <p:cNvPr id="33" name="chip-icon-29" descr="需補件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448" y="3522777"/>
            <a:ext cx="171602" cy="171602"/>
          </a:xfrm>
          <a:prstGeom prst="rect">
            <a:avLst/>
          </a:prstGeom>
        </p:spPr>
      </p:pic>
      <p:sp>
        <p:nvSpPr>
          <p:cNvPr id="34" name="chip-text-30"/>
          <p:cNvSpPr txBox="1"/>
          <p:nvPr/>
        </p:nvSpPr>
        <p:spPr>
          <a:xfrm>
            <a:off x="10678058" y="3465576"/>
            <a:ext cx="556260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需補件</a:t>
            </a:r>
            <a:endParaRPr lang="zh-TW" sz="1100" dirty="0"/>
          </a:p>
        </p:txBody>
      </p:sp>
      <p:sp>
        <p:nvSpPr>
          <p:cNvPr id="35" name="bar-31"/>
          <p:cNvSpPr/>
          <p:nvPr/>
        </p:nvSpPr>
        <p:spPr>
          <a:xfrm>
            <a:off x="8092440" y="3886200"/>
            <a:ext cx="1554480" cy="100584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36" name="bar-32"/>
          <p:cNvSpPr/>
          <p:nvPr/>
        </p:nvSpPr>
        <p:spPr>
          <a:xfrm>
            <a:off x="8092440" y="4069080"/>
            <a:ext cx="1088136" cy="100584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37" name="rule-33"/>
          <p:cNvSpPr/>
          <p:nvPr/>
        </p:nvSpPr>
        <p:spPr>
          <a:xfrm>
            <a:off x="8092440" y="4343400"/>
            <a:ext cx="329184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8" name="text-34"/>
          <p:cNvSpPr txBox="1"/>
          <p:nvPr/>
        </p:nvSpPr>
        <p:spPr>
          <a:xfrm>
            <a:off x="8092440" y="44714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附錄測試紀錄</a:t>
            </a:r>
            <a:endParaRPr lang="zh-TW" sz="1500" dirty="0"/>
          </a:p>
        </p:txBody>
      </p:sp>
      <p:sp>
        <p:nvSpPr>
          <p:cNvPr id="39" name="chip-unsure-35"/>
          <p:cNvSpPr/>
          <p:nvPr/>
        </p:nvSpPr>
        <p:spPr>
          <a:xfrm>
            <a:off x="10332720" y="4489704"/>
            <a:ext cx="910742" cy="2860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40" name="chip-icon-36" descr="待確認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4546905"/>
            <a:ext cx="171602" cy="171602"/>
          </a:xfrm>
          <a:prstGeom prst="rect">
            <a:avLst/>
          </a:prstGeom>
        </p:spPr>
      </p:pic>
      <p:sp>
        <p:nvSpPr>
          <p:cNvPr id="41" name="chip-text-37"/>
          <p:cNvSpPr txBox="1"/>
          <p:nvPr/>
        </p:nvSpPr>
        <p:spPr>
          <a:xfrm>
            <a:off x="10678058" y="4489704"/>
            <a:ext cx="556260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待確認</a:t>
            </a:r>
            <a:endParaRPr lang="zh-TW" sz="1100" dirty="0"/>
          </a:p>
        </p:txBody>
      </p:sp>
      <p:sp>
        <p:nvSpPr>
          <p:cNvPr id="42" name="bar-38"/>
          <p:cNvSpPr/>
          <p:nvPr/>
        </p:nvSpPr>
        <p:spPr>
          <a:xfrm>
            <a:off x="8092440" y="4910328"/>
            <a:ext cx="1828800" cy="100584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  <p:sp>
        <p:nvSpPr>
          <p:cNvPr id="43" name="bar-39"/>
          <p:cNvSpPr/>
          <p:nvPr/>
        </p:nvSpPr>
        <p:spPr>
          <a:xfrm>
            <a:off x="8092440" y="5093208"/>
            <a:ext cx="1280160" cy="100584"/>
          </a:xfrm>
          <a:prstGeom prst="roundRect">
            <a:avLst>
              <a:gd name="adj" fmla="val 45455"/>
            </a:avLst>
          </a:prstGeom>
          <a:solidFill>
            <a:schemeClr val="bg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問題與使用情境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學生交作業前，常常不知道少了哪一段</a:t>
            </a:r>
            <a:endParaRPr lang="zh-TW" sz="3000" dirty="0"/>
          </a:p>
        </p:txBody>
      </p:sp>
      <p:sp>
        <p:nvSpPr>
          <p:cNvPr id="5" name="text-40"/>
          <p:cNvSpPr txBox="1"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誰會用、怎麼用</a:t>
            </a:r>
            <a:endParaRPr lang="zh-TW" sz="1800" dirty="0"/>
          </a:p>
        </p:txBody>
      </p:sp>
      <p:sp>
        <p:nvSpPr>
          <p:cNvPr id="6" name="rule-41"/>
          <p:cNvSpPr/>
          <p:nvPr/>
        </p:nvSpPr>
        <p:spPr>
          <a:xfrm>
            <a:off x="868680" y="2788920"/>
            <a:ext cx="0" cy="54864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7" name="icon-bg-42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con-43" descr="GraduationC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2302459"/>
            <a:ext cx="332842" cy="332842"/>
          </a:xfrm>
          <a:prstGeom prst="rect">
            <a:avLst/>
          </a:prstGeom>
        </p:spPr>
      </p:pic>
      <p:sp>
        <p:nvSpPr>
          <p:cNvPr id="9" name="text-44"/>
          <p:cNvSpPr txBox="1"/>
          <p:nvPr/>
        </p:nvSpPr>
        <p:spPr>
          <a:xfrm>
            <a:off x="1417320" y="21671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老師</a:t>
            </a:r>
            <a:endParaRPr lang="zh-TW" sz="1800" dirty="0"/>
          </a:p>
        </p:txBody>
      </p:sp>
      <p:sp>
        <p:nvSpPr>
          <p:cNvPr id="10" name="text-45"/>
          <p:cNvSpPr txBox="1"/>
          <p:nvPr/>
        </p:nvSpPr>
        <p:spPr>
          <a:xfrm>
            <a:off x="1417320" y="25146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提供範例與已確認的必做要求</a:t>
            </a:r>
            <a:endParaRPr lang="zh-TW" sz="1500" dirty="0"/>
          </a:p>
        </p:txBody>
      </p:sp>
      <p:sp>
        <p:nvSpPr>
          <p:cNvPr id="11" name="rule-46"/>
          <p:cNvSpPr/>
          <p:nvPr/>
        </p:nvSpPr>
        <p:spPr>
          <a:xfrm>
            <a:off x="868680" y="3977640"/>
            <a:ext cx="0" cy="54864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12" name="icon-bg-47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-48" descr="File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3491179"/>
            <a:ext cx="332842" cy="332842"/>
          </a:xfrm>
          <a:prstGeom prst="rect">
            <a:avLst/>
          </a:prstGeom>
        </p:spPr>
      </p:pic>
      <p:sp>
        <p:nvSpPr>
          <p:cNvPr id="14" name="text-49"/>
          <p:cNvSpPr txBox="1"/>
          <p:nvPr/>
        </p:nvSpPr>
        <p:spPr>
          <a:xfrm>
            <a:off x="1417320" y="33558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學生</a:t>
            </a:r>
            <a:endParaRPr lang="zh-TW" sz="1800" dirty="0"/>
          </a:p>
        </p:txBody>
      </p:sp>
      <p:sp>
        <p:nvSpPr>
          <p:cNvPr id="15" name="text-50"/>
          <p:cNvSpPr txBox="1"/>
          <p:nvPr/>
        </p:nvSpPr>
        <p:spPr>
          <a:xfrm>
            <a:off x="1417320" y="37033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交報告前先貼上或上傳，自我檢查</a:t>
            </a:r>
            <a:endParaRPr lang="zh-TW" sz="1500" dirty="0"/>
          </a:p>
        </p:txBody>
      </p:sp>
      <p:sp>
        <p:nvSpPr>
          <p:cNvPr id="16" name="icon-bg-51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con-52" descr="List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679899"/>
            <a:ext cx="332842" cy="332842"/>
          </a:xfrm>
          <a:prstGeom prst="rect">
            <a:avLst/>
          </a:prstGeom>
        </p:spPr>
      </p:pic>
      <p:sp>
        <p:nvSpPr>
          <p:cNvPr id="18" name="text-53"/>
          <p:cNvSpPr txBox="1"/>
          <p:nvPr/>
        </p:nvSpPr>
        <p:spPr>
          <a:xfrm>
            <a:off x="1417320" y="4544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老師與學生</a:t>
            </a:r>
            <a:endParaRPr lang="zh-TW" sz="1800" dirty="0"/>
          </a:p>
        </p:txBody>
      </p:sp>
      <p:sp>
        <p:nvSpPr>
          <p:cNvPr id="19" name="text-54"/>
          <p:cNvSpPr txBox="1"/>
          <p:nvPr/>
        </p:nvSpPr>
        <p:spPr>
          <a:xfrm>
            <a:off x="1417320" y="4892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學生看補件建議，老師看有引用的待確認項</a:t>
            </a:r>
            <a:endParaRPr lang="zh-TW" sz="1500" dirty="0"/>
          </a:p>
        </p:txBody>
      </p:sp>
      <p:sp>
        <p:nvSpPr>
          <p:cNvPr id="20" name="text-55"/>
          <p:cNvSpPr txBox="1"/>
          <p:nvPr/>
        </p:nvSpPr>
        <p:spPr>
          <a:xfrm>
            <a:off x="60350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同樣「有寫」，判斷可能不同</a:t>
            </a:r>
            <a:endParaRPr lang="zh-TW" sz="1800" dirty="0"/>
          </a:p>
        </p:txBody>
      </p:sp>
      <p:sp>
        <p:nvSpPr>
          <p:cNvPr id="21" name="card-56"/>
          <p:cNvSpPr/>
          <p:nvPr/>
        </p:nvSpPr>
        <p:spPr>
          <a:xfrm>
            <a:off x="6035040" y="2103120"/>
            <a:ext cx="5605272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22" name="text-57"/>
          <p:cNvSpPr txBox="1"/>
          <p:nvPr/>
        </p:nvSpPr>
        <p:spPr>
          <a:xfrm>
            <a:off x="6263640" y="22677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「誰會用」寫成：擔心漏寫的南大同學</a:t>
            </a:r>
            <a:endParaRPr lang="zh-TW" sz="1500" dirty="0"/>
          </a:p>
        </p:txBody>
      </p:sp>
      <p:sp>
        <p:nvSpPr>
          <p:cNvPr id="23" name="text-58"/>
          <p:cNvSpPr txBox="1"/>
          <p:nvPr/>
        </p:nvSpPr>
        <p:spPr>
          <a:xfrm>
            <a:off x="626364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語意符合，標題不同不算缺交</a:t>
            </a:r>
            <a:endParaRPr lang="zh-TW" sz="1300" dirty="0"/>
          </a:p>
        </p:txBody>
      </p:sp>
      <p:sp>
        <p:nvSpPr>
          <p:cNvPr id="24" name="chip-met-59"/>
          <p:cNvSpPr/>
          <p:nvPr/>
        </p:nvSpPr>
        <p:spPr>
          <a:xfrm>
            <a:off x="10469880" y="2286000"/>
            <a:ext cx="1002182" cy="3114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5" name="chip-icon-60" descr="已完成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9608" y="2348281"/>
            <a:ext cx="186842" cy="186842"/>
          </a:xfrm>
          <a:prstGeom prst="rect">
            <a:avLst/>
          </a:prstGeom>
        </p:spPr>
      </p:pic>
      <p:sp>
        <p:nvSpPr>
          <p:cNvPr id="26" name="chip-text-61"/>
          <p:cNvSpPr txBox="1"/>
          <p:nvPr/>
        </p:nvSpPr>
        <p:spPr>
          <a:xfrm>
            <a:off x="10830458" y="2286000"/>
            <a:ext cx="632460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已完成</a:t>
            </a:r>
            <a:endParaRPr lang="zh-TW" sz="1300" dirty="0"/>
          </a:p>
        </p:txBody>
      </p:sp>
      <p:sp>
        <p:nvSpPr>
          <p:cNvPr id="27" name="card-62"/>
          <p:cNvSpPr/>
          <p:nvPr/>
        </p:nvSpPr>
        <p:spPr>
          <a:xfrm>
            <a:off x="6035040" y="3364992"/>
            <a:ext cx="5605272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28" name="text-63"/>
          <p:cNvSpPr txBox="1"/>
          <p:nvPr/>
        </p:nvSpPr>
        <p:spPr>
          <a:xfrm>
            <a:off x="6263640" y="35295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失敗案例只有「輸入」與「實際結果」</a:t>
            </a:r>
            <a:endParaRPr lang="zh-TW" sz="1500" dirty="0"/>
          </a:p>
        </p:txBody>
      </p:sp>
      <p:sp>
        <p:nvSpPr>
          <p:cNvPr id="29" name="text-64"/>
          <p:cNvSpPr txBox="1"/>
          <p:nvPr/>
        </p:nvSpPr>
        <p:spPr>
          <a:xfrm>
            <a:off x="6263640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缺少失敗原因，提醒補上</a:t>
            </a:r>
            <a:endParaRPr lang="zh-TW" sz="1300" dirty="0"/>
          </a:p>
        </p:txBody>
      </p:sp>
      <p:sp>
        <p:nvSpPr>
          <p:cNvPr id="30" name="chip-partial-65"/>
          <p:cNvSpPr/>
          <p:nvPr/>
        </p:nvSpPr>
        <p:spPr>
          <a:xfrm>
            <a:off x="10469880" y="3547872"/>
            <a:ext cx="1002182" cy="3114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pic>
        <p:nvPicPr>
          <p:cNvPr id="31" name="chip-icon-66" descr="需補件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9608" y="3610153"/>
            <a:ext cx="186842" cy="186842"/>
          </a:xfrm>
          <a:prstGeom prst="rect">
            <a:avLst/>
          </a:prstGeom>
        </p:spPr>
      </p:pic>
      <p:sp>
        <p:nvSpPr>
          <p:cNvPr id="32" name="chip-text-67"/>
          <p:cNvSpPr txBox="1"/>
          <p:nvPr/>
        </p:nvSpPr>
        <p:spPr>
          <a:xfrm>
            <a:off x="10830458" y="3547872"/>
            <a:ext cx="632460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需補件</a:t>
            </a:r>
            <a:endParaRPr lang="zh-TW" sz="1300" dirty="0"/>
          </a:p>
        </p:txBody>
      </p:sp>
      <p:sp>
        <p:nvSpPr>
          <p:cNvPr id="33" name="card-68"/>
          <p:cNvSpPr/>
          <p:nvPr/>
        </p:nvSpPr>
        <p:spPr>
          <a:xfrm>
            <a:off x="6035040" y="4626864"/>
            <a:ext cx="5605272" cy="1078992"/>
          </a:xfrm>
          <a:prstGeom prst="roundRect">
            <a:avLst>
              <a:gd name="adj" fmla="val 678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34" name="text-69"/>
          <p:cNvSpPr txBox="1"/>
          <p:nvPr/>
        </p:nvSpPr>
        <p:spPr>
          <a:xfrm>
            <a:off x="6263640" y="479145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寫「測試紀錄見附錄 A」，但讀不到附錄</a:t>
            </a:r>
            <a:endParaRPr lang="zh-TW" sz="1500" dirty="0"/>
          </a:p>
        </p:txBody>
      </p:sp>
      <p:sp>
        <p:nvSpPr>
          <p:cNvPr id="35" name="text-70"/>
          <p:cNvSpPr txBox="1"/>
          <p:nvPr/>
        </p:nvSpPr>
        <p:spPr>
          <a:xfrm>
            <a:off x="6263640" y="5285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無法確認，交由老師核對</a:t>
            </a:r>
            <a:endParaRPr lang="zh-TW" sz="1300" dirty="0"/>
          </a:p>
        </p:txBody>
      </p:sp>
      <p:sp>
        <p:nvSpPr>
          <p:cNvPr id="36" name="chip-unsure-71"/>
          <p:cNvSpPr/>
          <p:nvPr/>
        </p:nvSpPr>
        <p:spPr>
          <a:xfrm>
            <a:off x="10469880" y="4809744"/>
            <a:ext cx="1002182" cy="31140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pic>
        <p:nvPicPr>
          <p:cNvPr id="37" name="chip-icon-72" descr="待確認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9608" y="4872025"/>
            <a:ext cx="186842" cy="186842"/>
          </a:xfrm>
          <a:prstGeom prst="rect">
            <a:avLst/>
          </a:prstGeom>
        </p:spPr>
      </p:pic>
      <p:sp>
        <p:nvSpPr>
          <p:cNvPr id="38" name="chip-text-73"/>
          <p:cNvSpPr txBox="1"/>
          <p:nvPr/>
        </p:nvSpPr>
        <p:spPr>
          <a:xfrm>
            <a:off x="10830458" y="4809744"/>
            <a:ext cx="632460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待確認</a:t>
            </a:r>
            <a:endParaRPr lang="zh-TW" sz="1300" dirty="0"/>
          </a:p>
        </p:txBody>
      </p:sp>
      <p:pic>
        <p:nvPicPr>
          <p:cNvPr id="39" name="icon-74" descr="Lightbulb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852160"/>
            <a:ext cx="310896" cy="310896"/>
          </a:xfrm>
          <a:prstGeom prst="rect">
            <a:avLst/>
          </a:prstGeom>
        </p:spPr>
      </p:pic>
      <p:sp>
        <p:nvSpPr>
          <p:cNvPr id="40" name="text-75"/>
          <p:cNvSpPr txBox="1"/>
          <p:nvPr/>
        </p:nvSpPr>
        <p:spPr>
          <a:xfrm>
            <a:off x="960120" y="585216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4"/>
                </a:solidFill>
              </a:rPr>
              <a:t>標題與用字都會變，關鍵字規則判不準，所以需要 LLM 判讀語意。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WEEK 01–07 ＋ v0.8 進度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七週累積：三條路徑都能運作，但還沒接在一起</a:t>
            </a:r>
            <a:endParaRPr lang="zh-TW" sz="3000" dirty="0"/>
          </a:p>
        </p:txBody>
      </p:sp>
      <p:sp>
        <p:nvSpPr>
          <p:cNvPr id="5" name="timeline-76"/>
          <p:cNvSpPr/>
          <p:nvPr/>
        </p:nvSpPr>
        <p:spPr>
          <a:xfrm>
            <a:off x="1143000" y="2176272"/>
            <a:ext cx="9921240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olid"/>
          </a:ln>
        </p:spPr>
      </p:sp>
      <p:sp>
        <p:nvSpPr>
          <p:cNvPr id="6" name="node-77"/>
          <p:cNvSpPr/>
          <p:nvPr/>
        </p:nvSpPr>
        <p:spPr>
          <a:xfrm>
            <a:off x="987552" y="202082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text-78"/>
          <p:cNvSpPr txBox="1"/>
          <p:nvPr/>
        </p:nvSpPr>
        <p:spPr>
          <a:xfrm>
            <a:off x="36576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W1–2</a:t>
            </a:r>
            <a:endParaRPr lang="zh-TW" sz="1500" dirty="0"/>
          </a:p>
        </p:txBody>
      </p:sp>
      <p:sp>
        <p:nvSpPr>
          <p:cNvPr id="8" name="text-79"/>
          <p:cNvSpPr txBox="1"/>
          <p:nvPr/>
        </p:nvSpPr>
        <p:spPr>
          <a:xfrm>
            <a:off x="36576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題目、文字比對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與引用核對</a:t>
            </a:r>
            <a:endParaRPr lang="zh-TW" sz="1300" dirty="0"/>
          </a:p>
        </p:txBody>
      </p:sp>
      <p:sp>
        <p:nvSpPr>
          <p:cNvPr id="9" name="node-80"/>
          <p:cNvSpPr/>
          <p:nvPr/>
        </p:nvSpPr>
        <p:spPr>
          <a:xfrm>
            <a:off x="2641092" y="202082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-81"/>
          <p:cNvSpPr txBox="1"/>
          <p:nvPr/>
        </p:nvSpPr>
        <p:spPr>
          <a:xfrm>
            <a:off x="201930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W3</a:t>
            </a:r>
            <a:endParaRPr lang="zh-TW" sz="1500" dirty="0"/>
          </a:p>
        </p:txBody>
      </p:sp>
      <p:sp>
        <p:nvSpPr>
          <p:cNvPr id="11" name="text-82"/>
          <p:cNvSpPr txBox="1"/>
          <p:nvPr/>
        </p:nvSpPr>
        <p:spPr>
          <a:xfrm>
            <a:off x="201930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來源檢索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與拒答 gate</a:t>
            </a:r>
            <a:endParaRPr lang="zh-TW" sz="1300" dirty="0"/>
          </a:p>
        </p:txBody>
      </p:sp>
      <p:sp>
        <p:nvSpPr>
          <p:cNvPr id="12" name="text-83"/>
          <p:cNvSpPr txBox="1"/>
          <p:nvPr/>
        </p:nvSpPr>
        <p:spPr>
          <a:xfrm>
            <a:off x="2019300" y="3090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缺教師費率原文</a:t>
            </a:r>
            <a:endParaRPr lang="zh-TW" sz="1200" dirty="0"/>
          </a:p>
        </p:txBody>
      </p:sp>
      <p:sp>
        <p:nvSpPr>
          <p:cNvPr id="13" name="node-84"/>
          <p:cNvSpPr/>
          <p:nvPr/>
        </p:nvSpPr>
        <p:spPr>
          <a:xfrm>
            <a:off x="4294632" y="202082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-85"/>
          <p:cNvSpPr txBox="1"/>
          <p:nvPr/>
        </p:nvSpPr>
        <p:spPr>
          <a:xfrm>
            <a:off x="367284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W4</a:t>
            </a:r>
            <a:endParaRPr lang="zh-TW" sz="1500" dirty="0"/>
          </a:p>
        </p:txBody>
      </p:sp>
      <p:sp>
        <p:nvSpPr>
          <p:cNvPr id="15" name="text-86"/>
          <p:cNvSpPr txBox="1"/>
          <p:nvPr/>
        </p:nvSpPr>
        <p:spPr>
          <a:xfrm>
            <a:off x="367284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MCP 讀取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確認後才寫入</a:t>
            </a:r>
            <a:endParaRPr lang="zh-TW" sz="1300" dirty="0"/>
          </a:p>
        </p:txBody>
      </p:sp>
      <p:sp>
        <p:nvSpPr>
          <p:cNvPr id="16" name="text-87"/>
          <p:cNvSpPr txBox="1"/>
          <p:nvPr/>
        </p:nvSpPr>
        <p:spPr>
          <a:xfrm>
            <a:off x="3672840" y="3090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Gemini／ADC</a:t>
            </a:r>
            <a:endParaRPr lang="zh-TW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未驗證</a:t>
            </a:r>
            <a:endParaRPr lang="zh-TW" sz="1200" dirty="0"/>
          </a:p>
        </p:txBody>
      </p:sp>
      <p:sp>
        <p:nvSpPr>
          <p:cNvPr id="17" name="node-88"/>
          <p:cNvSpPr/>
          <p:nvPr/>
        </p:nvSpPr>
        <p:spPr>
          <a:xfrm>
            <a:off x="5948172" y="202082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-89"/>
          <p:cNvSpPr txBox="1"/>
          <p:nvPr/>
        </p:nvSpPr>
        <p:spPr>
          <a:xfrm>
            <a:off x="532638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W5</a:t>
            </a:r>
            <a:endParaRPr lang="zh-TW" sz="1500" dirty="0"/>
          </a:p>
        </p:txBody>
      </p:sp>
      <p:sp>
        <p:nvSpPr>
          <p:cNvPr id="19" name="text-90"/>
          <p:cNvSpPr txBox="1"/>
          <p:nvPr/>
        </p:nvSpPr>
        <p:spPr>
          <a:xfrm>
            <a:off x="532638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LangGraph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候選與比較</a:t>
            </a:r>
            <a:endParaRPr lang="zh-TW" sz="1300" dirty="0"/>
          </a:p>
        </p:txBody>
      </p:sp>
      <p:sp>
        <p:nvSpPr>
          <p:cNvPr id="20" name="text-91"/>
          <p:cNvSpPr txBox="1"/>
          <p:nvPr/>
        </p:nvSpPr>
        <p:spPr>
          <a:xfrm>
            <a:off x="5326380" y="3090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原版仍為預設</a:t>
            </a:r>
            <a:endParaRPr lang="zh-TW" sz="1200" dirty="0"/>
          </a:p>
        </p:txBody>
      </p:sp>
      <p:sp>
        <p:nvSpPr>
          <p:cNvPr id="21" name="node-92"/>
          <p:cNvSpPr/>
          <p:nvPr/>
        </p:nvSpPr>
        <p:spPr>
          <a:xfrm>
            <a:off x="7601712" y="202082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ext-93"/>
          <p:cNvSpPr txBox="1"/>
          <p:nvPr/>
        </p:nvSpPr>
        <p:spPr>
          <a:xfrm>
            <a:off x="697992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W6</a:t>
            </a:r>
            <a:endParaRPr lang="zh-TW" sz="1500" dirty="0"/>
          </a:p>
        </p:txBody>
      </p:sp>
      <p:sp>
        <p:nvSpPr>
          <p:cNvPr id="23" name="text-94"/>
          <p:cNvSpPr txBox="1"/>
          <p:nvPr/>
        </p:nvSpPr>
        <p:spPr>
          <a:xfrm>
            <a:off x="697992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評估後修訂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（10/30 補交）</a:t>
            </a:r>
            <a:endParaRPr lang="zh-TW" sz="1300" dirty="0"/>
          </a:p>
        </p:txBody>
      </p:sp>
      <p:sp>
        <p:nvSpPr>
          <p:cNvPr id="24" name="text-95"/>
          <p:cNvSpPr txBox="1"/>
          <p:nvPr/>
        </p:nvSpPr>
        <p:spPr>
          <a:xfrm>
            <a:off x="6979920" y="3090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live 未證明改善</a:t>
            </a:r>
            <a:endParaRPr lang="zh-TW" sz="1200" dirty="0"/>
          </a:p>
        </p:txBody>
      </p:sp>
      <p:sp>
        <p:nvSpPr>
          <p:cNvPr id="25" name="node-96"/>
          <p:cNvSpPr/>
          <p:nvPr/>
        </p:nvSpPr>
        <p:spPr>
          <a:xfrm>
            <a:off x="9255252" y="2020824"/>
            <a:ext cx="310896" cy="310896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text-97"/>
          <p:cNvSpPr txBox="1"/>
          <p:nvPr/>
        </p:nvSpPr>
        <p:spPr>
          <a:xfrm>
            <a:off x="863346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W7</a:t>
            </a:r>
            <a:endParaRPr lang="zh-TW" sz="1500" dirty="0"/>
          </a:p>
        </p:txBody>
      </p:sp>
      <p:sp>
        <p:nvSpPr>
          <p:cNvPr id="27" name="text-98"/>
          <p:cNvSpPr txBox="1"/>
          <p:nvPr/>
        </p:nvSpPr>
        <p:spPr>
          <a:xfrm>
            <a:off x="863346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Session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清除與隔離</a:t>
            </a:r>
            <a:endParaRPr lang="zh-TW" sz="1300" dirty="0"/>
          </a:p>
        </p:txBody>
      </p:sp>
      <p:sp>
        <p:nvSpPr>
          <p:cNvPr id="28" name="text-99"/>
          <p:cNvSpPr txBox="1"/>
          <p:nvPr/>
        </p:nvSpPr>
        <p:spPr>
          <a:xfrm>
            <a:off x="8633460" y="3090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正式登入待做</a:t>
            </a:r>
            <a:endParaRPr lang="zh-TW" sz="1200" dirty="0"/>
          </a:p>
        </p:txBody>
      </p:sp>
      <p:sp>
        <p:nvSpPr>
          <p:cNvPr id="29" name="node-100"/>
          <p:cNvSpPr/>
          <p:nvPr/>
        </p:nvSpPr>
        <p:spPr>
          <a:xfrm>
            <a:off x="10853928" y="1965960"/>
            <a:ext cx="420624" cy="42062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30" name="text-101"/>
          <p:cNvSpPr txBox="1"/>
          <p:nvPr/>
        </p:nvSpPr>
        <p:spPr>
          <a:xfrm>
            <a:off x="10287000" y="15544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v0.8</a:t>
            </a:r>
            <a:endParaRPr lang="zh-TW" sz="1500" dirty="0"/>
          </a:p>
        </p:txBody>
      </p:sp>
      <p:sp>
        <p:nvSpPr>
          <p:cNvPr id="31" name="text-102"/>
          <p:cNvSpPr txBox="1"/>
          <p:nvPr/>
        </p:nvSpPr>
        <p:spPr>
          <a:xfrm>
            <a:off x="10287000" y="24871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PDF 預檢</a:t>
            </a:r>
            <a:endParaRPr lang="zh-TW" sz="1300" dirty="0"/>
          </a:p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與估分</a:t>
            </a:r>
            <a:endParaRPr lang="zh-TW" sz="1300" dirty="0"/>
          </a:p>
        </p:txBody>
      </p:sp>
      <p:sp>
        <p:nvSpPr>
          <p:cNvPr id="32" name="text-103"/>
          <p:cNvSpPr txBox="1"/>
          <p:nvPr/>
        </p:nvSpPr>
        <p:spPr>
          <a:xfrm>
            <a:off x="10287000" y="30906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accent3"/>
                </a:solidFill>
              </a:rPr>
              <a:t>語意仍有誤判</a:t>
            </a:r>
            <a:endParaRPr lang="zh-TW" sz="1200" dirty="0"/>
          </a:p>
        </p:txBody>
      </p:sp>
      <p:sp>
        <p:nvSpPr>
          <p:cNvPr id="33" name="card-104"/>
          <p:cNvSpPr/>
          <p:nvPr/>
        </p:nvSpPr>
        <p:spPr>
          <a:xfrm>
            <a:off x="54864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34" name="icon-bg-105"/>
          <p:cNvSpPr/>
          <p:nvPr/>
        </p:nvSpPr>
        <p:spPr>
          <a:xfrm>
            <a:off x="777240" y="40050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con-106" descr="MessageSquar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35" y="4127967"/>
            <a:ext cx="266273" cy="266273"/>
          </a:xfrm>
          <a:prstGeom prst="rect">
            <a:avLst/>
          </a:prstGeom>
        </p:spPr>
      </p:pic>
      <p:sp>
        <p:nvSpPr>
          <p:cNvPr id="36" name="text-107"/>
          <p:cNvSpPr txBox="1"/>
          <p:nvPr/>
        </p:nvSpPr>
        <p:spPr>
          <a:xfrm>
            <a:off x="141732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A　文字語意比對</a:t>
            </a:r>
            <a:endParaRPr lang="zh-TW" sz="1700" dirty="0"/>
          </a:p>
        </p:txBody>
      </p:sp>
      <p:sp>
        <p:nvSpPr>
          <p:cNvPr id="37" name="text-108"/>
          <p:cNvSpPr txBox="1"/>
          <p:nvPr/>
        </p:nvSpPr>
        <p:spPr>
          <a:xfrm>
            <a:off x="777240" y="4636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老師規格＋學生文字 → GPT 判讀是否符合，系統核對原文引用</a:t>
            </a:r>
            <a:endParaRPr lang="zh-TW" sz="1300" dirty="0"/>
          </a:p>
        </p:txBody>
      </p:sp>
      <p:sp>
        <p:nvSpPr>
          <p:cNvPr id="38" name="chip-pass-109"/>
          <p:cNvSpPr/>
          <p:nvPr/>
        </p:nvSpPr>
        <p:spPr>
          <a:xfrm>
            <a:off x="777240" y="5230368"/>
            <a:ext cx="1294790" cy="2987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9" name="chip-icon-110" descr="LIVE_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5290109"/>
            <a:ext cx="179222" cy="179222"/>
          </a:xfrm>
          <a:prstGeom prst="rect">
            <a:avLst/>
          </a:prstGeom>
        </p:spPr>
      </p:pic>
      <p:sp>
        <p:nvSpPr>
          <p:cNvPr id="40" name="chip-text-111"/>
          <p:cNvSpPr txBox="1"/>
          <p:nvPr/>
        </p:nvSpPr>
        <p:spPr>
          <a:xfrm>
            <a:off x="1130198" y="5230368"/>
            <a:ext cx="93268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LIVE_PASS</a:t>
            </a:r>
            <a:endParaRPr lang="zh-TW" sz="1200" dirty="0"/>
          </a:p>
        </p:txBody>
      </p:sp>
      <p:sp>
        <p:nvSpPr>
          <p:cNvPr id="41" name="card-112"/>
          <p:cNvSpPr/>
          <p:nvPr/>
        </p:nvSpPr>
        <p:spPr>
          <a:xfrm>
            <a:off x="434340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42" name="icon-bg-113"/>
          <p:cNvSpPr/>
          <p:nvPr/>
        </p:nvSpPr>
        <p:spPr>
          <a:xfrm>
            <a:off x="4572000" y="40050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3" name="icon-114" descr="Wre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95" y="4127967"/>
            <a:ext cx="266273" cy="266273"/>
          </a:xfrm>
          <a:prstGeom prst="rect">
            <a:avLst/>
          </a:prstGeom>
        </p:spPr>
      </p:pic>
      <p:sp>
        <p:nvSpPr>
          <p:cNvPr id="44" name="text-115"/>
          <p:cNvSpPr txBox="1"/>
          <p:nvPr/>
        </p:nvSpPr>
        <p:spPr>
          <a:xfrm>
            <a:off x="521208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B　補件工具流程</a:t>
            </a:r>
            <a:endParaRPr lang="zh-TW" sz="1700" dirty="0"/>
          </a:p>
        </p:txBody>
      </p:sp>
      <p:sp>
        <p:nvSpPr>
          <p:cNvPr id="45" name="text-116"/>
          <p:cNvSpPr txBox="1"/>
          <p:nvPr/>
        </p:nvSpPr>
        <p:spPr>
          <a:xfrm>
            <a:off x="4572000" y="4636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GPT 提出工具呼叫 → Host 驗證 → 使用者確認後寫入草稿</a:t>
            </a:r>
            <a:endParaRPr lang="zh-TW" sz="1300" dirty="0"/>
          </a:p>
        </p:txBody>
      </p:sp>
      <p:sp>
        <p:nvSpPr>
          <p:cNvPr id="46" name="chip-pass-117"/>
          <p:cNvSpPr/>
          <p:nvPr/>
        </p:nvSpPr>
        <p:spPr>
          <a:xfrm>
            <a:off x="4572000" y="5230368"/>
            <a:ext cx="1294790" cy="2987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47" name="chip-icon-118" descr="LIVE_P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5290109"/>
            <a:ext cx="179222" cy="179222"/>
          </a:xfrm>
          <a:prstGeom prst="rect">
            <a:avLst/>
          </a:prstGeom>
        </p:spPr>
      </p:pic>
      <p:sp>
        <p:nvSpPr>
          <p:cNvPr id="48" name="chip-text-119"/>
          <p:cNvSpPr txBox="1"/>
          <p:nvPr/>
        </p:nvSpPr>
        <p:spPr>
          <a:xfrm>
            <a:off x="4924958" y="5230368"/>
            <a:ext cx="93268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LIVE_PASS</a:t>
            </a:r>
            <a:endParaRPr lang="zh-TW" sz="1200" dirty="0"/>
          </a:p>
        </p:txBody>
      </p:sp>
      <p:sp>
        <p:nvSpPr>
          <p:cNvPr id="49" name="card-120"/>
          <p:cNvSpPr/>
          <p:nvPr/>
        </p:nvSpPr>
        <p:spPr>
          <a:xfrm>
            <a:off x="8138160" y="3794760"/>
            <a:ext cx="3520440" cy="187452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50" name="icon-bg-121"/>
          <p:cNvSpPr/>
          <p:nvPr/>
        </p:nvSpPr>
        <p:spPr>
          <a:xfrm>
            <a:off x="8366760" y="4005072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1" name="icon-122" descr="FileTex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9655" y="4127967"/>
            <a:ext cx="266273" cy="266273"/>
          </a:xfrm>
          <a:prstGeom prst="rect">
            <a:avLst/>
          </a:prstGeom>
        </p:spPr>
      </p:pic>
      <p:sp>
        <p:nvSpPr>
          <p:cNvPr id="52" name="text-123"/>
          <p:cNvSpPr txBox="1"/>
          <p:nvPr/>
        </p:nvSpPr>
        <p:spPr>
          <a:xfrm>
            <a:off x="900684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C　PDF 預檢與估分</a:t>
            </a:r>
            <a:endParaRPr lang="zh-TW" sz="1700" dirty="0"/>
          </a:p>
        </p:txBody>
      </p:sp>
      <p:sp>
        <p:nvSpPr>
          <p:cNvPr id="53" name="text-124"/>
          <p:cNvSpPr txBox="1"/>
          <p:nvPr/>
        </p:nvSpPr>
        <p:spPr>
          <a:xfrm>
            <a:off x="8366760" y="46360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老師與學生 PDF 圖文比對，確認配分後才顯示估分；實測用合成 PDF</a:t>
            </a:r>
            <a:endParaRPr lang="zh-TW" sz="1300" dirty="0"/>
          </a:p>
        </p:txBody>
      </p:sp>
      <p:sp>
        <p:nvSpPr>
          <p:cNvPr id="54" name="chip-pass-125"/>
          <p:cNvSpPr/>
          <p:nvPr/>
        </p:nvSpPr>
        <p:spPr>
          <a:xfrm>
            <a:off x="8366760" y="5230368"/>
            <a:ext cx="2282342" cy="2987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55" name="chip-icon-126" descr="LIVE_PASS · 預期 6／7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5290109"/>
            <a:ext cx="179222" cy="179222"/>
          </a:xfrm>
          <a:prstGeom prst="rect">
            <a:avLst/>
          </a:prstGeom>
        </p:spPr>
      </p:pic>
      <p:sp>
        <p:nvSpPr>
          <p:cNvPr id="56" name="chip-text-127"/>
          <p:cNvSpPr txBox="1"/>
          <p:nvPr/>
        </p:nvSpPr>
        <p:spPr>
          <a:xfrm>
            <a:off x="8719718" y="5230368"/>
            <a:ext cx="192024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LIVE_PASS · 預期 6／7</a:t>
            </a:r>
            <a:endParaRPr lang="zh-TW" sz="1200" dirty="0"/>
          </a:p>
        </p:txBody>
      </p:sp>
      <p:pic>
        <p:nvPicPr>
          <p:cNvPr id="57" name="icon-128" descr="Unlin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852160"/>
            <a:ext cx="292608" cy="292608"/>
          </a:xfrm>
          <a:prstGeom prst="rect">
            <a:avLst/>
          </a:prstGeom>
        </p:spPr>
      </p:pic>
      <p:sp>
        <p:nvSpPr>
          <p:cNvPr id="58" name="text-129"/>
          <p:cNvSpPr txBox="1"/>
          <p:nvPr/>
        </p:nvSpPr>
        <p:spPr>
          <a:xfrm>
            <a:off x="932688" y="585216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最大缺口：A、C 的判讀結果尚未接入 B 的草稿工具，B 目前讀的是預先撰寫的合成評閱快照。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設計理由與責任邊界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LLM 判讀語意，程式負責把關</a:t>
            </a:r>
            <a:endParaRPr lang="zh-TW" sz="3000" dirty="0"/>
          </a:p>
        </p:txBody>
      </p:sp>
      <p:sp>
        <p:nvSpPr>
          <p:cNvPr id="5" name="card-130"/>
          <p:cNvSpPr/>
          <p:nvPr/>
        </p:nvSpPr>
        <p:spPr>
          <a:xfrm>
            <a:off x="548640" y="1600200"/>
            <a:ext cx="5394960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6" name="icon-bg-131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con-132" descr="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8" name="text-133"/>
          <p:cNvSpPr txBox="1"/>
          <p:nvPr/>
        </p:nvSpPr>
        <p:spPr>
          <a:xfrm>
            <a:off x="1691640" y="1883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accent4"/>
                </a:solidFill>
              </a:rPr>
              <a:t>交給模型</a:t>
            </a:r>
            <a:endParaRPr lang="zh-TW" sz="2100" dirty="0"/>
          </a:p>
        </p:txBody>
      </p:sp>
      <p:sp>
        <p:nvSpPr>
          <p:cNvPr id="9" name="text-134"/>
          <p:cNvSpPr txBox="1"/>
          <p:nvPr/>
        </p:nvSpPr>
        <p:spPr>
          <a:xfrm>
            <a:off x="16916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需要理解語意的判斷</a:t>
            </a:r>
            <a:endParaRPr lang="zh-TW" sz="1300" dirty="0"/>
          </a:p>
        </p:txBody>
      </p:sp>
      <p:sp>
        <p:nvSpPr>
          <p:cNvPr id="10" name="bullets-135"/>
          <p:cNvSpPr txBox="1"/>
          <p:nvPr/>
        </p:nvSpPr>
        <p:spPr>
          <a:xfrm>
            <a:off x="868680" y="28346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理解換句話說：標題不同，內容是否仍符合</a:t>
            </a:r>
            <a:endParaRPr lang="zh-TW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判斷充分性：有寫，但是否寫完整</a:t>
            </a:r>
            <a:endParaRPr lang="zh-TW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讀 PDF 文字與圖片，選出證據行號</a:t>
            </a:r>
            <a:endParaRPr lang="zh-TW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提出工具呼叫與修改建議</a:t>
            </a:r>
            <a:endParaRPr lang="zh-TW" sz="1700" dirty="0"/>
          </a:p>
        </p:txBody>
      </p:sp>
      <p:sp>
        <p:nvSpPr>
          <p:cNvPr id="11" name="card-136"/>
          <p:cNvSpPr/>
          <p:nvPr/>
        </p:nvSpPr>
        <p:spPr>
          <a:xfrm>
            <a:off x="6245352" y="1600200"/>
            <a:ext cx="5394960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2" name="icon-bg-137"/>
          <p:cNvSpPr/>
          <p:nvPr/>
        </p:nvSpPr>
        <p:spPr>
          <a:xfrm>
            <a:off x="6565392" y="187452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con-138" descr="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011" y="2028139"/>
            <a:ext cx="332842" cy="332842"/>
          </a:xfrm>
          <a:prstGeom prst="rect">
            <a:avLst/>
          </a:prstGeom>
        </p:spPr>
      </p:pic>
      <p:sp>
        <p:nvSpPr>
          <p:cNvPr id="14" name="text-139"/>
          <p:cNvSpPr txBox="1"/>
          <p:nvPr/>
        </p:nvSpPr>
        <p:spPr>
          <a:xfrm>
            <a:off x="7388352" y="188366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2"/>
                </a:solidFill>
              </a:rPr>
              <a:t>交給程式</a:t>
            </a:r>
            <a:endParaRPr lang="zh-TW" sz="2100" dirty="0"/>
          </a:p>
        </p:txBody>
      </p:sp>
      <p:sp>
        <p:nvSpPr>
          <p:cNvPr id="15" name="text-140"/>
          <p:cNvSpPr txBox="1"/>
          <p:nvPr/>
        </p:nvSpPr>
        <p:spPr>
          <a:xfrm>
            <a:off x="7388352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可以明確驗證的規則</a:t>
            </a:r>
            <a:endParaRPr lang="zh-TW" sz="1300" dirty="0"/>
          </a:p>
        </p:txBody>
      </p:sp>
      <p:sp>
        <p:nvSpPr>
          <p:cNvPr id="16" name="bullets-141"/>
          <p:cNvSpPr txBox="1"/>
          <p:nvPr/>
        </p:nvSpPr>
        <p:spPr>
          <a:xfrm>
            <a:off x="6565392" y="283464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欄位、版本、要求覆蓋與大小限制</a:t>
            </a:r>
            <a:endParaRPr lang="zh-TW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原文引用、頁碼與來源 hash 核對</a:t>
            </a:r>
            <a:endParaRPr lang="zh-TW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權限、人工確認與 Session 隔離</a:t>
            </a:r>
            <a:endParaRPr lang="zh-TW" sz="17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zh-TW" altLang="en-US" sz="1700" dirty="0">
                <a:solidFill>
                  <a:schemeClr val="tx1"/>
                </a:solidFill>
              </a:rPr>
              <a:t>SQLite 交易、同 ID 冪等、配分加總</a:t>
            </a:r>
            <a:endParaRPr lang="zh-TW" sz="1700" dirty="0"/>
          </a:p>
        </p:txBody>
      </p:sp>
      <p:sp>
        <p:nvSpPr>
          <p:cNvPr id="17" name="card-14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pic>
        <p:nvPicPr>
          <p:cNvPr id="18" name="icon-143" descr="Quo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59552"/>
            <a:ext cx="402336" cy="402336"/>
          </a:xfrm>
          <a:prstGeom prst="rect">
            <a:avLst/>
          </a:prstGeom>
        </p:spPr>
      </p:pic>
      <p:sp>
        <p:nvSpPr>
          <p:cNvPr id="19" name="text-144"/>
          <p:cNvSpPr txBox="1"/>
          <p:nvPr/>
        </p:nvSpPr>
        <p:spPr>
          <a:xfrm>
            <a:off x="1417320" y="53492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2"/>
                </a:solidFill>
              </a:rPr>
              <a:t>單次比對不需要 Agent；「查詢後提案、確認後執行、再回填結果」才需要受控的工具流程。</a:t>
            </a:r>
            <a:endParaRPr lang="zh-TW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系統架構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模型只提出動作，Host 決定能不能執行</a:t>
            </a:r>
            <a:endParaRPr lang="zh-TW" sz="3000" dirty="0"/>
          </a:p>
        </p:txBody>
      </p:sp>
      <p:sp>
        <p:nvSpPr>
          <p:cNvPr id="5" name="card-145"/>
          <p:cNvSpPr/>
          <p:nvPr/>
        </p:nvSpPr>
        <p:spPr>
          <a:xfrm>
            <a:off x="548640" y="1783080"/>
            <a:ext cx="251460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6" name="icon-bg-146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icon-147" descr="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75688"/>
            <a:ext cx="237744" cy="237744"/>
          </a:xfrm>
          <a:prstGeom prst="rect">
            <a:avLst/>
          </a:prstGeom>
        </p:spPr>
      </p:pic>
      <p:sp>
        <p:nvSpPr>
          <p:cNvPr id="8" name="text-148"/>
          <p:cNvSpPr txBox="1"/>
          <p:nvPr/>
        </p:nvSpPr>
        <p:spPr>
          <a:xfrm>
            <a:off x="777240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瀏覽器 /week7</a:t>
            </a:r>
            <a:endParaRPr lang="zh-TW" sz="1600" dirty="0"/>
          </a:p>
        </p:txBody>
      </p:sp>
      <p:sp>
        <p:nvSpPr>
          <p:cNvPr id="9" name="text-149"/>
          <p:cNvSpPr txBox="1"/>
          <p:nvPr/>
        </p:nvSpPr>
        <p:spPr>
          <a:xfrm>
            <a:off x="777240" y="28072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PDF 預檢 · 補件工具</a:t>
            </a:r>
            <a:endParaRPr lang="zh-TW" sz="1100" dirty="0"/>
          </a:p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文字語意比對</a:t>
            </a:r>
            <a:endParaRPr lang="zh-TW" sz="1100" dirty="0"/>
          </a:p>
        </p:txBody>
      </p:sp>
      <p:sp>
        <p:nvSpPr>
          <p:cNvPr id="10" name="host-box"/>
          <p:cNvSpPr/>
          <p:nvPr/>
        </p:nvSpPr>
        <p:spPr>
          <a:xfrm>
            <a:off x="3931920" y="1645920"/>
            <a:ext cx="420624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25400" dir="5400000">
              <a:srgbClr val="1A2233">
                <a:alpha val="15000"/>
              </a:srgbClr>
            </a:outerShdw>
          </a:effectLst>
        </p:spPr>
      </p:sp>
      <p:pic>
        <p:nvPicPr>
          <p:cNvPr id="11" name="icon-150" descr="Shiel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74520"/>
            <a:ext cx="384048" cy="384048"/>
          </a:xfrm>
          <a:prstGeom prst="rect">
            <a:avLst/>
          </a:prstGeom>
        </p:spPr>
      </p:pic>
      <p:sp>
        <p:nvSpPr>
          <p:cNvPr id="12" name="text-151"/>
          <p:cNvSpPr txBox="1"/>
          <p:nvPr/>
        </p:nvSpPr>
        <p:spPr>
          <a:xfrm>
            <a:off x="4709160" y="1874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900" b="1" dirty="0">
                <a:solidFill>
                  <a:schemeClr val="bg1"/>
                </a:solidFill>
              </a:rPr>
              <a:t>FastAPI ＋ Host 守門</a:t>
            </a:r>
            <a:endParaRPr lang="zh-TW" sz="1900" dirty="0"/>
          </a:p>
        </p:txBody>
      </p:sp>
      <p:sp>
        <p:nvSpPr>
          <p:cNvPr id="13" name="host-items"/>
          <p:cNvSpPr txBox="1"/>
          <p:nvPr/>
        </p:nvSpPr>
        <p:spPr>
          <a:xfrm>
            <a:off x="4206240" y="239572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bg2"/>
                </a:solidFill>
              </a:rPr>
              <a:t>Cookie／Session 身分驗證</a:t>
            </a:r>
            <a:endParaRPr lang="zh-TW" sz="14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bg2"/>
                </a:solidFill>
              </a:rPr>
              <a:t>工具參數與允許序列驗證</a:t>
            </a:r>
            <a:endParaRPr lang="zh-TW" sz="1400" dirty="0"/>
          </a:p>
          <a:p>
            <a:pPr indent="0" marL="0">
              <a:spcAft>
                <a:spcPts val="400"/>
              </a:spcAft>
              <a:buNone/>
            </a:pPr>
            <a:r>
              <a:rPr lang="zh-TW" altLang="en-US" sz="1400" dirty="0">
                <a:solidFill>
                  <a:schemeClr val="bg2"/>
                </a:solidFill>
              </a:rPr>
              <a:t>引用、頁碼、配分與摘要核對</a:t>
            </a:r>
            <a:endParaRPr lang="zh-TW" sz="1400" dirty="0"/>
          </a:p>
        </p:txBody>
      </p:sp>
      <p:sp>
        <p:nvSpPr>
          <p:cNvPr id="14" name="card-152"/>
          <p:cNvSpPr/>
          <p:nvPr/>
        </p:nvSpPr>
        <p:spPr>
          <a:xfrm>
            <a:off x="9006840" y="1783080"/>
            <a:ext cx="2633472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5" name="icon-bg-153"/>
          <p:cNvSpPr/>
          <p:nvPr/>
        </p:nvSpPr>
        <p:spPr>
          <a:xfrm>
            <a:off x="9235440" y="19659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con-154" descr="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2075688"/>
            <a:ext cx="237744" cy="237744"/>
          </a:xfrm>
          <a:prstGeom prst="rect">
            <a:avLst/>
          </a:prstGeom>
        </p:spPr>
      </p:pic>
      <p:sp>
        <p:nvSpPr>
          <p:cNvPr id="17" name="text-155"/>
          <p:cNvSpPr txBox="1"/>
          <p:nvPr/>
        </p:nvSpPr>
        <p:spPr>
          <a:xfrm>
            <a:off x="9235440" y="2514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OpenAI GPT</a:t>
            </a:r>
            <a:endParaRPr lang="zh-TW" sz="1600" dirty="0"/>
          </a:p>
        </p:txBody>
      </p:sp>
      <p:sp>
        <p:nvSpPr>
          <p:cNvPr id="18" name="text-156"/>
          <p:cNvSpPr txBox="1"/>
          <p:nvPr/>
        </p:nvSpPr>
        <p:spPr>
          <a:xfrm>
            <a:off x="9235440" y="28072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工具／文字：gpt-4.1-mini</a:t>
            </a:r>
            <a:endParaRPr lang="zh-TW" sz="1100" dirty="0"/>
          </a:p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PDF 圖文：gpt-5.4</a:t>
            </a:r>
            <a:endParaRPr lang="zh-TW" sz="1100" dirty="0"/>
          </a:p>
        </p:txBody>
      </p:sp>
      <p:sp>
        <p:nvSpPr>
          <p:cNvPr id="19" name="arrow-157"/>
          <p:cNvSpPr/>
          <p:nvPr/>
        </p:nvSpPr>
        <p:spPr>
          <a:xfrm>
            <a:off x="3108960" y="2514600"/>
            <a:ext cx="7772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20" name="arrow-158"/>
          <p:cNvSpPr/>
          <p:nvPr/>
        </p:nvSpPr>
        <p:spPr>
          <a:xfrm>
            <a:off x="8183880" y="2240280"/>
            <a:ext cx="77724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arrow-159"/>
          <p:cNvSpPr/>
          <p:nvPr/>
        </p:nvSpPr>
        <p:spPr>
          <a:xfrm flipH="1">
            <a:off x="8183880" y="2834640"/>
            <a:ext cx="777240" cy="0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text-160"/>
          <p:cNvSpPr txBox="1"/>
          <p:nvPr/>
        </p:nvSpPr>
        <p:spPr>
          <a:xfrm>
            <a:off x="8183880" y="1920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4"/>
                </a:solidFill>
              </a:rPr>
              <a:t>context</a:t>
            </a:r>
            <a:endParaRPr lang="zh-TW" sz="1100" dirty="0"/>
          </a:p>
        </p:txBody>
      </p:sp>
      <p:sp>
        <p:nvSpPr>
          <p:cNvPr id="23" name="text-161"/>
          <p:cNvSpPr txBox="1"/>
          <p:nvPr/>
        </p:nvSpPr>
        <p:spPr>
          <a:xfrm>
            <a:off x="8183880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accent4"/>
                </a:solidFill>
              </a:rPr>
              <a:t>提出 call</a:t>
            </a:r>
            <a:endParaRPr lang="zh-TW" sz="1100" dirty="0"/>
          </a:p>
        </p:txBody>
      </p:sp>
      <p:sp>
        <p:nvSpPr>
          <p:cNvPr id="24" name="bus-stem"/>
          <p:cNvSpPr/>
          <p:nvPr/>
        </p:nvSpPr>
        <p:spPr>
          <a:xfrm>
            <a:off x="6035040" y="3429000"/>
            <a:ext cx="0" cy="36576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5" name="bus"/>
          <p:cNvSpPr/>
          <p:nvPr/>
        </p:nvSpPr>
        <p:spPr>
          <a:xfrm>
            <a:off x="1851660" y="3794760"/>
            <a:ext cx="848563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26" name="arrow-162"/>
          <p:cNvSpPr/>
          <p:nvPr/>
        </p:nvSpPr>
        <p:spPr>
          <a:xfrm>
            <a:off x="1851660" y="3794760"/>
            <a:ext cx="0" cy="3200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card-163"/>
          <p:cNvSpPr/>
          <p:nvPr/>
        </p:nvSpPr>
        <p:spPr>
          <a:xfrm>
            <a:off x="548640" y="41605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pic>
        <p:nvPicPr>
          <p:cNvPr id="28" name="icon-164" descr="FileSear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43400"/>
            <a:ext cx="329184" cy="329184"/>
          </a:xfrm>
          <a:prstGeom prst="rect">
            <a:avLst/>
          </a:prstGeom>
        </p:spPr>
      </p:pic>
      <p:sp>
        <p:nvSpPr>
          <p:cNvPr id="29" name="text-165"/>
          <p:cNvSpPr txBox="1"/>
          <p:nvPr/>
        </p:nvSpPr>
        <p:spPr>
          <a:xfrm>
            <a:off x="1234440" y="4343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來源與 RAG gate</a:t>
            </a:r>
            <a:endParaRPr lang="zh-TW" sz="1500" dirty="0"/>
          </a:p>
        </p:txBody>
      </p:sp>
      <p:sp>
        <p:nvSpPr>
          <p:cNvPr id="30" name="text-166"/>
          <p:cNvSpPr txBox="1"/>
          <p:nvPr/>
        </p:nvSpPr>
        <p:spPr>
          <a:xfrm>
            <a:off x="777240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T1–T3／S1–S3 版本與 hash</a:t>
            </a:r>
            <a:endParaRPr lang="zh-TW" sz="1200" dirty="0"/>
          </a:p>
        </p:txBody>
      </p:sp>
      <p:sp>
        <p:nvSpPr>
          <p:cNvPr id="31" name="arrow-167"/>
          <p:cNvSpPr/>
          <p:nvPr/>
        </p:nvSpPr>
        <p:spPr>
          <a:xfrm>
            <a:off x="4680204" y="3794760"/>
            <a:ext cx="0" cy="3200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card-168"/>
          <p:cNvSpPr/>
          <p:nvPr/>
        </p:nvSpPr>
        <p:spPr>
          <a:xfrm>
            <a:off x="3377184" y="41605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pic>
        <p:nvPicPr>
          <p:cNvPr id="33" name="icon-169" descr="Serv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784" y="4343400"/>
            <a:ext cx="329184" cy="329184"/>
          </a:xfrm>
          <a:prstGeom prst="rect">
            <a:avLst/>
          </a:prstGeom>
        </p:spPr>
      </p:pic>
      <p:sp>
        <p:nvSpPr>
          <p:cNvPr id="34" name="text-170"/>
          <p:cNvSpPr txBox="1"/>
          <p:nvPr/>
        </p:nvSpPr>
        <p:spPr>
          <a:xfrm>
            <a:off x="4062984" y="4343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MCP stdio 唯讀</a:t>
            </a:r>
            <a:endParaRPr lang="zh-TW" sz="1500" dirty="0"/>
          </a:p>
        </p:txBody>
      </p:sp>
      <p:sp>
        <p:nvSpPr>
          <p:cNvPr id="35" name="text-171"/>
          <p:cNvSpPr txBox="1"/>
          <p:nvPr/>
        </p:nvSpPr>
        <p:spPr>
          <a:xfrm>
            <a:off x="3605784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既有合成評閱快照</a:t>
            </a:r>
            <a:endParaRPr lang="zh-TW" sz="1200" dirty="0"/>
          </a:p>
        </p:txBody>
      </p:sp>
      <p:sp>
        <p:nvSpPr>
          <p:cNvPr id="36" name="arrow-172"/>
          <p:cNvSpPr/>
          <p:nvPr/>
        </p:nvSpPr>
        <p:spPr>
          <a:xfrm>
            <a:off x="7508748" y="3794760"/>
            <a:ext cx="0" cy="3200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7" name="card-173"/>
          <p:cNvSpPr/>
          <p:nvPr/>
        </p:nvSpPr>
        <p:spPr>
          <a:xfrm>
            <a:off x="6205728" y="41605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pic>
        <p:nvPicPr>
          <p:cNvPr id="38" name="icon-174" descr="Databa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328" y="4343400"/>
            <a:ext cx="329184" cy="329184"/>
          </a:xfrm>
          <a:prstGeom prst="rect">
            <a:avLst/>
          </a:prstGeom>
        </p:spPr>
      </p:pic>
      <p:sp>
        <p:nvSpPr>
          <p:cNvPr id="39" name="text-175"/>
          <p:cNvSpPr txBox="1"/>
          <p:nvPr/>
        </p:nvSpPr>
        <p:spPr>
          <a:xfrm>
            <a:off x="6891528" y="4343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SQLite</a:t>
            </a:r>
            <a:endParaRPr lang="zh-TW" sz="1500" dirty="0"/>
          </a:p>
        </p:txBody>
      </p:sp>
      <p:sp>
        <p:nvSpPr>
          <p:cNvPr id="40" name="text-176"/>
          <p:cNvSpPr txBox="1"/>
          <p:nvPr/>
        </p:nvSpPr>
        <p:spPr>
          <a:xfrm>
            <a:off x="6434328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草稿、收據、稽核（確認後寫）</a:t>
            </a:r>
            <a:endParaRPr lang="zh-TW" sz="1200" dirty="0"/>
          </a:p>
        </p:txBody>
      </p:sp>
      <p:sp>
        <p:nvSpPr>
          <p:cNvPr id="41" name="arrow-177"/>
          <p:cNvSpPr/>
          <p:nvPr/>
        </p:nvSpPr>
        <p:spPr>
          <a:xfrm>
            <a:off x="10337292" y="3794760"/>
            <a:ext cx="0" cy="3200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2" name="card-178"/>
          <p:cNvSpPr/>
          <p:nvPr/>
        </p:nvSpPr>
        <p:spPr>
          <a:xfrm>
            <a:off x="9034272" y="4160520"/>
            <a:ext cx="260604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</p:spPr>
      </p:sp>
      <p:pic>
        <p:nvPicPr>
          <p:cNvPr id="43" name="icon-179" descr="His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2872" y="4343400"/>
            <a:ext cx="329184" cy="329184"/>
          </a:xfrm>
          <a:prstGeom prst="rect">
            <a:avLst/>
          </a:prstGeom>
        </p:spPr>
      </p:pic>
      <p:sp>
        <p:nvSpPr>
          <p:cNvPr id="44" name="text-180"/>
          <p:cNvSpPr txBox="1"/>
          <p:nvPr/>
        </p:nvSpPr>
        <p:spPr>
          <a:xfrm>
            <a:off x="9720072" y="4343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Session 記憶</a:t>
            </a:r>
            <a:endParaRPr lang="zh-TW" sz="1500" dirty="0"/>
          </a:p>
        </p:txBody>
      </p:sp>
      <p:sp>
        <p:nvSpPr>
          <p:cNvPr id="45" name="text-181"/>
          <p:cNvSpPr txBox="1"/>
          <p:nvPr/>
        </p:nvSpPr>
        <p:spPr>
          <a:xfrm>
            <a:off x="9262872" y="48006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只留最近一筆成功摘要</a:t>
            </a:r>
            <a:endParaRPr lang="zh-TW" sz="1200" dirty="0"/>
          </a:p>
        </p:txBody>
      </p:sp>
      <p:pic>
        <p:nvPicPr>
          <p:cNvPr id="46" name="icon-182" descr="RotateCc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715000"/>
            <a:ext cx="274320" cy="274320"/>
          </a:xfrm>
          <a:prstGeom prst="rect">
            <a:avLst/>
          </a:prstGeom>
        </p:spPr>
      </p:pic>
      <p:sp>
        <p:nvSpPr>
          <p:cNvPr id="47" name="text-183"/>
          <p:cNvSpPr txBox="1"/>
          <p:nvPr/>
        </p:nvSpPr>
        <p:spPr>
          <a:xfrm>
            <a:off x="914400" y="56875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工具結果回填模型後，Host 再核對摘要才回傳 UI。</a:t>
            </a:r>
            <a:endParaRPr lang="zh-TW" sz="1400" dirty="0"/>
          </a:p>
        </p:txBody>
      </p:sp>
      <p:pic>
        <p:nvPicPr>
          <p:cNvPr id="48" name="icon-184" descr="Lo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5715000"/>
            <a:ext cx="274320" cy="274320"/>
          </a:xfrm>
          <a:prstGeom prst="rect">
            <a:avLst/>
          </a:prstGeom>
        </p:spPr>
      </p:pic>
      <p:sp>
        <p:nvSpPr>
          <p:cNvPr id="49" name="text-185"/>
          <p:cNvSpPr txBox="1"/>
          <p:nvPr/>
        </p:nvSpPr>
        <p:spPr>
          <a:xfrm>
            <a:off x="6611112" y="56875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Session 記憶只提供背景，不能授權寫入。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工具介面與停止條件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兩個工具都有可驗證的輸入、輸出與停止點</a:t>
            </a:r>
            <a:endParaRPr lang="zh-TW" sz="3000" dirty="0"/>
          </a:p>
        </p:txBody>
      </p:sp>
      <p:sp>
        <p:nvSpPr>
          <p:cNvPr id="5" name="card-186"/>
          <p:cNvSpPr/>
          <p:nvPr/>
        </p:nvSpPr>
        <p:spPr>
          <a:xfrm>
            <a:off x="548640" y="1600200"/>
            <a:ext cx="539496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6" name="icon-bg-187"/>
          <p:cNvSpPr/>
          <p:nvPr/>
        </p:nvSpPr>
        <p:spPr>
          <a:xfrm>
            <a:off x="822960" y="1810512"/>
            <a:ext cx="512064" cy="512064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con-188" descr="File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33407"/>
            <a:ext cx="266273" cy="266273"/>
          </a:xfrm>
          <a:prstGeom prst="rect">
            <a:avLst/>
          </a:prstGeom>
        </p:spPr>
      </p:pic>
      <p:sp>
        <p:nvSpPr>
          <p:cNvPr id="8" name="text-189"/>
          <p:cNvSpPr txBox="1"/>
          <p:nvPr/>
        </p:nvSpPr>
        <p:spPr>
          <a:xfrm>
            <a:off x="1481328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get_submission_review</a:t>
            </a:r>
            <a:endParaRPr lang="zh-TW" sz="1800" dirty="0"/>
          </a:p>
        </p:txBody>
      </p:sp>
      <p:sp>
        <p:nvSpPr>
          <p:cNvPr id="9" name="tag-190"/>
          <p:cNvSpPr/>
          <p:nvPr/>
        </p:nvSpPr>
        <p:spPr>
          <a:xfrm>
            <a:off x="4596384" y="1920240"/>
            <a:ext cx="1072896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ag-text-191"/>
          <p:cNvSpPr txBox="1"/>
          <p:nvPr/>
        </p:nvSpPr>
        <p:spPr>
          <a:xfrm>
            <a:off x="4596384" y="1920240"/>
            <a:ext cx="1072896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4"/>
                </a:solidFill>
              </a:rPr>
              <a:t>唯讀 · MCP</a:t>
            </a:r>
            <a:endParaRPr lang="zh-TW" sz="1200" dirty="0"/>
          </a:p>
        </p:txBody>
      </p:sp>
      <p:sp>
        <p:nvSpPr>
          <p:cNvPr id="11" name="text-192"/>
          <p:cNvSpPr txBox="1"/>
          <p:nvPr/>
        </p:nvSpPr>
        <p:spPr>
          <a:xfrm>
            <a:off x="822960" y="2606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4"/>
                </a:solidFill>
              </a:rPr>
              <a:t>輸入</a:t>
            </a:r>
            <a:endParaRPr lang="zh-TW" sz="1400" dirty="0"/>
          </a:p>
        </p:txBody>
      </p:sp>
      <p:sp>
        <p:nvSpPr>
          <p:cNvPr id="12" name="text-193"/>
          <p:cNvSpPr txBox="1"/>
          <p:nvPr/>
        </p:nvSpPr>
        <p:spPr>
          <a:xfrm>
            <a:off x="1481328" y="2606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作業 ID、提交 ID、版本</a:t>
            </a:r>
            <a:endParaRPr lang="zh-TW" sz="1400" dirty="0"/>
          </a:p>
        </p:txBody>
      </p:sp>
      <p:sp>
        <p:nvSpPr>
          <p:cNvPr id="13" name="text-194"/>
          <p:cNvSpPr txBox="1"/>
          <p:nvPr/>
        </p:nvSpPr>
        <p:spPr>
          <a:xfrm>
            <a:off x="822960" y="30266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4"/>
                </a:solidFill>
              </a:rPr>
              <a:t>輸出</a:t>
            </a:r>
            <a:endParaRPr lang="zh-TW" sz="1400" dirty="0"/>
          </a:p>
        </p:txBody>
      </p:sp>
      <p:sp>
        <p:nvSpPr>
          <p:cNvPr id="14" name="text-195"/>
          <p:cNvSpPr txBox="1"/>
          <p:nvPr/>
        </p:nvSpPr>
        <p:spPr>
          <a:xfrm>
            <a:off x="1481328" y="30266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缺漏、待確認項、引用與 hash</a:t>
            </a:r>
            <a:endParaRPr lang="zh-TW" sz="1400" dirty="0"/>
          </a:p>
        </p:txBody>
      </p:sp>
      <p:sp>
        <p:nvSpPr>
          <p:cNvPr id="15" name="text-196"/>
          <p:cNvSpPr txBox="1"/>
          <p:nvPr/>
        </p:nvSpPr>
        <p:spPr>
          <a:xfrm>
            <a:off x="822960" y="34472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4"/>
                </a:solidFill>
              </a:rPr>
              <a:t>驗證</a:t>
            </a:r>
            <a:endParaRPr lang="zh-TW" sz="1400" dirty="0"/>
          </a:p>
        </p:txBody>
      </p:sp>
      <p:sp>
        <p:nvSpPr>
          <p:cNvPr id="16" name="text-197"/>
          <p:cNvSpPr txBox="1"/>
          <p:nvPr/>
        </p:nvSpPr>
        <p:spPr>
          <a:xfrm>
            <a:off x="1481328" y="3447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目標一致、來源有效、完整覆蓋</a:t>
            </a:r>
            <a:endParaRPr lang="zh-TW" sz="1400" dirty="0"/>
          </a:p>
        </p:txBody>
      </p:sp>
      <p:sp>
        <p:nvSpPr>
          <p:cNvPr id="17" name="text-198"/>
          <p:cNvSpPr txBox="1"/>
          <p:nvPr/>
        </p:nvSpPr>
        <p:spPr>
          <a:xfrm>
            <a:off x="822960" y="3867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4"/>
                </a:solidFill>
              </a:rPr>
              <a:t>傳輸</a:t>
            </a:r>
            <a:endParaRPr lang="zh-TW" sz="1400" dirty="0"/>
          </a:p>
        </p:txBody>
      </p:sp>
      <p:sp>
        <p:nvSpPr>
          <p:cNvPr id="18" name="text-199"/>
          <p:cNvSpPr txBox="1"/>
          <p:nvPr/>
        </p:nvSpPr>
        <p:spPr>
          <a:xfrm>
            <a:off x="1481328" y="38679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MCP stdio，只能讀</a:t>
            </a:r>
            <a:endParaRPr lang="zh-TW" sz="1400" dirty="0"/>
          </a:p>
        </p:txBody>
      </p:sp>
      <p:sp>
        <p:nvSpPr>
          <p:cNvPr id="19" name="card-200"/>
          <p:cNvSpPr/>
          <p:nvPr/>
        </p:nvSpPr>
        <p:spPr>
          <a:xfrm>
            <a:off x="6245352" y="1600200"/>
            <a:ext cx="539496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20" name="icon-bg-201"/>
          <p:cNvSpPr/>
          <p:nvPr/>
        </p:nvSpPr>
        <p:spPr>
          <a:xfrm>
            <a:off x="6519672" y="1810512"/>
            <a:ext cx="512064" cy="51206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con-202" descr="File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567" y="1933407"/>
            <a:ext cx="266273" cy="266273"/>
          </a:xfrm>
          <a:prstGeom prst="rect">
            <a:avLst/>
          </a:prstGeom>
        </p:spPr>
      </p:pic>
      <p:sp>
        <p:nvSpPr>
          <p:cNvPr id="22" name="text-203"/>
          <p:cNvSpPr txBox="1"/>
          <p:nvPr/>
        </p:nvSpPr>
        <p:spPr>
          <a:xfrm>
            <a:off x="717804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create_revision_draft</a:t>
            </a:r>
            <a:endParaRPr lang="zh-TW" sz="1800" dirty="0"/>
          </a:p>
        </p:txBody>
      </p:sp>
      <p:sp>
        <p:nvSpPr>
          <p:cNvPr id="23" name="tag-204"/>
          <p:cNvSpPr/>
          <p:nvPr/>
        </p:nvSpPr>
        <p:spPr>
          <a:xfrm>
            <a:off x="10101072" y="1920240"/>
            <a:ext cx="1264920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ag-text-205"/>
          <p:cNvSpPr txBox="1"/>
          <p:nvPr/>
        </p:nvSpPr>
        <p:spPr>
          <a:xfrm>
            <a:off x="10101072" y="1920240"/>
            <a:ext cx="126492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寫入 · 需確認</a:t>
            </a:r>
            <a:endParaRPr lang="zh-TW" sz="1200" dirty="0"/>
          </a:p>
        </p:txBody>
      </p:sp>
      <p:sp>
        <p:nvSpPr>
          <p:cNvPr id="25" name="text-206"/>
          <p:cNvSpPr txBox="1"/>
          <p:nvPr/>
        </p:nvSpPr>
        <p:spPr>
          <a:xfrm>
            <a:off x="6519672" y="26060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輸入</a:t>
            </a:r>
            <a:endParaRPr lang="zh-TW" sz="1400" dirty="0"/>
          </a:p>
        </p:txBody>
      </p:sp>
      <p:sp>
        <p:nvSpPr>
          <p:cNvPr id="26" name="text-207"/>
          <p:cNvSpPr txBox="1"/>
          <p:nvPr/>
        </p:nvSpPr>
        <p:spPr>
          <a:xfrm>
            <a:off x="7178040" y="26060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相同目標＋requirement_ids</a:t>
            </a:r>
            <a:endParaRPr lang="zh-TW" sz="1400" dirty="0"/>
          </a:p>
        </p:txBody>
      </p:sp>
      <p:sp>
        <p:nvSpPr>
          <p:cNvPr id="27" name="text-208"/>
          <p:cNvSpPr txBox="1"/>
          <p:nvPr/>
        </p:nvSpPr>
        <p:spPr>
          <a:xfrm>
            <a:off x="6519672" y="30266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輸出</a:t>
            </a:r>
            <a:endParaRPr lang="zh-TW" sz="1400" dirty="0"/>
          </a:p>
        </p:txBody>
      </p:sp>
      <p:sp>
        <p:nvSpPr>
          <p:cNvPr id="28" name="text-209"/>
          <p:cNvSpPr txBox="1"/>
          <p:nvPr/>
        </p:nvSpPr>
        <p:spPr>
          <a:xfrm>
            <a:off x="7178040" y="30266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draft_id、request_id、收據</a:t>
            </a:r>
            <a:endParaRPr lang="zh-TW" sz="1400" dirty="0"/>
          </a:p>
        </p:txBody>
      </p:sp>
      <p:sp>
        <p:nvSpPr>
          <p:cNvPr id="29" name="text-210"/>
          <p:cNvSpPr txBox="1"/>
          <p:nvPr/>
        </p:nvSpPr>
        <p:spPr>
          <a:xfrm>
            <a:off x="6519672" y="34472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驗證</a:t>
            </a:r>
            <a:endParaRPr lang="zh-TW" sz="1400" dirty="0"/>
          </a:p>
        </p:txBody>
      </p:sp>
      <p:sp>
        <p:nvSpPr>
          <p:cNvPr id="30" name="text-211"/>
          <p:cNvSpPr txBox="1"/>
          <p:nvPr/>
        </p:nvSpPr>
        <p:spPr>
          <a:xfrm>
            <a:off x="7178040" y="34472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項目一致、來源未變、使用者確認</a:t>
            </a:r>
            <a:endParaRPr lang="zh-TW" sz="1400" dirty="0"/>
          </a:p>
        </p:txBody>
      </p:sp>
      <p:sp>
        <p:nvSpPr>
          <p:cNvPr id="31" name="text-212"/>
          <p:cNvSpPr txBox="1"/>
          <p:nvPr/>
        </p:nvSpPr>
        <p:spPr>
          <a:xfrm>
            <a:off x="6519672" y="3867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寫入</a:t>
            </a:r>
            <a:endParaRPr lang="zh-TW" sz="1400" dirty="0"/>
          </a:p>
        </p:txBody>
      </p:sp>
      <p:sp>
        <p:nvSpPr>
          <p:cNvPr id="32" name="text-213"/>
          <p:cNvSpPr txBox="1"/>
          <p:nvPr/>
        </p:nvSpPr>
        <p:spPr>
          <a:xfrm>
            <a:off x="7178040" y="38679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本機 SQLite，同 run ID 只寫一次</a:t>
            </a:r>
            <a:endParaRPr lang="zh-TW" sz="1400" dirty="0"/>
          </a:p>
        </p:txBody>
      </p:sp>
      <p:sp>
        <p:nvSpPr>
          <p:cNvPr id="33" name="card-214"/>
          <p:cNvSpPr/>
          <p:nvPr/>
        </p:nvSpPr>
        <p:spPr>
          <a:xfrm>
            <a:off x="548640" y="4663440"/>
            <a:ext cx="3520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4" name="stat-215"/>
          <p:cNvSpPr txBox="1"/>
          <p:nvPr/>
        </p:nvSpPr>
        <p:spPr>
          <a:xfrm>
            <a:off x="822960" y="4663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tx2"/>
                </a:solidFill>
              </a:rPr>
              <a:t>3</a:t>
            </a:r>
            <a:pPr indent="0" marL="0"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 輪</a:t>
            </a:r>
            <a:endParaRPr lang="zh-TW" sz="4000" dirty="0"/>
          </a:p>
        </p:txBody>
      </p:sp>
      <p:sp>
        <p:nvSpPr>
          <p:cNvPr id="35" name="text-216"/>
          <p:cNvSpPr txBox="1"/>
          <p:nvPr/>
        </p:nvSpPr>
        <p:spPr>
          <a:xfrm>
            <a:off x="2514600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模型呼叫上限</a:t>
            </a:r>
            <a:endParaRPr lang="zh-TW" sz="1500" dirty="0"/>
          </a:p>
        </p:txBody>
      </p:sp>
      <p:sp>
        <p:nvSpPr>
          <p:cNvPr id="36" name="card-217"/>
          <p:cNvSpPr/>
          <p:nvPr/>
        </p:nvSpPr>
        <p:spPr>
          <a:xfrm>
            <a:off x="4334256" y="4663440"/>
            <a:ext cx="3520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37" name="stat-218"/>
          <p:cNvSpPr txBox="1"/>
          <p:nvPr/>
        </p:nvSpPr>
        <p:spPr>
          <a:xfrm>
            <a:off x="4608576" y="4663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tx2"/>
                </a:solidFill>
              </a:rPr>
              <a:t>2</a:t>
            </a:r>
            <a:pPr indent="0" marL="0"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 次</a:t>
            </a:r>
            <a:endParaRPr lang="zh-TW" sz="4000" dirty="0"/>
          </a:p>
        </p:txBody>
      </p:sp>
      <p:sp>
        <p:nvSpPr>
          <p:cNvPr id="38" name="text-219"/>
          <p:cNvSpPr txBox="1"/>
          <p:nvPr/>
        </p:nvSpPr>
        <p:spPr>
          <a:xfrm>
            <a:off x="6300216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可重試錯誤上限</a:t>
            </a:r>
            <a:endParaRPr lang="zh-TW" sz="1500" dirty="0"/>
          </a:p>
        </p:txBody>
      </p:sp>
      <p:sp>
        <p:nvSpPr>
          <p:cNvPr id="39" name="card-220"/>
          <p:cNvSpPr/>
          <p:nvPr/>
        </p:nvSpPr>
        <p:spPr>
          <a:xfrm>
            <a:off x="8119872" y="4663440"/>
            <a:ext cx="3520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0" name="stat-221"/>
          <p:cNvSpPr txBox="1"/>
          <p:nvPr/>
        </p:nvSpPr>
        <p:spPr>
          <a:xfrm>
            <a:off x="8394192" y="4663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4000" b="1" dirty="0">
                <a:solidFill>
                  <a:schemeClr val="tx2"/>
                </a:solidFill>
              </a:rPr>
              <a:t>10</a:t>
            </a:r>
            <a:pPr indent="0" marL="0">
              <a:buNone/>
            </a:pPr>
            <a:r>
              <a:rPr lang="zh-TW" altLang="en-US" sz="1800" b="1" dirty="0">
                <a:solidFill>
                  <a:schemeClr val="tx2"/>
                </a:solidFill>
              </a:rPr>
              <a:t> 分鐘</a:t>
            </a:r>
            <a:endParaRPr lang="zh-TW" sz="4000" dirty="0"/>
          </a:p>
        </p:txBody>
      </p:sp>
      <p:sp>
        <p:nvSpPr>
          <p:cNvPr id="41" name="text-222"/>
          <p:cNvSpPr txBox="1"/>
          <p:nvPr/>
        </p:nvSpPr>
        <p:spPr>
          <a:xfrm>
            <a:off x="10085832" y="4663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accent6"/>
                </a:solidFill>
              </a:rPr>
              <a:t>提案確認期限</a:t>
            </a:r>
            <a:endParaRPr lang="zh-TW" sz="1500" dirty="0"/>
          </a:p>
        </p:txBody>
      </p:sp>
      <p:pic>
        <p:nvPicPr>
          <p:cNvPr id="42" name="icon-223" descr="Octagon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888736"/>
            <a:ext cx="292608" cy="292608"/>
          </a:xfrm>
          <a:prstGeom prst="rect">
            <a:avLst/>
          </a:prstGeom>
        </p:spPr>
      </p:pic>
      <p:sp>
        <p:nvSpPr>
          <p:cNvPr id="43" name="text-224"/>
          <p:cNvSpPr txBox="1"/>
          <p:nvPr/>
        </p:nvSpPr>
        <p:spPr>
          <a:xfrm>
            <a:off x="932688" y="5870448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非法參數、工具順序不符、引用不足或無權限 → 立即停止、不寫入，疑義交給老師。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WEEK 07 · 路線 C：Session 記憶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清除對話後，舊摘要不再進入模型</a:t>
            </a:r>
            <a:endParaRPr lang="zh-TW" sz="3000" dirty="0"/>
          </a:p>
        </p:txBody>
      </p:sp>
      <p:sp>
        <p:nvSpPr>
          <p:cNvPr id="5" name="card-225"/>
          <p:cNvSpPr/>
          <p:nvPr/>
        </p:nvSpPr>
        <p:spPr>
          <a:xfrm>
            <a:off x="548640" y="1600200"/>
            <a:ext cx="3337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6" name="text-226"/>
          <p:cNvSpPr txBox="1"/>
          <p:nvPr/>
        </p:nvSpPr>
        <p:spPr>
          <a:xfrm>
            <a:off x="777240" y="1691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成功報告</a:t>
            </a:r>
            <a:endParaRPr lang="zh-TW" sz="1600" dirty="0"/>
          </a:p>
        </p:txBody>
      </p:sp>
      <p:sp>
        <p:nvSpPr>
          <p:cNvPr id="7" name="text-227"/>
          <p:cNvSpPr txBox="1"/>
          <p:nvPr/>
        </p:nvSpPr>
        <p:spPr>
          <a:xfrm>
            <a:off x="777240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摘要通過 Host 核對</a:t>
            </a:r>
            <a:endParaRPr lang="zh-TW" sz="1200" dirty="0"/>
          </a:p>
        </p:txBody>
      </p:sp>
      <p:sp>
        <p:nvSpPr>
          <p:cNvPr id="8" name="arrow-228"/>
          <p:cNvSpPr/>
          <p:nvPr/>
        </p:nvSpPr>
        <p:spPr>
          <a:xfrm>
            <a:off x="3931920" y="2057400"/>
            <a:ext cx="448056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memory-box"/>
          <p:cNvSpPr/>
          <p:nvPr/>
        </p:nvSpPr>
        <p:spPr>
          <a:xfrm>
            <a:off x="4425696" y="1600200"/>
            <a:ext cx="33375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-229"/>
          <p:cNvSpPr txBox="1"/>
          <p:nvPr/>
        </p:nvSpPr>
        <p:spPr>
          <a:xfrm>
            <a:off x="4654296" y="1691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bg1"/>
                </a:solidFill>
              </a:rPr>
              <a:t>本 Session 最近一筆摘要</a:t>
            </a:r>
            <a:endParaRPr lang="zh-TW" sz="1600" dirty="0"/>
          </a:p>
        </p:txBody>
      </p:sp>
      <p:sp>
        <p:nvSpPr>
          <p:cNvPr id="11" name="text-230"/>
          <p:cNvSpPr txBox="1"/>
          <p:nvPr/>
        </p:nvSpPr>
        <p:spPr>
          <a:xfrm>
            <a:off x="4654296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≤ 4,096 bytes，不含原文與先前同意</a:t>
            </a:r>
            <a:endParaRPr lang="zh-TW" sz="1200" dirty="0"/>
          </a:p>
        </p:txBody>
      </p:sp>
      <p:sp>
        <p:nvSpPr>
          <p:cNvPr id="12" name="arrow-231"/>
          <p:cNvSpPr/>
          <p:nvPr/>
        </p:nvSpPr>
        <p:spPr>
          <a:xfrm>
            <a:off x="7808976" y="2057400"/>
            <a:ext cx="448056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-232"/>
          <p:cNvSpPr/>
          <p:nvPr/>
        </p:nvSpPr>
        <p:spPr>
          <a:xfrm>
            <a:off x="8302752" y="1600200"/>
            <a:ext cx="3337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4" name="text-233"/>
          <p:cNvSpPr txBox="1"/>
          <p:nvPr/>
        </p:nvSpPr>
        <p:spPr>
          <a:xfrm>
            <a:off x="8531352" y="16916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下次模型 context</a:t>
            </a:r>
            <a:endParaRPr lang="zh-TW" sz="1600" dirty="0"/>
          </a:p>
        </p:txBody>
      </p:sp>
      <p:sp>
        <p:nvSpPr>
          <p:cNvPr id="15" name="text-234"/>
          <p:cNvSpPr txBox="1"/>
          <p:nvPr/>
        </p:nvSpPr>
        <p:spPr>
          <a:xfrm>
            <a:off x="8531352" y="20574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先核對 owner 與來源版本</a:t>
            </a:r>
            <a:endParaRPr lang="zh-TW" sz="1200" dirty="0"/>
          </a:p>
        </p:txBody>
      </p:sp>
      <p:sp>
        <p:nvSpPr>
          <p:cNvPr id="16" name="text-235"/>
          <p:cNvSpPr txBox="1"/>
          <p:nvPr/>
        </p:nvSpPr>
        <p:spPr>
          <a:xfrm>
            <a:off x="548640" y="2834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三種情況會切斷記憶</a:t>
            </a:r>
            <a:endParaRPr lang="zh-TW" sz="1700" dirty="0"/>
          </a:p>
        </p:txBody>
      </p:sp>
      <p:sp>
        <p:nvSpPr>
          <p:cNvPr id="17" name="icon-bg-236"/>
          <p:cNvSpPr/>
          <p:nvPr/>
        </p:nvSpPr>
        <p:spPr>
          <a:xfrm>
            <a:off x="548640" y="3310128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-237" descr="Era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3406689"/>
            <a:ext cx="209215" cy="209215"/>
          </a:xfrm>
          <a:prstGeom prst="rect">
            <a:avLst/>
          </a:prstGeom>
        </p:spPr>
      </p:pic>
      <p:sp>
        <p:nvSpPr>
          <p:cNvPr id="19" name="text-238"/>
          <p:cNvSpPr txBox="1"/>
          <p:nvPr/>
        </p:nvSpPr>
        <p:spPr>
          <a:xfrm>
            <a:off x="1097280" y="331012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清除對話，開始新 Session</a:t>
            </a:r>
            <a:endParaRPr lang="zh-TW" sz="1500" dirty="0"/>
          </a:p>
        </p:txBody>
      </p:sp>
      <p:sp>
        <p:nvSpPr>
          <p:cNvPr id="20" name="icon-bg-239"/>
          <p:cNvSpPr/>
          <p:nvPr/>
        </p:nvSpPr>
        <p:spPr>
          <a:xfrm>
            <a:off x="548640" y="3858768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-240" descr="User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01" y="3955329"/>
            <a:ext cx="209215" cy="209215"/>
          </a:xfrm>
          <a:prstGeom prst="rect">
            <a:avLst/>
          </a:prstGeom>
        </p:spPr>
      </p:pic>
      <p:sp>
        <p:nvSpPr>
          <p:cNvPr id="22" name="text-241"/>
          <p:cNvSpPr txBox="1"/>
          <p:nvPr/>
        </p:nvSpPr>
        <p:spPr>
          <a:xfrm>
            <a:off x="1097280" y="385876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換成另一位使用者</a:t>
            </a:r>
            <a:endParaRPr lang="zh-TW" sz="1500" dirty="0"/>
          </a:p>
        </p:txBody>
      </p:sp>
      <p:sp>
        <p:nvSpPr>
          <p:cNvPr id="23" name="icon-bg-242"/>
          <p:cNvSpPr/>
          <p:nvPr/>
        </p:nvSpPr>
        <p:spPr>
          <a:xfrm>
            <a:off x="548640" y="4407408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4" name="icon-243" descr="RefreshC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1" y="4503969"/>
            <a:ext cx="209215" cy="209215"/>
          </a:xfrm>
          <a:prstGeom prst="rect">
            <a:avLst/>
          </a:prstGeom>
        </p:spPr>
      </p:pic>
      <p:sp>
        <p:nvSpPr>
          <p:cNvPr id="25" name="text-244"/>
          <p:cNvSpPr txBox="1"/>
          <p:nvPr/>
        </p:nvSpPr>
        <p:spPr>
          <a:xfrm>
            <a:off x="1097280" y="4407408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來源更新為 v2（hash 改變）</a:t>
            </a:r>
            <a:endParaRPr lang="zh-TW" sz="1500" dirty="0"/>
          </a:p>
        </p:txBody>
      </p:sp>
      <p:sp>
        <p:nvSpPr>
          <p:cNvPr id="26" name="memory-null"/>
          <p:cNvSpPr/>
          <p:nvPr/>
        </p:nvSpPr>
        <p:spPr>
          <a:xfrm>
            <a:off x="548640" y="5029200"/>
            <a:ext cx="5394960" cy="47548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7" name="text-245"/>
          <p:cNvSpPr txBox="1"/>
          <p:nvPr/>
        </p:nvSpPr>
        <p:spPr>
          <a:xfrm>
            <a:off x="777240" y="50292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→ context 回填 memory: null，舊提案失效</a:t>
            </a:r>
            <a:endParaRPr lang="zh-TW" sz="1500" dirty="0"/>
          </a:p>
        </p:txBody>
      </p:sp>
      <p:sp>
        <p:nvSpPr>
          <p:cNvPr id="28" name="text-246"/>
          <p:cNvSpPr txBox="1"/>
          <p:nvPr/>
        </p:nvSpPr>
        <p:spPr>
          <a:xfrm>
            <a:off x="548640" y="566928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清除 ≠ 刪除：既有草稿、交易與稽核紀錄仍保留在本機。</a:t>
            </a:r>
            <a:endParaRPr lang="zh-TW" sz="1300" dirty="0"/>
          </a:p>
        </p:txBody>
      </p:sp>
      <p:sp>
        <p:nvSpPr>
          <p:cNvPr id="29" name="shot-frame-247"/>
          <p:cNvSpPr/>
          <p:nvPr/>
        </p:nvSpPr>
        <p:spPr>
          <a:xfrm>
            <a:off x="6327648" y="2871216"/>
            <a:ext cx="5321808" cy="2970561"/>
          </a:xfrm>
          <a:prstGeom prst="roundRect">
            <a:avLst>
              <a:gd name="adj" fmla="val 184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pic>
        <p:nvPicPr>
          <p:cNvPr id="30" name="screenshot-248" descr="2026-10-28 清除對話後新 Session 的記憶範圍，memory 為 nu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926080"/>
            <a:ext cx="5212080" cy="2860833"/>
          </a:xfrm>
          <a:prstGeom prst="rect">
            <a:avLst/>
          </a:prstGeom>
        </p:spPr>
      </p:pic>
      <p:sp>
        <p:nvSpPr>
          <p:cNvPr id="31" name="text-249"/>
          <p:cNvSpPr txBox="1"/>
          <p:nvPr/>
        </p:nvSpPr>
        <p:spPr>
          <a:xfrm>
            <a:off x="6382512" y="5852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實際畫面：清除後的新 Session（2026-10-28）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真實介面 · OPENAI · 2026-10-28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示範：使用者按下確認後，才寫入一份草稿</a:t>
            </a:r>
            <a:endParaRPr lang="zh-TW" sz="3000" dirty="0"/>
          </a:p>
        </p:txBody>
      </p:sp>
      <p:sp>
        <p:nvSpPr>
          <p:cNvPr id="5" name="step-dot-250"/>
          <p:cNvSpPr/>
          <p:nvPr/>
        </p:nvSpPr>
        <p:spPr>
          <a:xfrm>
            <a:off x="548640" y="16459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-251"/>
          <p:cNvSpPr txBox="1"/>
          <p:nvPr/>
        </p:nvSpPr>
        <p:spPr>
          <a:xfrm>
            <a:off x="548640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1</a:t>
            </a:r>
            <a:endParaRPr lang="zh-TW" sz="1500" dirty="0"/>
          </a:p>
        </p:txBody>
      </p:sp>
      <p:sp>
        <p:nvSpPr>
          <p:cNvPr id="7" name="text-252"/>
          <p:cNvSpPr txBox="1"/>
          <p:nvPr/>
        </p:nvSpPr>
        <p:spPr>
          <a:xfrm>
            <a:off x="1143000" y="164592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提出補件需求</a:t>
            </a:r>
            <a:endParaRPr lang="zh-TW" sz="1600" dirty="0"/>
          </a:p>
        </p:txBody>
      </p:sp>
      <p:sp>
        <p:nvSpPr>
          <p:cNvPr id="8" name="tag-253"/>
          <p:cNvSpPr/>
          <p:nvPr/>
        </p:nvSpPr>
        <p:spPr>
          <a:xfrm>
            <a:off x="5577840" y="1719072"/>
            <a:ext cx="694944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ag-text-254"/>
          <p:cNvSpPr txBox="1"/>
          <p:nvPr/>
        </p:nvSpPr>
        <p:spPr>
          <a:xfrm>
            <a:off x="5577840" y="1719072"/>
            <a:ext cx="69494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使用者</a:t>
            </a:r>
            <a:endParaRPr lang="zh-TW" sz="1200" dirty="0"/>
          </a:p>
        </p:txBody>
      </p:sp>
      <p:sp>
        <p:nvSpPr>
          <p:cNvPr id="10" name="step-dot-255"/>
          <p:cNvSpPr/>
          <p:nvPr/>
        </p:nvSpPr>
        <p:spPr>
          <a:xfrm>
            <a:off x="548640" y="2267712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text-256"/>
          <p:cNvSpPr txBox="1"/>
          <p:nvPr/>
        </p:nvSpPr>
        <p:spPr>
          <a:xfrm>
            <a:off x="548640" y="2267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2</a:t>
            </a:r>
            <a:endParaRPr lang="zh-TW" sz="1500" dirty="0"/>
          </a:p>
        </p:txBody>
      </p:sp>
      <p:sp>
        <p:nvSpPr>
          <p:cNvPr id="12" name="text-257"/>
          <p:cNvSpPr txBox="1"/>
          <p:nvPr/>
        </p:nvSpPr>
        <p:spPr>
          <a:xfrm>
            <a:off x="1143000" y="226771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呼叫查詢工具 get_submission_review</a:t>
            </a:r>
            <a:endParaRPr lang="zh-TW" sz="1600" dirty="0"/>
          </a:p>
        </p:txBody>
      </p:sp>
      <p:sp>
        <p:nvSpPr>
          <p:cNvPr id="13" name="tag-258"/>
          <p:cNvSpPr/>
          <p:nvPr/>
        </p:nvSpPr>
        <p:spPr>
          <a:xfrm>
            <a:off x="5577840" y="2340864"/>
            <a:ext cx="502920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ag-text-259"/>
          <p:cNvSpPr txBox="1"/>
          <p:nvPr/>
        </p:nvSpPr>
        <p:spPr>
          <a:xfrm>
            <a:off x="5577840" y="2340864"/>
            <a:ext cx="50292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4"/>
                </a:solidFill>
              </a:rPr>
              <a:t>GPT</a:t>
            </a:r>
            <a:endParaRPr lang="zh-TW" sz="1200" dirty="0"/>
          </a:p>
        </p:txBody>
      </p:sp>
      <p:sp>
        <p:nvSpPr>
          <p:cNvPr id="15" name="step-dot-260"/>
          <p:cNvSpPr/>
          <p:nvPr/>
        </p:nvSpPr>
        <p:spPr>
          <a:xfrm>
            <a:off x="548640" y="288950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-261"/>
          <p:cNvSpPr txBox="1"/>
          <p:nvPr/>
        </p:nvSpPr>
        <p:spPr>
          <a:xfrm>
            <a:off x="54864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3</a:t>
            </a:r>
            <a:endParaRPr lang="zh-TW" sz="1500" dirty="0"/>
          </a:p>
        </p:txBody>
      </p:sp>
      <p:sp>
        <p:nvSpPr>
          <p:cNvPr id="17" name="text-262"/>
          <p:cNvSpPr txBox="1"/>
          <p:nvPr/>
        </p:nvSpPr>
        <p:spPr>
          <a:xfrm>
            <a:off x="1143000" y="288950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驗證參數、查來源並回填結果</a:t>
            </a:r>
            <a:endParaRPr lang="zh-TW" sz="1600" dirty="0"/>
          </a:p>
        </p:txBody>
      </p:sp>
      <p:sp>
        <p:nvSpPr>
          <p:cNvPr id="18" name="tag-263"/>
          <p:cNvSpPr/>
          <p:nvPr/>
        </p:nvSpPr>
        <p:spPr>
          <a:xfrm>
            <a:off x="5577840" y="2962656"/>
            <a:ext cx="591312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ag-text-264"/>
          <p:cNvSpPr txBox="1"/>
          <p:nvPr/>
        </p:nvSpPr>
        <p:spPr>
          <a:xfrm>
            <a:off x="5577840" y="2962656"/>
            <a:ext cx="591312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Host</a:t>
            </a:r>
            <a:endParaRPr lang="zh-TW" sz="1200" dirty="0"/>
          </a:p>
        </p:txBody>
      </p:sp>
      <p:sp>
        <p:nvSpPr>
          <p:cNvPr id="20" name="step-dot-265"/>
          <p:cNvSpPr/>
          <p:nvPr/>
        </p:nvSpPr>
        <p:spPr>
          <a:xfrm>
            <a:off x="548640" y="3511296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1" name="text-266"/>
          <p:cNvSpPr txBox="1"/>
          <p:nvPr/>
        </p:nvSpPr>
        <p:spPr>
          <a:xfrm>
            <a:off x="548640" y="3511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4</a:t>
            </a:r>
            <a:endParaRPr lang="zh-TW" sz="1500" dirty="0"/>
          </a:p>
        </p:txBody>
      </p:sp>
      <p:sp>
        <p:nvSpPr>
          <p:cNvPr id="22" name="text-267"/>
          <p:cNvSpPr txBox="1"/>
          <p:nvPr/>
        </p:nvSpPr>
        <p:spPr>
          <a:xfrm>
            <a:off x="1143000" y="3511296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提出草稿工具（此時尚未寫入）</a:t>
            </a:r>
            <a:endParaRPr lang="zh-TW" sz="1600" dirty="0"/>
          </a:p>
        </p:txBody>
      </p:sp>
      <p:sp>
        <p:nvSpPr>
          <p:cNvPr id="23" name="tag-268"/>
          <p:cNvSpPr/>
          <p:nvPr/>
        </p:nvSpPr>
        <p:spPr>
          <a:xfrm>
            <a:off x="5577840" y="3584448"/>
            <a:ext cx="502920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ag-text-269"/>
          <p:cNvSpPr txBox="1"/>
          <p:nvPr/>
        </p:nvSpPr>
        <p:spPr>
          <a:xfrm>
            <a:off x="5577840" y="3584448"/>
            <a:ext cx="502920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4"/>
                </a:solidFill>
              </a:rPr>
              <a:t>GPT</a:t>
            </a:r>
            <a:endParaRPr lang="zh-TW" sz="1200" dirty="0"/>
          </a:p>
        </p:txBody>
      </p:sp>
      <p:sp>
        <p:nvSpPr>
          <p:cNvPr id="25" name="highlight-step"/>
          <p:cNvSpPr/>
          <p:nvPr/>
        </p:nvSpPr>
        <p:spPr>
          <a:xfrm>
            <a:off x="411480" y="4041648"/>
            <a:ext cx="6309360" cy="603504"/>
          </a:xfrm>
          <a:prstGeom prst="roundRect">
            <a:avLst>
              <a:gd name="adj" fmla="val 15152"/>
            </a:avLst>
          </a:prstGeom>
          <a:solidFill>
            <a:schemeClr val="accent1">
              <a:alpha val="35000"/>
            </a:schemeClr>
          </a:solidFill>
          <a:ln/>
        </p:spPr>
      </p:sp>
      <p:sp>
        <p:nvSpPr>
          <p:cNvPr id="26" name="step-dot-270"/>
          <p:cNvSpPr/>
          <p:nvPr/>
        </p:nvSpPr>
        <p:spPr>
          <a:xfrm>
            <a:off x="548640" y="413308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7" name="text-271"/>
          <p:cNvSpPr txBox="1"/>
          <p:nvPr/>
        </p:nvSpPr>
        <p:spPr>
          <a:xfrm>
            <a:off x="54864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5</a:t>
            </a:r>
            <a:endParaRPr lang="zh-TW" sz="1500" dirty="0"/>
          </a:p>
        </p:txBody>
      </p:sp>
      <p:sp>
        <p:nvSpPr>
          <p:cNvPr id="28" name="text-272"/>
          <p:cNvSpPr txBox="1"/>
          <p:nvPr/>
        </p:nvSpPr>
        <p:spPr>
          <a:xfrm>
            <a:off x="1143000" y="413308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按下確認，Host 才寫入 SQLite</a:t>
            </a:r>
            <a:endParaRPr lang="zh-TW" sz="1600" dirty="0"/>
          </a:p>
        </p:txBody>
      </p:sp>
      <p:sp>
        <p:nvSpPr>
          <p:cNvPr id="29" name="tag-273"/>
          <p:cNvSpPr/>
          <p:nvPr/>
        </p:nvSpPr>
        <p:spPr>
          <a:xfrm>
            <a:off x="5577840" y="4206240"/>
            <a:ext cx="694944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ag-text-274"/>
          <p:cNvSpPr txBox="1"/>
          <p:nvPr/>
        </p:nvSpPr>
        <p:spPr>
          <a:xfrm>
            <a:off x="5577840" y="4206240"/>
            <a:ext cx="694944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使用者</a:t>
            </a:r>
            <a:endParaRPr lang="zh-TW" sz="1200" dirty="0"/>
          </a:p>
        </p:txBody>
      </p:sp>
      <p:sp>
        <p:nvSpPr>
          <p:cNvPr id="31" name="step-dot-275"/>
          <p:cNvSpPr/>
          <p:nvPr/>
        </p:nvSpPr>
        <p:spPr>
          <a:xfrm>
            <a:off x="548640" y="475488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-276"/>
          <p:cNvSpPr txBox="1"/>
          <p:nvPr/>
        </p:nvSpPr>
        <p:spPr>
          <a:xfrm>
            <a:off x="548640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6</a:t>
            </a:r>
            <a:endParaRPr lang="zh-TW" sz="1500" dirty="0"/>
          </a:p>
        </p:txBody>
      </p:sp>
      <p:sp>
        <p:nvSpPr>
          <p:cNvPr id="33" name="text-277"/>
          <p:cNvSpPr txBox="1"/>
          <p:nvPr/>
        </p:nvSpPr>
        <p:spPr>
          <a:xfrm>
            <a:off x="1143000" y="47548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收據回填 GPT，核對摘要後回傳</a:t>
            </a:r>
            <a:endParaRPr lang="zh-TW" sz="1600" dirty="0"/>
          </a:p>
        </p:txBody>
      </p:sp>
      <p:sp>
        <p:nvSpPr>
          <p:cNvPr id="34" name="tag-278"/>
          <p:cNvSpPr/>
          <p:nvPr/>
        </p:nvSpPr>
        <p:spPr>
          <a:xfrm>
            <a:off x="5577840" y="4828032"/>
            <a:ext cx="591312" cy="2621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ag-text-279"/>
          <p:cNvSpPr txBox="1"/>
          <p:nvPr/>
        </p:nvSpPr>
        <p:spPr>
          <a:xfrm>
            <a:off x="5577840" y="4828032"/>
            <a:ext cx="591312" cy="262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Host</a:t>
            </a:r>
            <a:endParaRPr lang="zh-TW" sz="1200" dirty="0"/>
          </a:p>
        </p:txBody>
      </p:sp>
      <p:sp>
        <p:nvSpPr>
          <p:cNvPr id="36" name="card-280"/>
          <p:cNvSpPr/>
          <p:nvPr/>
        </p:nvSpPr>
        <p:spPr>
          <a:xfrm>
            <a:off x="548640" y="5440680"/>
            <a:ext cx="6035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37" name="chip-pass-281"/>
          <p:cNvSpPr/>
          <p:nvPr/>
        </p:nvSpPr>
        <p:spPr>
          <a:xfrm>
            <a:off x="777240" y="5641848"/>
            <a:ext cx="1368704" cy="3114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8" name="chip-icon-282" descr="LIVE_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5704129"/>
            <a:ext cx="186842" cy="186842"/>
          </a:xfrm>
          <a:prstGeom prst="rect">
            <a:avLst/>
          </a:prstGeom>
        </p:spPr>
      </p:pic>
      <p:sp>
        <p:nvSpPr>
          <p:cNvPr id="39" name="chip-text-283"/>
          <p:cNvSpPr txBox="1"/>
          <p:nvPr/>
        </p:nvSpPr>
        <p:spPr>
          <a:xfrm>
            <a:off x="1137818" y="5641848"/>
            <a:ext cx="998982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LIVE_PASS</a:t>
            </a:r>
            <a:endParaRPr lang="zh-TW" sz="1300" dirty="0"/>
          </a:p>
        </p:txBody>
      </p:sp>
      <p:sp>
        <p:nvSpPr>
          <p:cNvPr id="40" name="text-284"/>
          <p:cNvSpPr txBox="1"/>
          <p:nvPr/>
        </p:nvSpPr>
        <p:spPr>
          <a:xfrm>
            <a:off x="2328824" y="5440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草稿 1 份；同一請求重送仍是 1 份</a:t>
            </a:r>
            <a:endParaRPr lang="zh-TW" sz="1600" dirty="0"/>
          </a:p>
        </p:txBody>
      </p:sp>
      <p:sp>
        <p:nvSpPr>
          <p:cNvPr id="41" name="shot-frame-285"/>
          <p:cNvSpPr/>
          <p:nvPr/>
        </p:nvSpPr>
        <p:spPr>
          <a:xfrm>
            <a:off x="7580376" y="1517904"/>
            <a:ext cx="3724552" cy="4636008"/>
          </a:xfrm>
          <a:prstGeom prst="roundRect">
            <a:avLst>
              <a:gd name="adj" fmla="val 147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pic>
        <p:nvPicPr>
          <p:cNvPr id="42" name="screenshot-286" descr="2026-10-28 真實 GPT 工作台：三個檢查項目與已建立的補件草稿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572768"/>
            <a:ext cx="3614824" cy="4526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真實介面 · OPENAI · 2026-10-28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語意比對分得出「有寫」和「寫完整」</a:t>
            </a:r>
            <a:endParaRPr lang="zh-TW" sz="3000" dirty="0"/>
          </a:p>
        </p:txBody>
      </p:sp>
      <p:sp>
        <p:nvSpPr>
          <p:cNvPr id="5" name="text-287"/>
          <p:cNvSpPr txBox="1"/>
          <p:nvPr/>
        </p:nvSpPr>
        <p:spPr>
          <a:xfrm>
            <a:off x="548640" y="1600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老師要求：說明使用者與情境，並提供含輸入、結果與原因的失敗案例。</a:t>
            </a:r>
            <a:endParaRPr lang="zh-TW" sz="1400" dirty="0"/>
          </a:p>
        </p:txBody>
      </p:sp>
      <p:sp>
        <p:nvSpPr>
          <p:cNvPr id="6" name="card-288"/>
          <p:cNvSpPr/>
          <p:nvPr/>
        </p:nvSpPr>
        <p:spPr>
          <a:xfrm>
            <a:off x="548640" y="2194560"/>
            <a:ext cx="576072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7" name="chip-met-289"/>
          <p:cNvSpPr/>
          <p:nvPr/>
        </p:nvSpPr>
        <p:spPr>
          <a:xfrm>
            <a:off x="777240" y="2395728"/>
            <a:ext cx="1002182" cy="3114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8" name="chip-icon-290" descr="已完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458009"/>
            <a:ext cx="186842" cy="186842"/>
          </a:xfrm>
          <a:prstGeom prst="rect">
            <a:avLst/>
          </a:prstGeom>
        </p:spPr>
      </p:pic>
      <p:sp>
        <p:nvSpPr>
          <p:cNvPr id="9" name="chip-text-291"/>
          <p:cNvSpPr txBox="1"/>
          <p:nvPr/>
        </p:nvSpPr>
        <p:spPr>
          <a:xfrm>
            <a:off x="1137818" y="2395728"/>
            <a:ext cx="632460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已完成</a:t>
            </a:r>
            <a:endParaRPr lang="zh-TW" sz="1300" dirty="0"/>
          </a:p>
        </p:txBody>
      </p:sp>
      <p:sp>
        <p:nvSpPr>
          <p:cNvPr id="10" name="text-292"/>
          <p:cNvSpPr txBox="1"/>
          <p:nvPr/>
        </p:nvSpPr>
        <p:spPr>
          <a:xfrm>
            <a:off x="1965960" y="2350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R1　使用者與情境</a:t>
            </a:r>
            <a:endParaRPr lang="zh-TW" sz="1800" dirty="0"/>
          </a:p>
        </p:txBody>
      </p:sp>
      <p:sp>
        <p:nvSpPr>
          <p:cNvPr id="11" name="text-293"/>
          <p:cNvSpPr txBox="1"/>
          <p:nvPr/>
        </p:nvSpPr>
        <p:spPr>
          <a:xfrm>
            <a:off x="777240" y="2880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標題寫「誰會用」，仍清楚描述對象與情境 → 符合</a:t>
            </a:r>
            <a:endParaRPr lang="zh-TW" sz="1500" dirty="0"/>
          </a:p>
        </p:txBody>
      </p:sp>
      <p:sp>
        <p:nvSpPr>
          <p:cNvPr id="12" name="card-294"/>
          <p:cNvSpPr/>
          <p:nvPr/>
        </p:nvSpPr>
        <p:spPr>
          <a:xfrm>
            <a:off x="548640" y="3657600"/>
            <a:ext cx="5760720" cy="128016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3" name="chip-partial-295"/>
          <p:cNvSpPr/>
          <p:nvPr/>
        </p:nvSpPr>
        <p:spPr>
          <a:xfrm>
            <a:off x="777240" y="3858768"/>
            <a:ext cx="1002182" cy="3114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pic>
        <p:nvPicPr>
          <p:cNvPr id="14" name="chip-icon-296" descr="需補件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921049"/>
            <a:ext cx="186842" cy="186842"/>
          </a:xfrm>
          <a:prstGeom prst="rect">
            <a:avLst/>
          </a:prstGeom>
        </p:spPr>
      </p:pic>
      <p:sp>
        <p:nvSpPr>
          <p:cNvPr id="15" name="chip-text-297"/>
          <p:cNvSpPr txBox="1"/>
          <p:nvPr/>
        </p:nvSpPr>
        <p:spPr>
          <a:xfrm>
            <a:off x="1137818" y="3858768"/>
            <a:ext cx="632460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需補件</a:t>
            </a:r>
            <a:endParaRPr lang="zh-TW" sz="1300" dirty="0"/>
          </a:p>
        </p:txBody>
      </p:sp>
      <p:sp>
        <p:nvSpPr>
          <p:cNvPr id="16" name="text-298"/>
          <p:cNvSpPr txBox="1"/>
          <p:nvPr/>
        </p:nvSpPr>
        <p:spPr>
          <a:xfrm>
            <a:off x="1965960" y="38130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R2　完整的失敗案例</a:t>
            </a:r>
            <a:endParaRPr lang="zh-TW" sz="1800" dirty="0"/>
          </a:p>
        </p:txBody>
      </p:sp>
      <p:sp>
        <p:nvSpPr>
          <p:cNvPr id="17" name="text-299"/>
          <p:cNvSpPr txBox="1"/>
          <p:nvPr/>
        </p:nvSpPr>
        <p:spPr>
          <a:xfrm>
            <a:off x="777240" y="434340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有輸入、有實際結果，但沒寫失敗原因 → 部分完成</a:t>
            </a:r>
            <a:endParaRPr lang="zh-TW" sz="1500" dirty="0"/>
          </a:p>
        </p:txBody>
      </p:sp>
      <p:pic>
        <p:nvPicPr>
          <p:cNvPr id="18" name="icon-300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30368"/>
            <a:ext cx="329184" cy="329184"/>
          </a:xfrm>
          <a:prstGeom prst="rect">
            <a:avLst/>
          </a:prstGeom>
        </p:spPr>
      </p:pic>
      <p:sp>
        <p:nvSpPr>
          <p:cNvPr id="19" name="text-301"/>
          <p:cNvSpPr txBox="1"/>
          <p:nvPr/>
        </p:nvSpPr>
        <p:spPr>
          <a:xfrm>
            <a:off x="1005840" y="519379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系統只確認引用確實存在於原文，不保證語意判斷正確；模型建議的失敗原因也需學生自行查證。</a:t>
            </a:r>
            <a:endParaRPr lang="zh-TW" sz="1500" dirty="0"/>
          </a:p>
        </p:txBody>
      </p:sp>
      <p:sp>
        <p:nvSpPr>
          <p:cNvPr id="20" name="shot-frame-302"/>
          <p:cNvSpPr/>
          <p:nvPr/>
        </p:nvSpPr>
        <p:spPr>
          <a:xfrm>
            <a:off x="6757416" y="1572768"/>
            <a:ext cx="4910328" cy="4457441"/>
          </a:xfrm>
          <a:prstGeom prst="roundRect">
            <a:avLst>
              <a:gd name="adj" fmla="val 123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pic>
        <p:nvPicPr>
          <p:cNvPr id="21" name="screenshot-303" descr="2026-10-28 真實 GPT 文字比對：R1 已完成、R2 需補件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627632"/>
            <a:ext cx="4800600" cy="43477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PDF 提交前預檢與估分 · 2026-10-28 晚間新增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PDF 預檢：模型挑證據行號，Host 複製原文</a:t>
            </a:r>
            <a:endParaRPr lang="zh-TW" sz="3000" dirty="0"/>
          </a:p>
        </p:txBody>
      </p:sp>
      <p:sp>
        <p:nvSpPr>
          <p:cNvPr id="5" name="chip-new-304"/>
          <p:cNvSpPr/>
          <p:nvPr/>
        </p:nvSpPr>
        <p:spPr>
          <a:xfrm>
            <a:off x="9966960" y="329184"/>
            <a:ext cx="1398422" cy="2987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6" name="chip-icon-305" descr="v0.8 新功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388925"/>
            <a:ext cx="179222" cy="179222"/>
          </a:xfrm>
          <a:prstGeom prst="rect">
            <a:avLst/>
          </a:prstGeom>
        </p:spPr>
      </p:pic>
      <p:sp>
        <p:nvSpPr>
          <p:cNvPr id="7" name="chip-text-306"/>
          <p:cNvSpPr txBox="1"/>
          <p:nvPr/>
        </p:nvSpPr>
        <p:spPr>
          <a:xfrm>
            <a:off x="10319918" y="329184"/>
            <a:ext cx="10363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v0.8 新功能</a:t>
            </a:r>
            <a:endParaRPr lang="zh-TW" sz="1200" dirty="0"/>
          </a:p>
        </p:txBody>
      </p:sp>
      <p:sp>
        <p:nvSpPr>
          <p:cNvPr id="8" name="card-307"/>
          <p:cNvSpPr/>
          <p:nvPr/>
        </p:nvSpPr>
        <p:spPr>
          <a:xfrm>
            <a:off x="548640" y="1600200"/>
            <a:ext cx="21945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9" name="pipe-dot-308"/>
          <p:cNvSpPr/>
          <p:nvPr/>
        </p:nvSpPr>
        <p:spPr>
          <a:xfrm>
            <a:off x="731520" y="176479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-309"/>
          <p:cNvSpPr txBox="1"/>
          <p:nvPr/>
        </p:nvSpPr>
        <p:spPr>
          <a:xfrm>
            <a:off x="73152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1</a:t>
            </a:r>
            <a:endParaRPr lang="zh-TW" sz="1300" dirty="0"/>
          </a:p>
        </p:txBody>
      </p:sp>
      <p:sp>
        <p:nvSpPr>
          <p:cNvPr id="11" name="tag-310"/>
          <p:cNvSpPr/>
          <p:nvPr/>
        </p:nvSpPr>
        <p:spPr>
          <a:xfrm>
            <a:off x="1903476" y="1792224"/>
            <a:ext cx="656844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ag-text-311"/>
          <p:cNvSpPr txBox="1"/>
          <p:nvPr/>
        </p:nvSpPr>
        <p:spPr>
          <a:xfrm>
            <a:off x="1903476" y="1792224"/>
            <a:ext cx="656844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使用者</a:t>
            </a:r>
            <a:endParaRPr lang="zh-TW" sz="1100" dirty="0"/>
          </a:p>
        </p:txBody>
      </p:sp>
      <p:sp>
        <p:nvSpPr>
          <p:cNvPr id="13" name="text-312"/>
          <p:cNvSpPr txBox="1"/>
          <p:nvPr/>
        </p:nvSpPr>
        <p:spPr>
          <a:xfrm>
            <a:off x="731520" y="21671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上傳兩份 PDF</a:t>
            </a:r>
            <a:endParaRPr lang="zh-TW" sz="1500" dirty="0"/>
          </a:p>
        </p:txBody>
      </p:sp>
      <p:sp>
        <p:nvSpPr>
          <p:cNvPr id="14" name="text-313"/>
          <p:cNvSpPr txBox="1"/>
          <p:nvPr/>
        </p:nvSpPr>
        <p:spPr>
          <a:xfrm>
            <a:off x="731520" y="2478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老師規格／範例＋學生報告</a:t>
            </a:r>
            <a:endParaRPr lang="zh-TW" sz="1200" dirty="0"/>
          </a:p>
        </p:txBody>
      </p:sp>
      <p:sp>
        <p:nvSpPr>
          <p:cNvPr id="15" name="arrow-314"/>
          <p:cNvSpPr/>
          <p:nvPr/>
        </p:nvSpPr>
        <p:spPr>
          <a:xfrm>
            <a:off x="2779776" y="2286000"/>
            <a:ext cx="29260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card-315"/>
          <p:cNvSpPr/>
          <p:nvPr/>
        </p:nvSpPr>
        <p:spPr>
          <a:xfrm>
            <a:off x="3108960" y="1600200"/>
            <a:ext cx="21945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7" name="pipe-dot-316"/>
          <p:cNvSpPr/>
          <p:nvPr/>
        </p:nvSpPr>
        <p:spPr>
          <a:xfrm>
            <a:off x="3291840" y="1764792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-317"/>
          <p:cNvSpPr txBox="1"/>
          <p:nvPr/>
        </p:nvSpPr>
        <p:spPr>
          <a:xfrm>
            <a:off x="329184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2</a:t>
            </a:r>
            <a:endParaRPr lang="zh-TW" sz="1300" dirty="0"/>
          </a:p>
        </p:txBody>
      </p:sp>
      <p:sp>
        <p:nvSpPr>
          <p:cNvPr id="19" name="tag-318"/>
          <p:cNvSpPr/>
          <p:nvPr/>
        </p:nvSpPr>
        <p:spPr>
          <a:xfrm>
            <a:off x="4558792" y="1792224"/>
            <a:ext cx="561848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ag-text-319"/>
          <p:cNvSpPr txBox="1"/>
          <p:nvPr/>
        </p:nvSpPr>
        <p:spPr>
          <a:xfrm>
            <a:off x="4558792" y="1792224"/>
            <a:ext cx="561848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Host</a:t>
            </a:r>
            <a:endParaRPr lang="zh-TW" sz="1100" dirty="0"/>
          </a:p>
        </p:txBody>
      </p:sp>
      <p:sp>
        <p:nvSpPr>
          <p:cNvPr id="21" name="text-320"/>
          <p:cNvSpPr txBox="1"/>
          <p:nvPr/>
        </p:nvSpPr>
        <p:spPr>
          <a:xfrm>
            <a:off x="3291840" y="21671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驗證並標上行號</a:t>
            </a:r>
            <a:endParaRPr lang="zh-TW" sz="1500" dirty="0"/>
          </a:p>
        </p:txBody>
      </p:sp>
      <p:sp>
        <p:nvSpPr>
          <p:cNvPr id="22" name="text-321"/>
          <p:cNvSpPr txBox="1"/>
          <p:nvPr/>
        </p:nvSpPr>
        <p:spPr>
          <a:xfrm>
            <a:off x="3291840" y="2478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檢查大小與頁數，擷取文字並逐行編號</a:t>
            </a:r>
            <a:endParaRPr lang="zh-TW" sz="1200" dirty="0"/>
          </a:p>
        </p:txBody>
      </p:sp>
      <p:sp>
        <p:nvSpPr>
          <p:cNvPr id="23" name="arrow-322"/>
          <p:cNvSpPr/>
          <p:nvPr/>
        </p:nvSpPr>
        <p:spPr>
          <a:xfrm>
            <a:off x="5340096" y="2286000"/>
            <a:ext cx="29260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card-323"/>
          <p:cNvSpPr/>
          <p:nvPr/>
        </p:nvSpPr>
        <p:spPr>
          <a:xfrm>
            <a:off x="5669280" y="1600200"/>
            <a:ext cx="21945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25" name="pipe-dot-324"/>
          <p:cNvSpPr/>
          <p:nvPr/>
        </p:nvSpPr>
        <p:spPr>
          <a:xfrm>
            <a:off x="5852160" y="1764792"/>
            <a:ext cx="329184" cy="329184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6" name="text-325"/>
          <p:cNvSpPr txBox="1"/>
          <p:nvPr/>
        </p:nvSpPr>
        <p:spPr>
          <a:xfrm>
            <a:off x="5852160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3</a:t>
            </a:r>
            <a:endParaRPr lang="zh-TW" sz="1300" dirty="0"/>
          </a:p>
        </p:txBody>
      </p:sp>
      <p:sp>
        <p:nvSpPr>
          <p:cNvPr id="27" name="tag-326"/>
          <p:cNvSpPr/>
          <p:nvPr/>
        </p:nvSpPr>
        <p:spPr>
          <a:xfrm>
            <a:off x="7200138" y="1792224"/>
            <a:ext cx="480822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ag-text-327"/>
          <p:cNvSpPr txBox="1"/>
          <p:nvPr/>
        </p:nvSpPr>
        <p:spPr>
          <a:xfrm>
            <a:off x="7200138" y="1792224"/>
            <a:ext cx="480822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GPT</a:t>
            </a:r>
            <a:endParaRPr lang="zh-TW" sz="1100" dirty="0"/>
          </a:p>
        </p:txBody>
      </p:sp>
      <p:sp>
        <p:nvSpPr>
          <p:cNvPr id="29" name="text-328"/>
          <p:cNvSpPr txBox="1"/>
          <p:nvPr/>
        </p:nvSpPr>
        <p:spPr>
          <a:xfrm>
            <a:off x="5852160" y="21671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圖文一起判讀</a:t>
            </a:r>
            <a:endParaRPr lang="zh-TW" sz="1500" dirty="0"/>
          </a:p>
        </p:txBody>
      </p:sp>
      <p:sp>
        <p:nvSpPr>
          <p:cNvPr id="30" name="text-329"/>
          <p:cNvSpPr txBox="1"/>
          <p:nvPr/>
        </p:nvSpPr>
        <p:spPr>
          <a:xfrm>
            <a:off x="5852160" y="24780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讀文字與頁面圖片，比對語意，選出證據行號</a:t>
            </a:r>
            <a:endParaRPr lang="zh-TW" sz="1200" dirty="0"/>
          </a:p>
        </p:txBody>
      </p:sp>
      <p:sp>
        <p:nvSpPr>
          <p:cNvPr id="31" name="card-330"/>
          <p:cNvSpPr/>
          <p:nvPr/>
        </p:nvSpPr>
        <p:spPr>
          <a:xfrm>
            <a:off x="548640" y="3291840"/>
            <a:ext cx="21945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32" name="pipe-dot-331"/>
          <p:cNvSpPr/>
          <p:nvPr/>
        </p:nvSpPr>
        <p:spPr>
          <a:xfrm>
            <a:off x="731520" y="3456432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-332"/>
          <p:cNvSpPr txBox="1"/>
          <p:nvPr/>
        </p:nvSpPr>
        <p:spPr>
          <a:xfrm>
            <a:off x="73152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4</a:t>
            </a:r>
            <a:endParaRPr lang="zh-TW" sz="1300" dirty="0"/>
          </a:p>
        </p:txBody>
      </p:sp>
      <p:sp>
        <p:nvSpPr>
          <p:cNvPr id="34" name="tag-333"/>
          <p:cNvSpPr/>
          <p:nvPr/>
        </p:nvSpPr>
        <p:spPr>
          <a:xfrm>
            <a:off x="1998472" y="3483864"/>
            <a:ext cx="561848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5" name="tag-text-334"/>
          <p:cNvSpPr txBox="1"/>
          <p:nvPr/>
        </p:nvSpPr>
        <p:spPr>
          <a:xfrm>
            <a:off x="1998472" y="3483864"/>
            <a:ext cx="561848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Host</a:t>
            </a:r>
            <a:endParaRPr lang="zh-TW" sz="1100" dirty="0"/>
          </a:p>
        </p:txBody>
      </p:sp>
      <p:sp>
        <p:nvSpPr>
          <p:cNvPr id="36" name="text-335"/>
          <p:cNvSpPr txBox="1"/>
          <p:nvPr/>
        </p:nvSpPr>
        <p:spPr>
          <a:xfrm>
            <a:off x="731520" y="3858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複製原文核對</a:t>
            </a:r>
            <a:endParaRPr lang="zh-TW" sz="1500" dirty="0"/>
          </a:p>
        </p:txBody>
      </p:sp>
      <p:sp>
        <p:nvSpPr>
          <p:cNvPr id="37" name="text-336"/>
          <p:cNvSpPr txBox="1"/>
          <p:nvPr/>
        </p:nvSpPr>
        <p:spPr>
          <a:xfrm>
            <a:off x="731520" y="4169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依行號取引文，驗證頁碼、配分與分數範圍</a:t>
            </a:r>
            <a:endParaRPr lang="zh-TW" sz="1200" dirty="0"/>
          </a:p>
        </p:txBody>
      </p:sp>
      <p:sp>
        <p:nvSpPr>
          <p:cNvPr id="38" name="arrow-337"/>
          <p:cNvSpPr/>
          <p:nvPr/>
        </p:nvSpPr>
        <p:spPr>
          <a:xfrm>
            <a:off x="2779776" y="3977640"/>
            <a:ext cx="29260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9" name="card-338"/>
          <p:cNvSpPr/>
          <p:nvPr/>
        </p:nvSpPr>
        <p:spPr>
          <a:xfrm>
            <a:off x="3108960" y="3291840"/>
            <a:ext cx="21945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40" name="pipe-dot-339"/>
          <p:cNvSpPr/>
          <p:nvPr/>
        </p:nvSpPr>
        <p:spPr>
          <a:xfrm>
            <a:off x="3291840" y="345643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text-340"/>
          <p:cNvSpPr txBox="1"/>
          <p:nvPr/>
        </p:nvSpPr>
        <p:spPr>
          <a:xfrm>
            <a:off x="329184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5</a:t>
            </a:r>
            <a:endParaRPr lang="zh-TW" sz="1300" dirty="0"/>
          </a:p>
        </p:txBody>
      </p:sp>
      <p:sp>
        <p:nvSpPr>
          <p:cNvPr id="42" name="tag-341"/>
          <p:cNvSpPr/>
          <p:nvPr/>
        </p:nvSpPr>
        <p:spPr>
          <a:xfrm>
            <a:off x="4463796" y="3483864"/>
            <a:ext cx="656844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3" name="tag-text-342"/>
          <p:cNvSpPr txBox="1"/>
          <p:nvPr/>
        </p:nvSpPr>
        <p:spPr>
          <a:xfrm>
            <a:off x="4463796" y="3483864"/>
            <a:ext cx="656844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使用者</a:t>
            </a:r>
            <a:endParaRPr lang="zh-TW" sz="1100" dirty="0"/>
          </a:p>
        </p:txBody>
      </p:sp>
      <p:sp>
        <p:nvSpPr>
          <p:cNvPr id="44" name="text-343"/>
          <p:cNvSpPr txBox="1"/>
          <p:nvPr/>
        </p:nvSpPr>
        <p:spPr>
          <a:xfrm>
            <a:off x="3291840" y="3858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確認老師配分</a:t>
            </a:r>
            <a:endParaRPr lang="zh-TW" sz="1500" dirty="0"/>
          </a:p>
        </p:txBody>
      </p:sp>
      <p:sp>
        <p:nvSpPr>
          <p:cNvPr id="45" name="text-344"/>
          <p:cNvSpPr txBox="1"/>
          <p:nvPr/>
        </p:nvSpPr>
        <p:spPr>
          <a:xfrm>
            <a:off x="3291840" y="4169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勾選核對後，才看得到估分</a:t>
            </a:r>
            <a:endParaRPr lang="zh-TW" sz="1200" dirty="0"/>
          </a:p>
        </p:txBody>
      </p:sp>
      <p:sp>
        <p:nvSpPr>
          <p:cNvPr id="46" name="arrow-345"/>
          <p:cNvSpPr/>
          <p:nvPr/>
        </p:nvSpPr>
        <p:spPr>
          <a:xfrm>
            <a:off x="5340096" y="3977640"/>
            <a:ext cx="29260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7" name="card-346"/>
          <p:cNvSpPr/>
          <p:nvPr/>
        </p:nvSpPr>
        <p:spPr>
          <a:xfrm>
            <a:off x="5669280" y="3291840"/>
            <a:ext cx="21945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48" name="pipe-dot-347"/>
          <p:cNvSpPr/>
          <p:nvPr/>
        </p:nvSpPr>
        <p:spPr>
          <a:xfrm>
            <a:off x="5852160" y="3456432"/>
            <a:ext cx="329184" cy="32918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-348"/>
          <p:cNvSpPr txBox="1"/>
          <p:nvPr/>
        </p:nvSpPr>
        <p:spPr>
          <a:xfrm>
            <a:off x="5852160" y="3456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6</a:t>
            </a:r>
            <a:endParaRPr lang="zh-TW" sz="1300" dirty="0"/>
          </a:p>
        </p:txBody>
      </p:sp>
      <p:sp>
        <p:nvSpPr>
          <p:cNvPr id="50" name="tag-349"/>
          <p:cNvSpPr/>
          <p:nvPr/>
        </p:nvSpPr>
        <p:spPr>
          <a:xfrm>
            <a:off x="7119112" y="3483864"/>
            <a:ext cx="561848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1" name="tag-text-350"/>
          <p:cNvSpPr txBox="1"/>
          <p:nvPr/>
        </p:nvSpPr>
        <p:spPr>
          <a:xfrm>
            <a:off x="7119112" y="3483864"/>
            <a:ext cx="561848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Host</a:t>
            </a:r>
            <a:endParaRPr lang="zh-TW" sz="1100" dirty="0"/>
          </a:p>
        </p:txBody>
      </p:sp>
      <p:sp>
        <p:nvSpPr>
          <p:cNvPr id="52" name="text-351"/>
          <p:cNvSpPr txBox="1"/>
          <p:nvPr/>
        </p:nvSpPr>
        <p:spPr>
          <a:xfrm>
            <a:off x="5852160" y="38587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加總估分區間</a:t>
            </a:r>
            <a:endParaRPr lang="zh-TW" sz="1500" dirty="0"/>
          </a:p>
        </p:txBody>
      </p:sp>
      <p:sp>
        <p:nvSpPr>
          <p:cNvPr id="53" name="text-352"/>
          <p:cNvSpPr txBox="1"/>
          <p:nvPr/>
        </p:nvSpPr>
        <p:spPr>
          <a:xfrm>
            <a:off x="5852160" y="41696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產生本機報告，可下載 JSON</a:t>
            </a:r>
            <a:endParaRPr lang="zh-TW" sz="1200" dirty="0"/>
          </a:p>
        </p:txBody>
      </p:sp>
      <p:sp>
        <p:nvSpPr>
          <p:cNvPr id="54" name="elbow-1"/>
          <p:cNvSpPr/>
          <p:nvPr/>
        </p:nvSpPr>
        <p:spPr>
          <a:xfrm>
            <a:off x="6766560" y="2971800"/>
            <a:ext cx="0" cy="16002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5" name="elbow-2"/>
          <p:cNvSpPr/>
          <p:nvPr/>
        </p:nvSpPr>
        <p:spPr>
          <a:xfrm>
            <a:off x="1645920" y="3131820"/>
            <a:ext cx="512064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</a:ln>
        </p:spPr>
      </p:sp>
      <p:sp>
        <p:nvSpPr>
          <p:cNvPr id="56" name="arrow-353"/>
          <p:cNvSpPr/>
          <p:nvPr/>
        </p:nvSpPr>
        <p:spPr>
          <a:xfrm>
            <a:off x="1645920" y="3131820"/>
            <a:ext cx="0" cy="141732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7" name="text-354"/>
          <p:cNvSpPr txBox="1"/>
          <p:nvPr/>
        </p:nvSpPr>
        <p:spPr>
          <a:xfrm>
            <a:off x="548640" y="49560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估分只在三個條件都成立時才顯示</a:t>
            </a:r>
            <a:endParaRPr lang="zh-TW" sz="1500" dirty="0"/>
          </a:p>
        </p:txBody>
      </p:sp>
      <p:sp>
        <p:nvSpPr>
          <p:cNvPr id="58" name="tag-355"/>
          <p:cNvSpPr/>
          <p:nvPr/>
        </p:nvSpPr>
        <p:spPr>
          <a:xfrm>
            <a:off x="548640" y="5394960"/>
            <a:ext cx="1558544" cy="2748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9" name="tag-text-356"/>
          <p:cNvSpPr txBox="1"/>
          <p:nvPr/>
        </p:nvSpPr>
        <p:spPr>
          <a:xfrm>
            <a:off x="548640" y="5394960"/>
            <a:ext cx="1558544" cy="27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2"/>
                </a:solidFill>
              </a:rPr>
              <a:t>老師原文明列配分</a:t>
            </a:r>
            <a:endParaRPr lang="zh-TW" sz="1300" dirty="0"/>
          </a:p>
        </p:txBody>
      </p:sp>
      <p:sp>
        <p:nvSpPr>
          <p:cNvPr id="60" name="arrow-357"/>
          <p:cNvSpPr/>
          <p:nvPr/>
        </p:nvSpPr>
        <p:spPr>
          <a:xfrm>
            <a:off x="2180336" y="5541264"/>
            <a:ext cx="2743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1" name="tag-358"/>
          <p:cNvSpPr/>
          <p:nvPr/>
        </p:nvSpPr>
        <p:spPr>
          <a:xfrm>
            <a:off x="2527808" y="5394960"/>
            <a:ext cx="1142492" cy="2748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2" name="tag-text-359"/>
          <p:cNvSpPr txBox="1"/>
          <p:nvPr/>
        </p:nvSpPr>
        <p:spPr>
          <a:xfrm>
            <a:off x="2527808" y="5394960"/>
            <a:ext cx="1142492" cy="27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2"/>
                </a:solidFill>
              </a:rPr>
              <a:t>總和 = 100</a:t>
            </a:r>
            <a:endParaRPr lang="zh-TW" sz="1300" dirty="0"/>
          </a:p>
        </p:txBody>
      </p:sp>
      <p:sp>
        <p:nvSpPr>
          <p:cNvPr id="63" name="arrow-360"/>
          <p:cNvSpPr/>
          <p:nvPr/>
        </p:nvSpPr>
        <p:spPr>
          <a:xfrm>
            <a:off x="3743452" y="5541264"/>
            <a:ext cx="2743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4" name="tag-361"/>
          <p:cNvSpPr/>
          <p:nvPr/>
        </p:nvSpPr>
        <p:spPr>
          <a:xfrm>
            <a:off x="4090924" y="5394960"/>
            <a:ext cx="1228344" cy="2748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5" name="tag-text-362"/>
          <p:cNvSpPr txBox="1"/>
          <p:nvPr/>
        </p:nvSpPr>
        <p:spPr>
          <a:xfrm>
            <a:off x="4090924" y="5394960"/>
            <a:ext cx="1228344" cy="27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2"/>
                </a:solidFill>
              </a:rPr>
              <a:t>使用者已確認</a:t>
            </a:r>
            <a:endParaRPr lang="zh-TW" sz="1300" dirty="0"/>
          </a:p>
        </p:txBody>
      </p:sp>
      <p:sp>
        <p:nvSpPr>
          <p:cNvPr id="66" name="arrow-363"/>
          <p:cNvSpPr/>
          <p:nvPr/>
        </p:nvSpPr>
        <p:spPr>
          <a:xfrm>
            <a:off x="5392420" y="5541264"/>
            <a:ext cx="274320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67" name="tag-364"/>
          <p:cNvSpPr/>
          <p:nvPr/>
        </p:nvSpPr>
        <p:spPr>
          <a:xfrm>
            <a:off x="5739892" y="5394960"/>
            <a:ext cx="1228344" cy="2748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8" name="tag-text-365"/>
          <p:cNvSpPr txBox="1"/>
          <p:nvPr/>
        </p:nvSpPr>
        <p:spPr>
          <a:xfrm>
            <a:off x="5739892" y="5394960"/>
            <a:ext cx="1228344" cy="274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顯示估分區間</a:t>
            </a:r>
            <a:endParaRPr lang="zh-TW" sz="1300" dirty="0"/>
          </a:p>
        </p:txBody>
      </p:sp>
      <p:sp>
        <p:nvSpPr>
          <p:cNvPr id="69" name="text-366"/>
          <p:cNvSpPr txBox="1"/>
          <p:nvPr/>
        </p:nvSpPr>
        <p:spPr>
          <a:xfrm>
            <a:off x="548640" y="5870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否則只列缺漏與待確認項，不產生分數。</a:t>
            </a:r>
            <a:endParaRPr lang="zh-TW" sz="1300" dirty="0"/>
          </a:p>
        </p:txBody>
      </p:sp>
      <p:sp>
        <p:nvSpPr>
          <p:cNvPr id="70" name="shot-frame-367"/>
          <p:cNvSpPr/>
          <p:nvPr/>
        </p:nvSpPr>
        <p:spPr>
          <a:xfrm>
            <a:off x="8449056" y="1545336"/>
            <a:ext cx="3218688" cy="4641715"/>
          </a:xfrm>
          <a:prstGeom prst="roundRect">
            <a:avLst>
              <a:gd name="adj" fmla="val 170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pic>
        <p:nvPicPr>
          <p:cNvPr id="71" name="screenshot-368" descr="本機 /week7 PDF 預檢與估分的上傳畫面，尚未上傳檔案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00200"/>
            <a:ext cx="3108960" cy="453198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PDF 預檢 · 真實呼叫紀錄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兩次失敗被 Host 擋下；換模型後通過，判斷仍會錯</a:t>
            </a:r>
            <a:endParaRPr lang="zh-TW" sz="3000" dirty="0"/>
          </a:p>
        </p:txBody>
      </p:sp>
      <p:sp>
        <p:nvSpPr>
          <p:cNvPr id="5" name="chip-new-369"/>
          <p:cNvSpPr/>
          <p:nvPr/>
        </p:nvSpPr>
        <p:spPr>
          <a:xfrm>
            <a:off x="9966960" y="329184"/>
            <a:ext cx="1398422" cy="2987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6" name="chip-icon-370" descr="v0.8 新功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388925"/>
            <a:ext cx="179222" cy="179222"/>
          </a:xfrm>
          <a:prstGeom prst="rect">
            <a:avLst/>
          </a:prstGeom>
        </p:spPr>
      </p:pic>
      <p:sp>
        <p:nvSpPr>
          <p:cNvPr id="7" name="chip-text-371"/>
          <p:cNvSpPr txBox="1"/>
          <p:nvPr/>
        </p:nvSpPr>
        <p:spPr>
          <a:xfrm>
            <a:off x="10319918" y="329184"/>
            <a:ext cx="1036320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v0.8 新功能</a:t>
            </a:r>
            <a:endParaRPr lang="zh-TW" sz="1200" dirty="0"/>
          </a:p>
        </p:txBody>
      </p:sp>
      <p:sp>
        <p:nvSpPr>
          <p:cNvPr id="8" name="card-372"/>
          <p:cNvSpPr/>
          <p:nvPr/>
        </p:nvSpPr>
        <p:spPr>
          <a:xfrm>
            <a:off x="548640" y="160020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9" name="text-373"/>
          <p:cNvSpPr txBox="1"/>
          <p:nvPr/>
        </p:nvSpPr>
        <p:spPr>
          <a:xfrm>
            <a:off x="804672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ae1a441</a:t>
            </a:r>
            <a:endParaRPr lang="zh-TW" sz="1300" dirty="0"/>
          </a:p>
        </p:txBody>
      </p:sp>
      <p:sp>
        <p:nvSpPr>
          <p:cNvPr id="10" name="chip-fail-374"/>
          <p:cNvSpPr/>
          <p:nvPr/>
        </p:nvSpPr>
        <p:spPr>
          <a:xfrm>
            <a:off x="2514600" y="1810512"/>
            <a:ext cx="1294790" cy="2987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pic>
        <p:nvPicPr>
          <p:cNvPr id="11" name="chip-icon-375" descr="LIVE_F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870253"/>
            <a:ext cx="179222" cy="179222"/>
          </a:xfrm>
          <a:prstGeom prst="rect">
            <a:avLst/>
          </a:prstGeom>
        </p:spPr>
      </p:pic>
      <p:sp>
        <p:nvSpPr>
          <p:cNvPr id="12" name="chip-text-376"/>
          <p:cNvSpPr txBox="1"/>
          <p:nvPr/>
        </p:nvSpPr>
        <p:spPr>
          <a:xfrm>
            <a:off x="2867558" y="1810512"/>
            <a:ext cx="93268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LIVE_FAIL</a:t>
            </a:r>
            <a:endParaRPr lang="zh-TW" sz="1200" dirty="0"/>
          </a:p>
        </p:txBody>
      </p:sp>
      <p:sp>
        <p:nvSpPr>
          <p:cNvPr id="13" name="text-377"/>
          <p:cNvSpPr txBox="1"/>
          <p:nvPr/>
        </p:nvSpPr>
        <p:spPr>
          <a:xfrm>
            <a:off x="804672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gpt-4.1-mini 直接寫引文</a:t>
            </a:r>
            <a:endParaRPr lang="zh-TW" sz="1700" dirty="0"/>
          </a:p>
        </p:txBody>
      </p:sp>
      <p:sp>
        <p:nvSpPr>
          <p:cNvPr id="14" name="text-378"/>
          <p:cNvSpPr txBox="1"/>
          <p:nvPr/>
        </p:nvSpPr>
        <p:spPr>
          <a:xfrm>
            <a:off x="804672" y="27249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模型把摘要當成逐字引文，還混用頁碼。</a:t>
            </a:r>
            <a:endParaRPr lang="zh-TW" sz="1400" dirty="0"/>
          </a:p>
        </p:txBody>
      </p:sp>
      <p:sp>
        <p:nvSpPr>
          <p:cNvPr id="15" name="card-379"/>
          <p:cNvSpPr/>
          <p:nvPr/>
        </p:nvSpPr>
        <p:spPr>
          <a:xfrm>
            <a:off x="804672" y="3657600"/>
            <a:ext cx="3008376" cy="384048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16" name="text-380"/>
          <p:cNvSpPr txBox="1"/>
          <p:nvPr/>
        </p:nvSpPr>
        <p:spPr>
          <a:xfrm>
            <a:off x="914400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UNGROUNDED_PDF_REPORT</a:t>
            </a:r>
            <a:endParaRPr lang="zh-TW" sz="1200" dirty="0"/>
          </a:p>
        </p:txBody>
      </p:sp>
      <p:pic>
        <p:nvPicPr>
          <p:cNvPr id="17" name="icon-381" descr="Shiel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261104"/>
            <a:ext cx="274320" cy="274320"/>
          </a:xfrm>
          <a:prstGeom prst="rect">
            <a:avLst/>
          </a:prstGeom>
        </p:spPr>
      </p:pic>
      <p:sp>
        <p:nvSpPr>
          <p:cNvPr id="18" name="text-382"/>
          <p:cNvSpPr txBox="1"/>
          <p:nvPr/>
        </p:nvSpPr>
        <p:spPr>
          <a:xfrm>
            <a:off x="1170432" y="4224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Host 拒絕輸出成績</a:t>
            </a:r>
            <a:endParaRPr lang="zh-TW" sz="1400" dirty="0"/>
          </a:p>
        </p:txBody>
      </p:sp>
      <p:sp>
        <p:nvSpPr>
          <p:cNvPr id="19" name="arrow-383"/>
          <p:cNvSpPr/>
          <p:nvPr/>
        </p:nvSpPr>
        <p:spPr>
          <a:xfrm>
            <a:off x="4096512" y="3246120"/>
            <a:ext cx="21031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card-384"/>
          <p:cNvSpPr/>
          <p:nvPr/>
        </p:nvSpPr>
        <p:spPr>
          <a:xfrm>
            <a:off x="4334256" y="160020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21" name="text-385"/>
          <p:cNvSpPr txBox="1"/>
          <p:nvPr/>
        </p:nvSpPr>
        <p:spPr>
          <a:xfrm>
            <a:off x="4590288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a9010bf</a:t>
            </a:r>
            <a:endParaRPr lang="zh-TW" sz="1300" dirty="0"/>
          </a:p>
        </p:txBody>
      </p:sp>
      <p:sp>
        <p:nvSpPr>
          <p:cNvPr id="22" name="chip-fail-386"/>
          <p:cNvSpPr/>
          <p:nvPr/>
        </p:nvSpPr>
        <p:spPr>
          <a:xfrm>
            <a:off x="6300216" y="1810512"/>
            <a:ext cx="1294790" cy="2987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pic>
        <p:nvPicPr>
          <p:cNvPr id="23" name="chip-icon-387" descr="LIVE_FA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870253"/>
            <a:ext cx="179222" cy="179222"/>
          </a:xfrm>
          <a:prstGeom prst="rect">
            <a:avLst/>
          </a:prstGeom>
        </p:spPr>
      </p:pic>
      <p:sp>
        <p:nvSpPr>
          <p:cNvPr id="24" name="chip-text-388"/>
          <p:cNvSpPr txBox="1"/>
          <p:nvPr/>
        </p:nvSpPr>
        <p:spPr>
          <a:xfrm>
            <a:off x="6653174" y="1810512"/>
            <a:ext cx="93268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LIVE_FAIL</a:t>
            </a:r>
            <a:endParaRPr lang="zh-TW" sz="1200" dirty="0"/>
          </a:p>
        </p:txBody>
      </p:sp>
      <p:sp>
        <p:nvSpPr>
          <p:cNvPr id="25" name="text-389"/>
          <p:cNvSpPr txBox="1"/>
          <p:nvPr/>
        </p:nvSpPr>
        <p:spPr>
          <a:xfrm>
            <a:off x="4590288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改成模型選行號、Host 複製</a:t>
            </a:r>
            <a:endParaRPr lang="zh-TW" sz="1700" dirty="0"/>
          </a:p>
        </p:txBody>
      </p:sp>
      <p:sp>
        <p:nvSpPr>
          <p:cNvPr id="26" name="text-390"/>
          <p:cNvSpPr txBox="1"/>
          <p:nvPr/>
        </p:nvSpPr>
        <p:spPr>
          <a:xfrm>
            <a:off x="4590288" y="27249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模型選了跨頁、過長的範圍；人工抽查也發現目錄被當成正文。</a:t>
            </a:r>
            <a:endParaRPr lang="zh-TW" sz="1400" dirty="0"/>
          </a:p>
        </p:txBody>
      </p:sp>
      <p:sp>
        <p:nvSpPr>
          <p:cNvPr id="27" name="card-391"/>
          <p:cNvSpPr/>
          <p:nvPr/>
        </p:nvSpPr>
        <p:spPr>
          <a:xfrm>
            <a:off x="4590288" y="3657600"/>
            <a:ext cx="3008376" cy="384048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28" name="text-392"/>
          <p:cNvSpPr txBox="1"/>
          <p:nvPr/>
        </p:nvSpPr>
        <p:spPr>
          <a:xfrm>
            <a:off x="4700016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INVALID_SOURCE_REFERENCE</a:t>
            </a:r>
            <a:endParaRPr lang="zh-TW" sz="1200" dirty="0"/>
          </a:p>
        </p:txBody>
      </p:sp>
      <p:pic>
        <p:nvPicPr>
          <p:cNvPr id="29" name="icon-393" descr="Shield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0288" y="4261104"/>
            <a:ext cx="274320" cy="274320"/>
          </a:xfrm>
          <a:prstGeom prst="rect">
            <a:avLst/>
          </a:prstGeom>
        </p:spPr>
      </p:pic>
      <p:sp>
        <p:nvSpPr>
          <p:cNvPr id="30" name="text-394"/>
          <p:cNvSpPr txBox="1"/>
          <p:nvPr/>
        </p:nvSpPr>
        <p:spPr>
          <a:xfrm>
            <a:off x="4956048" y="4224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引用被擋下，未給分</a:t>
            </a:r>
            <a:endParaRPr lang="zh-TW" sz="1400" dirty="0"/>
          </a:p>
        </p:txBody>
      </p:sp>
      <p:sp>
        <p:nvSpPr>
          <p:cNvPr id="31" name="arrow-395"/>
          <p:cNvSpPr/>
          <p:nvPr/>
        </p:nvSpPr>
        <p:spPr>
          <a:xfrm>
            <a:off x="7882128" y="3246120"/>
            <a:ext cx="210312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card-396"/>
          <p:cNvSpPr/>
          <p:nvPr/>
        </p:nvSpPr>
        <p:spPr>
          <a:xfrm>
            <a:off x="8119872" y="1600200"/>
            <a:ext cx="352044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33" name="text-397"/>
          <p:cNvSpPr txBox="1"/>
          <p:nvPr/>
        </p:nvSpPr>
        <p:spPr>
          <a:xfrm>
            <a:off x="8375904" y="18105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13b2b1e</a:t>
            </a:r>
            <a:endParaRPr lang="zh-TW" sz="1300" dirty="0"/>
          </a:p>
        </p:txBody>
      </p:sp>
      <p:sp>
        <p:nvSpPr>
          <p:cNvPr id="34" name="chip-pass-398"/>
          <p:cNvSpPr/>
          <p:nvPr/>
        </p:nvSpPr>
        <p:spPr>
          <a:xfrm>
            <a:off x="10085832" y="1810512"/>
            <a:ext cx="1294790" cy="2987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35" name="chip-icon-399" descr="LIVE_PAS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1870253"/>
            <a:ext cx="179222" cy="179222"/>
          </a:xfrm>
          <a:prstGeom prst="rect">
            <a:avLst/>
          </a:prstGeom>
        </p:spPr>
      </p:pic>
      <p:sp>
        <p:nvSpPr>
          <p:cNvPr id="36" name="chip-text-400"/>
          <p:cNvSpPr txBox="1"/>
          <p:nvPr/>
        </p:nvSpPr>
        <p:spPr>
          <a:xfrm>
            <a:off x="10438790" y="1810512"/>
            <a:ext cx="932688" cy="29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LIVE_PASS</a:t>
            </a:r>
            <a:endParaRPr lang="zh-TW" sz="1200" dirty="0"/>
          </a:p>
        </p:txBody>
      </p:sp>
      <p:sp>
        <p:nvSpPr>
          <p:cNvPr id="37" name="text-401"/>
          <p:cNvSpPr txBox="1"/>
          <p:nvPr/>
        </p:nvSpPr>
        <p:spPr>
          <a:xfrm>
            <a:off x="8375904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PDF 改用 gpt-5.4</a:t>
            </a:r>
            <a:endParaRPr lang="zh-TW" sz="1700" dirty="0"/>
          </a:p>
        </p:txBody>
      </p:sp>
      <p:sp>
        <p:nvSpPr>
          <p:cNvPr id="38" name="text-402"/>
          <p:cNvSpPr txBox="1"/>
          <p:nvPr/>
        </p:nvSpPr>
        <p:spPr>
          <a:xfrm>
            <a:off x="8375904" y="27249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Week 6（c0403a3、327b7e2）以合成 PDF 實測兩輪都通過核對；但 7 項業務預期只中 6 項。</a:t>
            </a:r>
            <a:endParaRPr lang="zh-TW" sz="1400" dirty="0"/>
          </a:p>
        </p:txBody>
      </p:sp>
      <p:sp>
        <p:nvSpPr>
          <p:cNvPr id="39" name="card-403"/>
          <p:cNvSpPr/>
          <p:nvPr/>
        </p:nvSpPr>
        <p:spPr>
          <a:xfrm>
            <a:off x="8375904" y="3657600"/>
            <a:ext cx="3008376" cy="384048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/>
        </p:spPr>
      </p:sp>
      <p:sp>
        <p:nvSpPr>
          <p:cNvPr id="40" name="text-404"/>
          <p:cNvSpPr txBox="1"/>
          <p:nvPr/>
        </p:nvSpPr>
        <p:spPr>
          <a:xfrm>
            <a:off x="8485632" y="3657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gpt-5.4-2026-03-05</a:t>
            </a:r>
            <a:endParaRPr lang="zh-TW" sz="1200" dirty="0"/>
          </a:p>
        </p:txBody>
      </p:sp>
      <p:pic>
        <p:nvPicPr>
          <p:cNvPr id="41" name="icon-405" descr="TriangleAle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4261104"/>
            <a:ext cx="274320" cy="274320"/>
          </a:xfrm>
          <a:prstGeom prst="rect">
            <a:avLst/>
          </a:prstGeom>
        </p:spPr>
      </p:pic>
      <p:sp>
        <p:nvSpPr>
          <p:cNvPr id="42" name="text-406"/>
          <p:cNvSpPr txBox="1"/>
          <p:nvPr/>
        </p:nvSpPr>
        <p:spPr>
          <a:xfrm>
            <a:off x="8741664" y="4224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引用過關，語意仍會錯</a:t>
            </a:r>
            <a:endParaRPr lang="zh-TW" sz="1400" dirty="0"/>
          </a:p>
        </p:txBody>
      </p:sp>
      <p:sp>
        <p:nvSpPr>
          <p:cNvPr id="43" name="text-407"/>
          <p:cNvSpPr txBox="1"/>
          <p:nvPr/>
        </p:nvSpPr>
        <p:spPr>
          <a:xfrm>
            <a:off x="548640" y="513892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學到的事：三層要分開驗證</a:t>
            </a:r>
            <a:endParaRPr lang="zh-TW" sz="1600" dirty="0"/>
          </a:p>
        </p:txBody>
      </p:sp>
      <p:sp>
        <p:nvSpPr>
          <p:cNvPr id="44" name="tag-408"/>
          <p:cNvSpPr/>
          <p:nvPr/>
        </p:nvSpPr>
        <p:spPr>
          <a:xfrm>
            <a:off x="548640" y="5596128"/>
            <a:ext cx="948944" cy="2875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5" name="tag-text-409"/>
          <p:cNvSpPr txBox="1"/>
          <p:nvPr/>
        </p:nvSpPr>
        <p:spPr>
          <a:xfrm>
            <a:off x="548640" y="5596128"/>
            <a:ext cx="948944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2"/>
                </a:solidFill>
              </a:rPr>
              <a:t>格式通過</a:t>
            </a:r>
            <a:endParaRPr lang="zh-TW" sz="1400" dirty="0"/>
          </a:p>
        </p:txBody>
      </p:sp>
      <p:sp>
        <p:nvSpPr>
          <p:cNvPr id="46" name="text-410"/>
          <p:cNvSpPr txBox="1"/>
          <p:nvPr/>
        </p:nvSpPr>
        <p:spPr>
          <a:xfrm>
            <a:off x="1607312" y="55595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accent6"/>
                </a:solidFill>
              </a:rPr>
              <a:t>≠</a:t>
            </a:r>
            <a:endParaRPr lang="zh-TW" sz="2000" dirty="0"/>
          </a:p>
        </p:txBody>
      </p:sp>
      <p:sp>
        <p:nvSpPr>
          <p:cNvPr id="47" name="tag-411"/>
          <p:cNvSpPr/>
          <p:nvPr/>
        </p:nvSpPr>
        <p:spPr>
          <a:xfrm>
            <a:off x="2037080" y="5596128"/>
            <a:ext cx="948944" cy="2875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8" name="tag-text-412"/>
          <p:cNvSpPr txBox="1"/>
          <p:nvPr/>
        </p:nvSpPr>
        <p:spPr>
          <a:xfrm>
            <a:off x="2037080" y="5596128"/>
            <a:ext cx="948944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2"/>
                </a:solidFill>
              </a:rPr>
              <a:t>引用正確</a:t>
            </a:r>
            <a:endParaRPr lang="zh-TW" sz="1400" dirty="0"/>
          </a:p>
        </p:txBody>
      </p:sp>
      <p:sp>
        <p:nvSpPr>
          <p:cNvPr id="49" name="text-413"/>
          <p:cNvSpPr txBox="1"/>
          <p:nvPr/>
        </p:nvSpPr>
        <p:spPr>
          <a:xfrm>
            <a:off x="3095752" y="555955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accent6"/>
                </a:solidFill>
              </a:rPr>
              <a:t>≠</a:t>
            </a:r>
            <a:endParaRPr lang="zh-TW" sz="2000" dirty="0"/>
          </a:p>
        </p:txBody>
      </p:sp>
      <p:sp>
        <p:nvSpPr>
          <p:cNvPr id="50" name="tag-414"/>
          <p:cNvSpPr/>
          <p:nvPr/>
        </p:nvSpPr>
        <p:spPr>
          <a:xfrm>
            <a:off x="3525520" y="5596128"/>
            <a:ext cx="1304544" cy="28752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1" name="tag-text-415"/>
          <p:cNvSpPr txBox="1"/>
          <p:nvPr/>
        </p:nvSpPr>
        <p:spPr>
          <a:xfrm>
            <a:off x="3525520" y="5596128"/>
            <a:ext cx="1304544" cy="287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語意判斷正確</a:t>
            </a:r>
            <a:endParaRPr lang="zh-TW" sz="1400" dirty="0"/>
          </a:p>
        </p:txBody>
      </p:sp>
      <p:sp>
        <p:nvSpPr>
          <p:cNvPr id="52" name="text-416"/>
          <p:cNvSpPr txBox="1"/>
          <p:nvPr/>
        </p:nvSpPr>
        <p:spPr>
          <a:xfrm>
            <a:off x="6309360" y="55961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實測：模型說學生第 2 頁有終端機截圖，實際沒有，Host 核對仍放行。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WEEK 06 · EVALUATOR–OPTIMIZER（10/30 補交）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Week 6：系統指出錯處，再請 GPT 修訂一次</a:t>
            </a:r>
            <a:endParaRPr lang="zh-TW" sz="3000" dirty="0"/>
          </a:p>
        </p:txBody>
      </p:sp>
      <p:sp>
        <p:nvSpPr>
          <p:cNvPr id="5" name="card-417"/>
          <p:cNvSpPr/>
          <p:nvPr/>
        </p:nvSpPr>
        <p:spPr>
          <a:xfrm>
            <a:off x="548640" y="160020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6" name="loop-dot-418"/>
          <p:cNvSpPr/>
          <p:nvPr/>
        </p:nvSpPr>
        <p:spPr>
          <a:xfrm>
            <a:off x="713232" y="1755648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ext-419"/>
          <p:cNvSpPr txBox="1"/>
          <p:nvPr/>
        </p:nvSpPr>
        <p:spPr>
          <a:xfrm>
            <a:off x="71323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1</a:t>
            </a:r>
            <a:endParaRPr lang="zh-TW" sz="1300" dirty="0"/>
          </a:p>
        </p:txBody>
      </p:sp>
      <p:sp>
        <p:nvSpPr>
          <p:cNvPr id="8" name="tag-420"/>
          <p:cNvSpPr/>
          <p:nvPr/>
        </p:nvSpPr>
        <p:spPr>
          <a:xfrm>
            <a:off x="1914906" y="1783080"/>
            <a:ext cx="480822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ag-text-421"/>
          <p:cNvSpPr txBox="1"/>
          <p:nvPr/>
        </p:nvSpPr>
        <p:spPr>
          <a:xfrm>
            <a:off x="1914906" y="1783080"/>
            <a:ext cx="480822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GPT</a:t>
            </a:r>
            <a:endParaRPr lang="zh-TW" sz="1100" dirty="0"/>
          </a:p>
        </p:txBody>
      </p:sp>
      <p:sp>
        <p:nvSpPr>
          <p:cNvPr id="10" name="text-422"/>
          <p:cNvSpPr txBox="1"/>
          <p:nvPr/>
        </p:nvSpPr>
        <p:spPr>
          <a:xfrm>
            <a:off x="713232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草稿 A</a:t>
            </a:r>
            <a:endParaRPr lang="zh-TW" sz="1500" dirty="0"/>
          </a:p>
        </p:txBody>
      </p:sp>
      <p:sp>
        <p:nvSpPr>
          <p:cNvPr id="11" name="text-423"/>
          <p:cNvSpPr txBox="1"/>
          <p:nvPr/>
        </p:nvSpPr>
        <p:spPr>
          <a:xfrm>
            <a:off x="713232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讀兩份 PDF，選證據行號</a:t>
            </a:r>
            <a:endParaRPr lang="zh-TW" sz="1100" dirty="0"/>
          </a:p>
        </p:txBody>
      </p:sp>
      <p:sp>
        <p:nvSpPr>
          <p:cNvPr id="12" name="arrow-424"/>
          <p:cNvSpPr/>
          <p:nvPr/>
        </p:nvSpPr>
        <p:spPr>
          <a:xfrm>
            <a:off x="2587752" y="2258568"/>
            <a:ext cx="20116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card-425"/>
          <p:cNvSpPr/>
          <p:nvPr/>
        </p:nvSpPr>
        <p:spPr>
          <a:xfrm>
            <a:off x="2816352" y="160020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4" name="loop-dot-426"/>
          <p:cNvSpPr/>
          <p:nvPr/>
        </p:nvSpPr>
        <p:spPr>
          <a:xfrm>
            <a:off x="2980944" y="1755648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-427"/>
          <p:cNvSpPr txBox="1"/>
          <p:nvPr/>
        </p:nvSpPr>
        <p:spPr>
          <a:xfrm>
            <a:off x="2980944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2</a:t>
            </a:r>
            <a:endParaRPr lang="zh-TW" sz="1300" dirty="0"/>
          </a:p>
        </p:txBody>
      </p:sp>
      <p:sp>
        <p:nvSpPr>
          <p:cNvPr id="16" name="tag-428"/>
          <p:cNvSpPr/>
          <p:nvPr/>
        </p:nvSpPr>
        <p:spPr>
          <a:xfrm>
            <a:off x="4101592" y="1783080"/>
            <a:ext cx="561848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ag-text-429"/>
          <p:cNvSpPr txBox="1"/>
          <p:nvPr/>
        </p:nvSpPr>
        <p:spPr>
          <a:xfrm>
            <a:off x="4101592" y="1783080"/>
            <a:ext cx="561848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Host</a:t>
            </a:r>
            <a:endParaRPr lang="zh-TW" sz="1100" dirty="0"/>
          </a:p>
        </p:txBody>
      </p:sp>
      <p:sp>
        <p:nvSpPr>
          <p:cNvPr id="18" name="text-430"/>
          <p:cNvSpPr txBox="1"/>
          <p:nvPr/>
        </p:nvSpPr>
        <p:spPr>
          <a:xfrm>
            <a:off x="2980944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逐項評估</a:t>
            </a:r>
            <a:endParaRPr lang="zh-TW" sz="1500" dirty="0"/>
          </a:p>
        </p:txBody>
      </p:sp>
      <p:sp>
        <p:nvSpPr>
          <p:cNvPr id="19" name="text-431"/>
          <p:cNvSpPr txBox="1"/>
          <p:nvPr/>
        </p:nvSpPr>
        <p:spPr>
          <a:xfrm>
            <a:off x="2980944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最終關卡同一套規則，列出問題與位置</a:t>
            </a:r>
            <a:endParaRPr lang="zh-TW" sz="1100" dirty="0"/>
          </a:p>
        </p:txBody>
      </p:sp>
      <p:sp>
        <p:nvSpPr>
          <p:cNvPr id="20" name="arrow-432"/>
          <p:cNvSpPr/>
          <p:nvPr/>
        </p:nvSpPr>
        <p:spPr>
          <a:xfrm>
            <a:off x="4855464" y="2258568"/>
            <a:ext cx="20116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card-433"/>
          <p:cNvSpPr/>
          <p:nvPr/>
        </p:nvSpPr>
        <p:spPr>
          <a:xfrm>
            <a:off x="5084064" y="160020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22" name="loop-dot-434"/>
          <p:cNvSpPr/>
          <p:nvPr/>
        </p:nvSpPr>
        <p:spPr>
          <a:xfrm>
            <a:off x="5248656" y="1755648"/>
            <a:ext cx="310896" cy="31089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3" name="text-435"/>
          <p:cNvSpPr txBox="1"/>
          <p:nvPr/>
        </p:nvSpPr>
        <p:spPr>
          <a:xfrm>
            <a:off x="524865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3</a:t>
            </a:r>
            <a:endParaRPr lang="zh-TW" sz="1300" dirty="0"/>
          </a:p>
        </p:txBody>
      </p:sp>
      <p:sp>
        <p:nvSpPr>
          <p:cNvPr id="24" name="tag-436"/>
          <p:cNvSpPr/>
          <p:nvPr/>
        </p:nvSpPr>
        <p:spPr>
          <a:xfrm>
            <a:off x="6450330" y="1783080"/>
            <a:ext cx="480822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ag-text-437"/>
          <p:cNvSpPr txBox="1"/>
          <p:nvPr/>
        </p:nvSpPr>
        <p:spPr>
          <a:xfrm>
            <a:off x="6450330" y="1783080"/>
            <a:ext cx="480822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GPT</a:t>
            </a:r>
            <a:endParaRPr lang="zh-TW" sz="1100" dirty="0"/>
          </a:p>
        </p:txBody>
      </p:sp>
      <p:sp>
        <p:nvSpPr>
          <p:cNvPr id="26" name="text-438"/>
          <p:cNvSpPr txBox="1"/>
          <p:nvPr/>
        </p:nvSpPr>
        <p:spPr>
          <a:xfrm>
            <a:off x="5248656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修訂得到 B</a:t>
            </a:r>
            <a:endParaRPr lang="zh-TW" sz="1500" dirty="0"/>
          </a:p>
        </p:txBody>
      </p:sp>
      <p:sp>
        <p:nvSpPr>
          <p:cNvPr id="27" name="text-439"/>
          <p:cNvSpPr txBox="1"/>
          <p:nvPr/>
        </p:nvSpPr>
        <p:spPr>
          <a:xfrm>
            <a:off x="5248656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帶著 A 與問題清單，只改被指出處</a:t>
            </a:r>
            <a:endParaRPr lang="zh-TW" sz="1100" dirty="0"/>
          </a:p>
        </p:txBody>
      </p:sp>
      <p:sp>
        <p:nvSpPr>
          <p:cNvPr id="28" name="arrow-440"/>
          <p:cNvSpPr/>
          <p:nvPr/>
        </p:nvSpPr>
        <p:spPr>
          <a:xfrm>
            <a:off x="7123176" y="2258568"/>
            <a:ext cx="20116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card-441"/>
          <p:cNvSpPr/>
          <p:nvPr/>
        </p:nvSpPr>
        <p:spPr>
          <a:xfrm>
            <a:off x="7351776" y="160020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30" name="loop-dot-442"/>
          <p:cNvSpPr/>
          <p:nvPr/>
        </p:nvSpPr>
        <p:spPr>
          <a:xfrm>
            <a:off x="7516368" y="1755648"/>
            <a:ext cx="310896" cy="310896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1" name="text-443"/>
          <p:cNvSpPr txBox="1"/>
          <p:nvPr/>
        </p:nvSpPr>
        <p:spPr>
          <a:xfrm>
            <a:off x="7516368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4</a:t>
            </a:r>
            <a:endParaRPr lang="zh-TW" sz="1300" dirty="0"/>
          </a:p>
        </p:txBody>
      </p:sp>
      <p:sp>
        <p:nvSpPr>
          <p:cNvPr id="32" name="tag-444"/>
          <p:cNvSpPr/>
          <p:nvPr/>
        </p:nvSpPr>
        <p:spPr>
          <a:xfrm>
            <a:off x="8637016" y="1783080"/>
            <a:ext cx="561848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ag-text-445"/>
          <p:cNvSpPr txBox="1"/>
          <p:nvPr/>
        </p:nvSpPr>
        <p:spPr>
          <a:xfrm>
            <a:off x="8637016" y="1783080"/>
            <a:ext cx="561848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Host</a:t>
            </a:r>
            <a:endParaRPr lang="zh-TW" sz="1100" dirty="0"/>
          </a:p>
        </p:txBody>
      </p:sp>
      <p:sp>
        <p:nvSpPr>
          <p:cNvPr id="34" name="text-446"/>
          <p:cNvSpPr txBox="1"/>
          <p:nvPr/>
        </p:nvSpPr>
        <p:spPr>
          <a:xfrm>
            <a:off x="7516368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同規則重評</a:t>
            </a:r>
            <a:endParaRPr lang="zh-TW" sz="1500" dirty="0"/>
          </a:p>
        </p:txBody>
      </p:sp>
      <p:sp>
        <p:nvSpPr>
          <p:cNvPr id="35" name="text-447"/>
          <p:cNvSpPr txBox="1"/>
          <p:nvPr/>
        </p:nvSpPr>
        <p:spPr>
          <a:xfrm>
            <a:off x="7516368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並禁止把推測改成明確要求</a:t>
            </a:r>
            <a:endParaRPr lang="zh-TW" sz="1100" dirty="0"/>
          </a:p>
        </p:txBody>
      </p:sp>
      <p:sp>
        <p:nvSpPr>
          <p:cNvPr id="36" name="arrow-448"/>
          <p:cNvSpPr/>
          <p:nvPr/>
        </p:nvSpPr>
        <p:spPr>
          <a:xfrm>
            <a:off x="9390888" y="2258568"/>
            <a:ext cx="201168" cy="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7" name="card-449"/>
          <p:cNvSpPr/>
          <p:nvPr/>
        </p:nvSpPr>
        <p:spPr>
          <a:xfrm>
            <a:off x="9619488" y="1600200"/>
            <a:ext cx="20116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38" name="loop-dot-450"/>
          <p:cNvSpPr/>
          <p:nvPr/>
        </p:nvSpPr>
        <p:spPr>
          <a:xfrm>
            <a:off x="9784080" y="1755648"/>
            <a:ext cx="310896" cy="3108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-451"/>
          <p:cNvSpPr txBox="1"/>
          <p:nvPr/>
        </p:nvSpPr>
        <p:spPr>
          <a:xfrm>
            <a:off x="978408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5</a:t>
            </a:r>
            <a:endParaRPr lang="zh-TW" sz="1300" dirty="0"/>
          </a:p>
        </p:txBody>
      </p:sp>
      <p:sp>
        <p:nvSpPr>
          <p:cNvPr id="40" name="tag-452"/>
          <p:cNvSpPr/>
          <p:nvPr/>
        </p:nvSpPr>
        <p:spPr>
          <a:xfrm>
            <a:off x="10949432" y="1783080"/>
            <a:ext cx="517144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tag-text-453"/>
          <p:cNvSpPr txBox="1"/>
          <p:nvPr/>
        </p:nvSpPr>
        <p:spPr>
          <a:xfrm>
            <a:off x="10949432" y="1783080"/>
            <a:ext cx="517144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結果</a:t>
            </a:r>
            <a:endParaRPr lang="zh-TW" sz="1100" dirty="0"/>
          </a:p>
        </p:txBody>
      </p:sp>
      <p:sp>
        <p:nvSpPr>
          <p:cNvPr id="42" name="text-454"/>
          <p:cNvSpPr txBox="1"/>
          <p:nvPr/>
        </p:nvSpPr>
        <p:spPr>
          <a:xfrm>
            <a:off x="9784080" y="21579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通過才採用</a:t>
            </a:r>
            <a:endParaRPr lang="zh-TW" sz="1500" dirty="0"/>
          </a:p>
        </p:txBody>
      </p:sp>
      <p:sp>
        <p:nvSpPr>
          <p:cNvPr id="43" name="text-455"/>
          <p:cNvSpPr txBox="1"/>
          <p:nvPr/>
        </p:nvSpPr>
        <p:spPr>
          <a:xfrm>
            <a:off x="9784080" y="24688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仍未通過：第 2 份即停，不給分</a:t>
            </a:r>
            <a:endParaRPr lang="zh-TW" sz="1100" dirty="0"/>
          </a:p>
        </p:txBody>
      </p:sp>
      <p:sp>
        <p:nvSpPr>
          <p:cNvPr id="44" name="text-456"/>
          <p:cNvSpPr txBox="1"/>
          <p:nvPr/>
        </p:nvSpPr>
        <p:spPr>
          <a:xfrm>
            <a:off x="548640" y="3072384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草稿 A 通過就直接採用，呼叫次數與原版相同；判斷檔案放反不修訂；模型服務錯誤不重試。</a:t>
            </a:r>
            <a:endParaRPr lang="zh-TW" sz="1300" dirty="0"/>
          </a:p>
        </p:txBody>
      </p:sp>
      <p:sp>
        <p:nvSpPr>
          <p:cNvPr id="45" name="text-457"/>
          <p:cNvSpPr txBox="1"/>
          <p:nvPr/>
        </p:nvSpPr>
        <p:spPr>
          <a:xfrm>
            <a:off x="548640" y="34930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真實比較：同一組合成 PDF，每版每輪各跑一次</a:t>
            </a:r>
            <a:endParaRPr lang="zh-TW" sz="1500" dirty="0"/>
          </a:p>
        </p:txBody>
      </p:sp>
      <p:sp>
        <p:nvSpPr>
          <p:cNvPr id="46" name="card-458"/>
          <p:cNvSpPr/>
          <p:nvPr/>
        </p:nvSpPr>
        <p:spPr>
          <a:xfrm>
            <a:off x="548640" y="3913632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47" name="text-459"/>
          <p:cNvSpPr txBox="1"/>
          <p:nvPr/>
        </p:nvSpPr>
        <p:spPr>
          <a:xfrm>
            <a:off x="804672" y="40507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gpt-5.4 · 兩輪</a:t>
            </a:r>
            <a:endParaRPr lang="zh-TW" sz="1600" dirty="0"/>
          </a:p>
        </p:txBody>
      </p:sp>
      <p:sp>
        <p:nvSpPr>
          <p:cNvPr id="48" name="chip-pass-460"/>
          <p:cNvSpPr/>
          <p:nvPr/>
        </p:nvSpPr>
        <p:spPr>
          <a:xfrm>
            <a:off x="804672" y="4480560"/>
            <a:ext cx="1474622" cy="273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49" name="chip-icon-461" descr="原版 LIVE_P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535221"/>
            <a:ext cx="163982" cy="163982"/>
          </a:xfrm>
          <a:prstGeom prst="rect">
            <a:avLst/>
          </a:prstGeom>
        </p:spPr>
      </p:pic>
      <p:sp>
        <p:nvSpPr>
          <p:cNvPr id="50" name="chip-text-462"/>
          <p:cNvSpPr txBox="1"/>
          <p:nvPr/>
        </p:nvSpPr>
        <p:spPr>
          <a:xfrm>
            <a:off x="1142390" y="4480560"/>
            <a:ext cx="1127760" cy="27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原版 LIVE_PASS</a:t>
            </a:r>
            <a:endParaRPr lang="zh-TW" sz="1000" dirty="0"/>
          </a:p>
        </p:txBody>
      </p:sp>
      <p:sp>
        <p:nvSpPr>
          <p:cNvPr id="51" name="chip-pass-463"/>
          <p:cNvSpPr/>
          <p:nvPr/>
        </p:nvSpPr>
        <p:spPr>
          <a:xfrm>
            <a:off x="2389022" y="4480560"/>
            <a:ext cx="1474622" cy="273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52" name="chip-icon-464" descr="候選 LIVE_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50" y="4535221"/>
            <a:ext cx="163982" cy="163982"/>
          </a:xfrm>
          <a:prstGeom prst="rect">
            <a:avLst/>
          </a:prstGeom>
        </p:spPr>
      </p:pic>
      <p:sp>
        <p:nvSpPr>
          <p:cNvPr id="53" name="chip-text-465"/>
          <p:cNvSpPr txBox="1"/>
          <p:nvPr/>
        </p:nvSpPr>
        <p:spPr>
          <a:xfrm>
            <a:off x="2726741" y="4480560"/>
            <a:ext cx="1127760" cy="27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候選 LIVE_PASS</a:t>
            </a:r>
            <a:endParaRPr lang="zh-TW" sz="1000" dirty="0"/>
          </a:p>
        </p:txBody>
      </p:sp>
      <p:sp>
        <p:nvSpPr>
          <p:cNvPr id="54" name="text-466"/>
          <p:cNvSpPr txBox="1"/>
          <p:nvPr/>
        </p:nvSpPr>
        <p:spPr>
          <a:xfrm>
            <a:off x="804672" y="4873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草稿 A 都直接通過，候選沒有多呼叫；但 7 項預期都只中 6 項。</a:t>
            </a:r>
            <a:endParaRPr lang="zh-TW" sz="1300" dirty="0"/>
          </a:p>
        </p:txBody>
      </p:sp>
      <p:sp>
        <p:nvSpPr>
          <p:cNvPr id="55" name="card-467"/>
          <p:cNvSpPr/>
          <p:nvPr/>
        </p:nvSpPr>
        <p:spPr>
          <a:xfrm>
            <a:off x="4334256" y="3913632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56" name="text-468"/>
          <p:cNvSpPr txBox="1"/>
          <p:nvPr/>
        </p:nvSpPr>
        <p:spPr>
          <a:xfrm>
            <a:off x="4590288" y="40507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gpt-4.1-mini · 兩輪</a:t>
            </a:r>
            <a:endParaRPr lang="zh-TW" sz="1600" dirty="0"/>
          </a:p>
        </p:txBody>
      </p:sp>
      <p:sp>
        <p:nvSpPr>
          <p:cNvPr id="57" name="chip-fail-469"/>
          <p:cNvSpPr/>
          <p:nvPr/>
        </p:nvSpPr>
        <p:spPr>
          <a:xfrm>
            <a:off x="4590288" y="4480560"/>
            <a:ext cx="1474622" cy="273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pic>
        <p:nvPicPr>
          <p:cNvPr id="58" name="chip-icon-470" descr="原版 LIVE_FA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4535221"/>
            <a:ext cx="163982" cy="163982"/>
          </a:xfrm>
          <a:prstGeom prst="rect">
            <a:avLst/>
          </a:prstGeom>
        </p:spPr>
      </p:pic>
      <p:sp>
        <p:nvSpPr>
          <p:cNvPr id="59" name="chip-text-471"/>
          <p:cNvSpPr txBox="1"/>
          <p:nvPr/>
        </p:nvSpPr>
        <p:spPr>
          <a:xfrm>
            <a:off x="4928006" y="4480560"/>
            <a:ext cx="1127760" cy="27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原版 LIVE_FAIL</a:t>
            </a:r>
            <a:endParaRPr lang="zh-TW" sz="1000" dirty="0"/>
          </a:p>
        </p:txBody>
      </p:sp>
      <p:sp>
        <p:nvSpPr>
          <p:cNvPr id="60" name="chip-fail-472"/>
          <p:cNvSpPr/>
          <p:nvPr/>
        </p:nvSpPr>
        <p:spPr>
          <a:xfrm>
            <a:off x="6174638" y="4480560"/>
            <a:ext cx="1474622" cy="2733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pic>
        <p:nvPicPr>
          <p:cNvPr id="61" name="chip-icon-473" descr="候選 LIVE_FAI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366" y="4535221"/>
            <a:ext cx="163982" cy="163982"/>
          </a:xfrm>
          <a:prstGeom prst="rect">
            <a:avLst/>
          </a:prstGeom>
        </p:spPr>
      </p:pic>
      <p:sp>
        <p:nvSpPr>
          <p:cNvPr id="62" name="chip-text-474"/>
          <p:cNvSpPr txBox="1"/>
          <p:nvPr/>
        </p:nvSpPr>
        <p:spPr>
          <a:xfrm>
            <a:off x="6512357" y="4480560"/>
            <a:ext cx="1127760" cy="27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候選 LIVE_FAIL</a:t>
            </a:r>
            <a:endParaRPr lang="zh-TW" sz="1000" dirty="0"/>
          </a:p>
        </p:txBody>
      </p:sp>
      <p:sp>
        <p:nvSpPr>
          <p:cNvPr id="63" name="text-475"/>
          <p:cNvSpPr txBox="1"/>
          <p:nvPr/>
        </p:nvSpPr>
        <p:spPr>
          <a:xfrm>
            <a:off x="4590288" y="4873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候選的修訂稿兩次都與 A 逐字相同，到上限停止；tokens 約 2.3 倍。</a:t>
            </a:r>
            <a:endParaRPr lang="zh-TW" sz="1300" dirty="0"/>
          </a:p>
        </p:txBody>
      </p:sp>
      <p:sp>
        <p:nvSpPr>
          <p:cNvPr id="64" name="card-476"/>
          <p:cNvSpPr/>
          <p:nvPr/>
        </p:nvSpPr>
        <p:spPr>
          <a:xfrm>
            <a:off x="8119872" y="3913632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65" name="text-477"/>
          <p:cNvSpPr txBox="1"/>
          <p:nvPr/>
        </p:nvSpPr>
        <p:spPr>
          <a:xfrm>
            <a:off x="8375904" y="40507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離線 15 個案例</a:t>
            </a:r>
            <a:endParaRPr lang="zh-TW" sz="1600" dirty="0"/>
          </a:p>
        </p:txBody>
      </p:sp>
      <p:sp>
        <p:nvSpPr>
          <p:cNvPr id="66" name="chip-met-478"/>
          <p:cNvSpPr/>
          <p:nvPr/>
        </p:nvSpPr>
        <p:spPr>
          <a:xfrm>
            <a:off x="8375904" y="4480560"/>
            <a:ext cx="1487322" cy="273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67" name="chip-icon-479" descr="15／15 符合預期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35221"/>
            <a:ext cx="163982" cy="163982"/>
          </a:xfrm>
          <a:prstGeom prst="rect">
            <a:avLst/>
          </a:prstGeom>
        </p:spPr>
      </p:pic>
      <p:sp>
        <p:nvSpPr>
          <p:cNvPr id="68" name="chip-text-480"/>
          <p:cNvSpPr txBox="1"/>
          <p:nvPr/>
        </p:nvSpPr>
        <p:spPr>
          <a:xfrm>
            <a:off x="8713622" y="4480560"/>
            <a:ext cx="1140460" cy="273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15／15 符合預期</a:t>
            </a:r>
            <a:endParaRPr lang="zh-TW" sz="1000" dirty="0"/>
          </a:p>
        </p:txBody>
      </p:sp>
      <p:sp>
        <p:nvSpPr>
          <p:cNvPr id="69" name="text-481"/>
          <p:cNvSpPr txBox="1"/>
          <p:nvPr/>
        </p:nvSpPr>
        <p:spPr>
          <a:xfrm>
            <a:off x="8375904" y="487375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修訂後通過、到上限停止、檔案放反不修訂、改標推測被拒。</a:t>
            </a:r>
            <a:endParaRPr lang="zh-TW" sz="1300" dirty="0"/>
          </a:p>
        </p:txBody>
      </p:sp>
      <p:sp>
        <p:nvSpPr>
          <p:cNvPr id="70" name="chip-pending-482"/>
          <p:cNvSpPr/>
          <p:nvPr/>
        </p:nvSpPr>
        <p:spPr>
          <a:xfrm>
            <a:off x="548640" y="5760720"/>
            <a:ext cx="1497482" cy="31140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pic>
        <p:nvPicPr>
          <p:cNvPr id="71" name="chip-icon-483" descr="尚未證明改善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823001"/>
            <a:ext cx="186842" cy="186842"/>
          </a:xfrm>
          <a:prstGeom prst="rect">
            <a:avLst/>
          </a:prstGeom>
        </p:spPr>
      </p:pic>
      <p:sp>
        <p:nvSpPr>
          <p:cNvPr id="72" name="chip-text-484"/>
          <p:cNvSpPr txBox="1"/>
          <p:nvPr/>
        </p:nvSpPr>
        <p:spPr>
          <a:xfrm>
            <a:off x="909218" y="5760720"/>
            <a:ext cx="1127760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尚未證明改善</a:t>
            </a:r>
            <a:endParaRPr lang="zh-TW" sz="1300" dirty="0"/>
          </a:p>
        </p:txBody>
      </p:sp>
      <p:sp>
        <p:nvSpPr>
          <p:cNvPr id="73" name="text-485"/>
          <p:cNvSpPr txBox="1"/>
          <p:nvPr/>
        </p:nvSpPr>
        <p:spPr>
          <a:xfrm>
            <a:off x="2229002" y="5733288"/>
            <a:ext cx="94113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預設維持原版，候選可在工作台切換。下一步：把草稿 A 改放在 user 訊息再重測。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驗證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回歸測試從 107 項成長到 213 項</a:t>
            </a:r>
            <a:endParaRPr lang="zh-TW" sz="3000" dirty="0"/>
          </a:p>
        </p:txBody>
      </p:sp>
      <p:graphicFrame>
        <p:nvGraphicFramePr>
          <p:cNvPr id="5" name="tests-chart" descr=""/>
          <p:cNvGraphicFramePr/>
          <p:nvPr/>
        </p:nvGraphicFramePr>
        <p:xfrm>
          <a:off x="548640" y="155448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-486"/>
          <p:cNvSpPr txBox="1"/>
          <p:nvPr/>
        </p:nvSpPr>
        <p:spPr>
          <a:xfrm>
            <a:off x="548640" y="5577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v0.8 新增 30 項 PDF 測試，W6（10/30 補交）再加 35 項。</a:t>
            </a:r>
            <a:endParaRPr lang="zh-TW" sz="1300" dirty="0"/>
          </a:p>
          <a:p>
            <a:pPr indent="0" marL="0">
              <a:buNone/>
            </a:pPr>
            <a:r>
              <a:rPr lang="zh-TW" altLang="en-US" sz="1300" dirty="0">
                <a:solidFill>
                  <a:schemeClr val="accent6"/>
                </a:solidFill>
              </a:rPr>
              <a:t>全部是離線與故障注入，不等於真實模型準確率。</a:t>
            </a:r>
            <a:endParaRPr lang="zh-TW" sz="1300" dirty="0"/>
          </a:p>
        </p:txBody>
      </p:sp>
      <p:sp>
        <p:nvSpPr>
          <p:cNvPr id="7" name="text-487"/>
          <p:cNvSpPr txBox="1"/>
          <p:nvPr/>
        </p:nvSpPr>
        <p:spPr>
          <a:xfrm>
            <a:off x="6172200" y="16002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關鍵案例：預期與實際一致</a:t>
            </a:r>
            <a:endParaRPr lang="zh-TW" sz="1700" dirty="0"/>
          </a:p>
        </p:txBody>
      </p:sp>
      <p:sp>
        <p:nvSpPr>
          <p:cNvPr id="8" name="row-bg-488"/>
          <p:cNvSpPr/>
          <p:nvPr/>
        </p:nvSpPr>
        <p:spPr>
          <a:xfrm>
            <a:off x="6172200" y="2048256"/>
            <a:ext cx="5468112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9" name="icon-489" descr="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194560"/>
            <a:ext cx="256032" cy="256032"/>
          </a:xfrm>
          <a:prstGeom prst="rect">
            <a:avLst/>
          </a:prstGeom>
        </p:spPr>
      </p:pic>
      <p:sp>
        <p:nvSpPr>
          <p:cNvPr id="10" name="text-490"/>
          <p:cNvSpPr txBox="1"/>
          <p:nvPr/>
        </p:nvSpPr>
        <p:spPr>
          <a:xfrm>
            <a:off x="6675120" y="210312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同 Session 續問</a:t>
            </a:r>
            <a:endParaRPr lang="zh-TW" sz="1400" dirty="0"/>
          </a:p>
        </p:txBody>
      </p:sp>
      <p:sp>
        <p:nvSpPr>
          <p:cNvPr id="11" name="text-491"/>
          <p:cNvSpPr txBox="1"/>
          <p:nvPr/>
        </p:nvSpPr>
        <p:spPr>
          <a:xfrm>
            <a:off x="8915400" y="210312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帶入該 Session 的摘要</a:t>
            </a:r>
            <a:endParaRPr lang="zh-TW" sz="1200" dirty="0"/>
          </a:p>
        </p:txBody>
      </p:sp>
      <p:sp>
        <p:nvSpPr>
          <p:cNvPr id="12" name="tag-492"/>
          <p:cNvSpPr/>
          <p:nvPr/>
        </p:nvSpPr>
        <p:spPr>
          <a:xfrm>
            <a:off x="11068050" y="2194560"/>
            <a:ext cx="480822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ag-text-493"/>
          <p:cNvSpPr txBox="1"/>
          <p:nvPr/>
        </p:nvSpPr>
        <p:spPr>
          <a:xfrm>
            <a:off x="11068050" y="2194560"/>
            <a:ext cx="480822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GPT</a:t>
            </a:r>
            <a:endParaRPr lang="zh-TW" sz="1100" dirty="0"/>
          </a:p>
        </p:txBody>
      </p:sp>
      <p:pic>
        <p:nvPicPr>
          <p:cNvPr id="14" name="icon-494" descr="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779776"/>
            <a:ext cx="256032" cy="256032"/>
          </a:xfrm>
          <a:prstGeom prst="rect">
            <a:avLst/>
          </a:prstGeom>
        </p:spPr>
      </p:pic>
      <p:sp>
        <p:nvSpPr>
          <p:cNvPr id="15" name="text-495"/>
          <p:cNvSpPr txBox="1"/>
          <p:nvPr/>
        </p:nvSpPr>
        <p:spPr>
          <a:xfrm>
            <a:off x="6675120" y="268833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清除後新查詢</a:t>
            </a:r>
            <a:endParaRPr lang="zh-TW" sz="1400" dirty="0"/>
          </a:p>
        </p:txBody>
      </p:sp>
      <p:sp>
        <p:nvSpPr>
          <p:cNvPr id="16" name="text-496"/>
          <p:cNvSpPr txBox="1"/>
          <p:nvPr/>
        </p:nvSpPr>
        <p:spPr>
          <a:xfrm>
            <a:off x="8915400" y="26883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memory:null，任務仍完成</a:t>
            </a:r>
            <a:endParaRPr lang="zh-TW" sz="1200" dirty="0"/>
          </a:p>
        </p:txBody>
      </p:sp>
      <p:sp>
        <p:nvSpPr>
          <p:cNvPr id="17" name="tag-497"/>
          <p:cNvSpPr/>
          <p:nvPr/>
        </p:nvSpPr>
        <p:spPr>
          <a:xfrm>
            <a:off x="11068050" y="2779776"/>
            <a:ext cx="480822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ag-text-498"/>
          <p:cNvSpPr txBox="1"/>
          <p:nvPr/>
        </p:nvSpPr>
        <p:spPr>
          <a:xfrm>
            <a:off x="11068050" y="2779776"/>
            <a:ext cx="480822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GPT</a:t>
            </a:r>
            <a:endParaRPr lang="zh-TW" sz="1100" dirty="0"/>
          </a:p>
        </p:txBody>
      </p:sp>
      <p:sp>
        <p:nvSpPr>
          <p:cNvPr id="19" name="row-bg-499"/>
          <p:cNvSpPr/>
          <p:nvPr/>
        </p:nvSpPr>
        <p:spPr>
          <a:xfrm>
            <a:off x="6172200" y="3218688"/>
            <a:ext cx="5468112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20" name="icon-500" descr="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3364992"/>
            <a:ext cx="256032" cy="256032"/>
          </a:xfrm>
          <a:prstGeom prst="rect">
            <a:avLst/>
          </a:prstGeom>
        </p:spPr>
      </p:pic>
      <p:sp>
        <p:nvSpPr>
          <p:cNvPr id="21" name="text-501"/>
          <p:cNvSpPr txBox="1"/>
          <p:nvPr/>
        </p:nvSpPr>
        <p:spPr>
          <a:xfrm>
            <a:off x="6675120" y="327355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跨使用者讀取</a:t>
            </a:r>
            <a:endParaRPr lang="zh-TW" sz="1400" dirty="0"/>
          </a:p>
        </p:txBody>
      </p:sp>
      <p:sp>
        <p:nvSpPr>
          <p:cNvPr id="22" name="text-502"/>
          <p:cNvSpPr txBox="1"/>
          <p:nvPr/>
        </p:nvSpPr>
        <p:spPr>
          <a:xfrm>
            <a:off x="8915400" y="327355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RUN_NOT_FOUND</a:t>
            </a:r>
            <a:endParaRPr lang="zh-TW" sz="1200" dirty="0"/>
          </a:p>
        </p:txBody>
      </p:sp>
      <p:sp>
        <p:nvSpPr>
          <p:cNvPr id="23" name="tag-503"/>
          <p:cNvSpPr/>
          <p:nvPr/>
        </p:nvSpPr>
        <p:spPr>
          <a:xfrm>
            <a:off x="10987024" y="3364992"/>
            <a:ext cx="561848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ag-text-504"/>
          <p:cNvSpPr txBox="1"/>
          <p:nvPr/>
        </p:nvSpPr>
        <p:spPr>
          <a:xfrm>
            <a:off x="10987024" y="3364992"/>
            <a:ext cx="561848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2"/>
                </a:solidFill>
              </a:rPr>
              <a:t>HTTP</a:t>
            </a:r>
            <a:endParaRPr lang="zh-TW" sz="1100" dirty="0"/>
          </a:p>
        </p:txBody>
      </p:sp>
      <p:pic>
        <p:nvPicPr>
          <p:cNvPr id="25" name="icon-505" descr="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3950208"/>
            <a:ext cx="256032" cy="256032"/>
          </a:xfrm>
          <a:prstGeom prst="rect">
            <a:avLst/>
          </a:prstGeom>
        </p:spPr>
      </p:pic>
      <p:sp>
        <p:nvSpPr>
          <p:cNvPr id="26" name="text-506"/>
          <p:cNvSpPr txBox="1"/>
          <p:nvPr/>
        </p:nvSpPr>
        <p:spPr>
          <a:xfrm>
            <a:off x="6675120" y="38587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同 ID 重送</a:t>
            </a:r>
            <a:endParaRPr lang="zh-TW" sz="1400" dirty="0"/>
          </a:p>
        </p:txBody>
      </p:sp>
      <p:sp>
        <p:nvSpPr>
          <p:cNvPr id="27" name="text-507"/>
          <p:cNvSpPr txBox="1"/>
          <p:nvPr/>
        </p:nvSpPr>
        <p:spPr>
          <a:xfrm>
            <a:off x="8915400" y="3858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確認後與重送都是 1 份</a:t>
            </a:r>
            <a:endParaRPr lang="zh-TW" sz="1200" dirty="0"/>
          </a:p>
        </p:txBody>
      </p:sp>
      <p:sp>
        <p:nvSpPr>
          <p:cNvPr id="28" name="tag-508"/>
          <p:cNvSpPr/>
          <p:nvPr/>
        </p:nvSpPr>
        <p:spPr>
          <a:xfrm>
            <a:off x="11068050" y="3950208"/>
            <a:ext cx="480822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tag-text-509"/>
          <p:cNvSpPr txBox="1"/>
          <p:nvPr/>
        </p:nvSpPr>
        <p:spPr>
          <a:xfrm>
            <a:off x="11068050" y="3950208"/>
            <a:ext cx="480822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4"/>
                </a:solidFill>
              </a:rPr>
              <a:t>GPT</a:t>
            </a:r>
            <a:endParaRPr lang="zh-TW" sz="1100" dirty="0"/>
          </a:p>
        </p:txBody>
      </p:sp>
      <p:sp>
        <p:nvSpPr>
          <p:cNvPr id="30" name="row-bg-510"/>
          <p:cNvSpPr/>
          <p:nvPr/>
        </p:nvSpPr>
        <p:spPr>
          <a:xfrm>
            <a:off x="6172200" y="4389120"/>
            <a:ext cx="5468112" cy="5486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1" name="icon-511" descr="Circle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4535424"/>
            <a:ext cx="256032" cy="256032"/>
          </a:xfrm>
          <a:prstGeom prst="rect">
            <a:avLst/>
          </a:prstGeom>
        </p:spPr>
      </p:pic>
      <p:sp>
        <p:nvSpPr>
          <p:cNvPr id="32" name="text-512"/>
          <p:cNvSpPr txBox="1"/>
          <p:nvPr/>
        </p:nvSpPr>
        <p:spPr>
          <a:xfrm>
            <a:off x="6675120" y="444398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非法參數、429</a:t>
            </a:r>
            <a:endParaRPr lang="zh-TW" sz="1400" dirty="0"/>
          </a:p>
        </p:txBody>
      </p:sp>
      <p:sp>
        <p:nvSpPr>
          <p:cNvPr id="33" name="text-513"/>
          <p:cNvSpPr txBox="1"/>
          <p:nvPr/>
        </p:nvSpPr>
        <p:spPr>
          <a:xfrm>
            <a:off x="8915400" y="44439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有限停止，不新增草稿</a:t>
            </a:r>
            <a:endParaRPr lang="zh-TW" sz="1200" dirty="0"/>
          </a:p>
        </p:txBody>
      </p:sp>
      <p:sp>
        <p:nvSpPr>
          <p:cNvPr id="34" name="tag-514"/>
          <p:cNvSpPr/>
          <p:nvPr/>
        </p:nvSpPr>
        <p:spPr>
          <a:xfrm>
            <a:off x="10752328" y="4535424"/>
            <a:ext cx="796544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ag-text-515"/>
          <p:cNvSpPr txBox="1"/>
          <p:nvPr/>
        </p:nvSpPr>
        <p:spPr>
          <a:xfrm>
            <a:off x="10752328" y="4535424"/>
            <a:ext cx="796544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故障注入</a:t>
            </a:r>
            <a:endParaRPr lang="zh-TW" sz="1100" dirty="0"/>
          </a:p>
        </p:txBody>
      </p:sp>
      <p:pic>
        <p:nvPicPr>
          <p:cNvPr id="36" name="icon-516" descr="Circle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5120640"/>
            <a:ext cx="256032" cy="256032"/>
          </a:xfrm>
          <a:prstGeom prst="rect">
            <a:avLst/>
          </a:prstGeom>
        </p:spPr>
      </p:pic>
      <p:sp>
        <p:nvSpPr>
          <p:cNvPr id="37" name="text-517"/>
          <p:cNvSpPr txBox="1"/>
          <p:nvPr/>
        </p:nvSpPr>
        <p:spPr>
          <a:xfrm>
            <a:off x="6675120" y="502920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PDF 錯誤引用、到上限</a:t>
            </a:r>
            <a:endParaRPr lang="zh-TW" sz="1400" dirty="0"/>
          </a:p>
        </p:txBody>
      </p:sp>
      <p:sp>
        <p:nvSpPr>
          <p:cNvPr id="38" name="text-518"/>
          <p:cNvSpPr txBox="1"/>
          <p:nvPr/>
        </p:nvSpPr>
        <p:spPr>
          <a:xfrm>
            <a:off x="8915400" y="50292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不估分，第 2 份即停</a:t>
            </a:r>
            <a:endParaRPr lang="zh-TW" sz="1200" dirty="0"/>
          </a:p>
        </p:txBody>
      </p:sp>
      <p:sp>
        <p:nvSpPr>
          <p:cNvPr id="39" name="tag-519"/>
          <p:cNvSpPr/>
          <p:nvPr/>
        </p:nvSpPr>
        <p:spPr>
          <a:xfrm>
            <a:off x="11031728" y="5120640"/>
            <a:ext cx="517144" cy="2494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tag-text-520"/>
          <p:cNvSpPr txBox="1"/>
          <p:nvPr/>
        </p:nvSpPr>
        <p:spPr>
          <a:xfrm>
            <a:off x="11031728" y="5120640"/>
            <a:ext cx="517144" cy="24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離線</a:t>
            </a:r>
            <a:endParaRPr lang="zh-TW" sz="1100" dirty="0"/>
          </a:p>
        </p:txBody>
      </p:sp>
      <p:sp>
        <p:nvSpPr>
          <p:cNvPr id="41" name="text-521"/>
          <p:cNvSpPr txBox="1"/>
          <p:nvPr/>
        </p:nvSpPr>
        <p:spPr>
          <a:xfrm>
            <a:off x="6172200" y="5650992"/>
            <a:ext cx="546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真實呼叫用量（不是帳單）：Week 7 共 14 次模型回覆、18,296 tokens；Week 6 共 10 次回覆、86,451 tokens。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原版 vs Session 候選 · 同輸入、同模型、同來源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保留一個真實失敗：模型略過了草稿提案</a:t>
            </a:r>
            <a:endParaRPr lang="zh-TW" sz="3000" dirty="0"/>
          </a:p>
        </p:txBody>
      </p:sp>
      <p:sp>
        <p:nvSpPr>
          <p:cNvPr id="5" name="text-522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兩者的檢索與引用 gate 都是 ready，且使用同一個 evidence hash。</a:t>
            </a:r>
            <a:endParaRPr lang="zh-TW" sz="1400" dirty="0"/>
          </a:p>
        </p:txBody>
      </p:sp>
      <p:sp>
        <p:nvSpPr>
          <p:cNvPr id="6" name="card-523"/>
          <p:cNvSpPr/>
          <p:nvPr/>
        </p:nvSpPr>
        <p:spPr>
          <a:xfrm>
            <a:off x="548640" y="2011680"/>
            <a:ext cx="5394960" cy="2880360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7" name="text-524"/>
          <p:cNvSpPr txBox="1"/>
          <p:nvPr/>
        </p:nvSpPr>
        <p:spPr>
          <a:xfrm>
            <a:off x="868680" y="2212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原版</a:t>
            </a:r>
            <a:endParaRPr lang="zh-TW" sz="2100" dirty="0"/>
          </a:p>
        </p:txBody>
      </p:sp>
      <p:sp>
        <p:nvSpPr>
          <p:cNvPr id="8" name="chip-fail-525"/>
          <p:cNvSpPr/>
          <p:nvPr/>
        </p:nvSpPr>
        <p:spPr>
          <a:xfrm>
            <a:off x="4258818" y="2258568"/>
            <a:ext cx="1368704" cy="31140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pic>
        <p:nvPicPr>
          <p:cNvPr id="9" name="chip-icon-526" descr="LIVE_F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8546" y="2320849"/>
            <a:ext cx="186842" cy="186842"/>
          </a:xfrm>
          <a:prstGeom prst="rect">
            <a:avLst/>
          </a:prstGeom>
        </p:spPr>
      </p:pic>
      <p:sp>
        <p:nvSpPr>
          <p:cNvPr id="10" name="chip-text-527"/>
          <p:cNvSpPr txBox="1"/>
          <p:nvPr/>
        </p:nvSpPr>
        <p:spPr>
          <a:xfrm>
            <a:off x="4619396" y="2258568"/>
            <a:ext cx="998982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LIVE_FAIL</a:t>
            </a:r>
            <a:endParaRPr lang="zh-TW" sz="1300" dirty="0"/>
          </a:p>
        </p:txBody>
      </p:sp>
      <p:sp>
        <p:nvSpPr>
          <p:cNvPr id="11" name="text-528"/>
          <p:cNvSpPr txBox="1"/>
          <p:nvPr/>
        </p:nvSpPr>
        <p:spPr>
          <a:xfrm>
            <a:off x="86868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讀取後直接回答，跳過提案工具；Host 以 UNEXPECTED_TOOL_SEQUENCE 擋下，未寫入。</a:t>
            </a:r>
            <a:endParaRPr lang="zh-TW" sz="1500" dirty="0"/>
          </a:p>
        </p:txBody>
      </p:sp>
      <p:sp>
        <p:nvSpPr>
          <p:cNvPr id="12" name="text-529"/>
          <p:cNvSpPr txBox="1"/>
          <p:nvPr/>
        </p:nvSpPr>
        <p:spPr>
          <a:xfrm>
            <a:off x="868680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5"/>
                </a:solidFill>
              </a:rPr>
              <a:t>2</a:t>
            </a:r>
            <a:endParaRPr lang="zh-TW" sz="2800" dirty="0"/>
          </a:p>
        </p:txBody>
      </p:sp>
      <p:sp>
        <p:nvSpPr>
          <p:cNvPr id="13" name="text-530"/>
          <p:cNvSpPr txBox="1"/>
          <p:nvPr/>
        </p:nvSpPr>
        <p:spPr>
          <a:xfrm>
            <a:off x="8686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次模型回覆</a:t>
            </a:r>
            <a:endParaRPr lang="zh-TW" sz="1200" dirty="0"/>
          </a:p>
        </p:txBody>
      </p:sp>
      <p:sp>
        <p:nvSpPr>
          <p:cNvPr id="14" name="text-531"/>
          <p:cNvSpPr txBox="1"/>
          <p:nvPr/>
        </p:nvSpPr>
        <p:spPr>
          <a:xfrm>
            <a:off x="2468880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5"/>
                </a:solidFill>
              </a:rPr>
              <a:t>2,133</a:t>
            </a:r>
            <a:endParaRPr lang="zh-TW" sz="2800" dirty="0"/>
          </a:p>
        </p:txBody>
      </p:sp>
      <p:sp>
        <p:nvSpPr>
          <p:cNvPr id="15" name="text-532"/>
          <p:cNvSpPr txBox="1"/>
          <p:nvPr/>
        </p:nvSpPr>
        <p:spPr>
          <a:xfrm>
            <a:off x="24688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tokens</a:t>
            </a:r>
            <a:endParaRPr lang="zh-TW" sz="1200" dirty="0"/>
          </a:p>
        </p:txBody>
      </p:sp>
      <p:sp>
        <p:nvSpPr>
          <p:cNvPr id="16" name="text-533"/>
          <p:cNvSpPr txBox="1"/>
          <p:nvPr/>
        </p:nvSpPr>
        <p:spPr>
          <a:xfrm>
            <a:off x="4069080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5"/>
                </a:solidFill>
              </a:rPr>
              <a:t>6.518 s</a:t>
            </a:r>
            <a:endParaRPr lang="zh-TW" sz="2800" dirty="0"/>
          </a:p>
        </p:txBody>
      </p:sp>
      <p:sp>
        <p:nvSpPr>
          <p:cNvPr id="17" name="text-534"/>
          <p:cNvSpPr txBox="1"/>
          <p:nvPr/>
        </p:nvSpPr>
        <p:spPr>
          <a:xfrm>
            <a:off x="4069080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觀測時間</a:t>
            </a:r>
            <a:endParaRPr lang="zh-TW" sz="1200" dirty="0"/>
          </a:p>
        </p:txBody>
      </p:sp>
      <p:sp>
        <p:nvSpPr>
          <p:cNvPr id="18" name="card-535"/>
          <p:cNvSpPr/>
          <p:nvPr/>
        </p:nvSpPr>
        <p:spPr>
          <a:xfrm>
            <a:off x="6245352" y="2011680"/>
            <a:ext cx="5394960" cy="2880360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27000" dist="25400" dir="5400000">
              <a:srgbClr val="1A2233">
                <a:alpha val="10000"/>
              </a:srgbClr>
            </a:outerShdw>
          </a:effectLst>
        </p:spPr>
      </p:sp>
      <p:sp>
        <p:nvSpPr>
          <p:cNvPr id="19" name="text-536"/>
          <p:cNvSpPr txBox="1"/>
          <p:nvPr/>
        </p:nvSpPr>
        <p:spPr>
          <a:xfrm>
            <a:off x="6565392" y="22128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100" b="1" dirty="0">
                <a:solidFill>
                  <a:schemeClr val="tx1"/>
                </a:solidFill>
              </a:rPr>
              <a:t>Session 候選</a:t>
            </a:r>
            <a:endParaRPr lang="zh-TW" sz="2100" dirty="0"/>
          </a:p>
        </p:txBody>
      </p:sp>
      <p:sp>
        <p:nvSpPr>
          <p:cNvPr id="20" name="chip-pass-537"/>
          <p:cNvSpPr/>
          <p:nvPr/>
        </p:nvSpPr>
        <p:spPr>
          <a:xfrm>
            <a:off x="9955530" y="2258568"/>
            <a:ext cx="1368704" cy="3114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21" name="chip-icon-538" descr="LIVE_P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258" y="2320849"/>
            <a:ext cx="186842" cy="186842"/>
          </a:xfrm>
          <a:prstGeom prst="rect">
            <a:avLst/>
          </a:prstGeom>
        </p:spPr>
      </p:pic>
      <p:sp>
        <p:nvSpPr>
          <p:cNvPr id="22" name="chip-text-539"/>
          <p:cNvSpPr txBox="1"/>
          <p:nvPr/>
        </p:nvSpPr>
        <p:spPr>
          <a:xfrm>
            <a:off x="10316108" y="2258568"/>
            <a:ext cx="998982" cy="311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LIVE_PASS</a:t>
            </a:r>
            <a:endParaRPr lang="zh-TW" sz="1300" dirty="0"/>
          </a:p>
        </p:txBody>
      </p:sp>
      <p:sp>
        <p:nvSpPr>
          <p:cNvPr id="23" name="text-540"/>
          <p:cNvSpPr txBox="1"/>
          <p:nvPr/>
        </p:nvSpPr>
        <p:spPr>
          <a:xfrm>
            <a:off x="6565392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依序提案、等待確認，使用者確認後完成草稿。</a:t>
            </a:r>
            <a:endParaRPr lang="zh-TW" sz="1500" dirty="0"/>
          </a:p>
        </p:txBody>
      </p:sp>
      <p:sp>
        <p:nvSpPr>
          <p:cNvPr id="24" name="text-541"/>
          <p:cNvSpPr txBox="1"/>
          <p:nvPr/>
        </p:nvSpPr>
        <p:spPr>
          <a:xfrm>
            <a:off x="6565392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2"/>
                </a:solidFill>
              </a:rPr>
              <a:t>3</a:t>
            </a:r>
            <a:endParaRPr lang="zh-TW" sz="2800" dirty="0"/>
          </a:p>
        </p:txBody>
      </p:sp>
      <p:sp>
        <p:nvSpPr>
          <p:cNvPr id="25" name="text-542"/>
          <p:cNvSpPr txBox="1"/>
          <p:nvPr/>
        </p:nvSpPr>
        <p:spPr>
          <a:xfrm>
            <a:off x="6565392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次模型回覆</a:t>
            </a:r>
            <a:endParaRPr lang="zh-TW" sz="1200" dirty="0"/>
          </a:p>
        </p:txBody>
      </p:sp>
      <p:sp>
        <p:nvSpPr>
          <p:cNvPr id="26" name="text-543"/>
          <p:cNvSpPr txBox="1"/>
          <p:nvPr/>
        </p:nvSpPr>
        <p:spPr>
          <a:xfrm>
            <a:off x="8165592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2"/>
                </a:solidFill>
              </a:rPr>
              <a:t>4,352</a:t>
            </a:r>
            <a:endParaRPr lang="zh-TW" sz="2800" dirty="0"/>
          </a:p>
        </p:txBody>
      </p:sp>
      <p:sp>
        <p:nvSpPr>
          <p:cNvPr id="27" name="text-544"/>
          <p:cNvSpPr txBox="1"/>
          <p:nvPr/>
        </p:nvSpPr>
        <p:spPr>
          <a:xfrm>
            <a:off x="8165592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tokens</a:t>
            </a:r>
            <a:endParaRPr lang="zh-TW" sz="1200" dirty="0"/>
          </a:p>
        </p:txBody>
      </p:sp>
      <p:sp>
        <p:nvSpPr>
          <p:cNvPr id="28" name="text-545"/>
          <p:cNvSpPr txBox="1"/>
          <p:nvPr/>
        </p:nvSpPr>
        <p:spPr>
          <a:xfrm>
            <a:off x="9765792" y="3611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accent2"/>
                </a:solidFill>
              </a:rPr>
              <a:t>5.183 s</a:t>
            </a:r>
            <a:endParaRPr lang="zh-TW" sz="2800" dirty="0"/>
          </a:p>
        </p:txBody>
      </p:sp>
      <p:sp>
        <p:nvSpPr>
          <p:cNvPr id="29" name="text-546"/>
          <p:cNvSpPr txBox="1"/>
          <p:nvPr/>
        </p:nvSpPr>
        <p:spPr>
          <a:xfrm>
            <a:off x="9765792" y="4206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200" dirty="0">
                <a:solidFill>
                  <a:schemeClr val="accent6"/>
                </a:solidFill>
              </a:rPr>
              <a:t>觀測時間</a:t>
            </a:r>
            <a:endParaRPr lang="zh-TW" sz="1200" dirty="0"/>
          </a:p>
        </p:txBody>
      </p:sp>
      <p:pic>
        <p:nvPicPr>
          <p:cNvPr id="30" name="icon-547" descr="Triangle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230368"/>
            <a:ext cx="329184" cy="329184"/>
          </a:xfrm>
          <a:prstGeom prst="rect">
            <a:avLst/>
          </a:prstGeom>
        </p:spPr>
      </p:pic>
      <p:sp>
        <p:nvSpPr>
          <p:cNvPr id="31" name="text-548"/>
          <p:cNvSpPr txBox="1"/>
          <p:nvPr/>
        </p:nvSpPr>
        <p:spPr>
          <a:xfrm>
            <a:off x="100584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只有一組樣本，而且兩者完成的終點不同：不能宣稱記憶提升了品質或降低成本。</a:t>
            </a:r>
            <a:endParaRPr lang="zh-TW" sz="1600" dirty="0"/>
          </a:p>
        </p:txBody>
      </p:sp>
      <p:sp>
        <p:nvSpPr>
          <p:cNvPr id="32" name="text-549"/>
          <p:cNvSpPr txBox="1"/>
          <p:nvPr/>
        </p:nvSpPr>
        <p:spPr>
          <a:xfrm>
            <a:off x="1005840" y="565099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6"/>
                </a:solidFill>
              </a:rPr>
              <a:t>課程指定的 Google Cloud／ADC Gemini：LIVE_NOT_RUN（依組員選擇使用 OpenAI，不能拿來替代）。</a:t>
            </a:r>
            <a:endParaRPr lang="zh-TW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已完成、待證明與規劃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tx1"/>
                </a:solidFill>
              </a:rPr>
              <a:t>下一步：把判讀結果接進草稿工具</a:t>
            </a:r>
            <a:endParaRPr lang="zh-TW" sz="3000" dirty="0"/>
          </a:p>
        </p:txBody>
      </p:sp>
      <p:sp>
        <p:nvSpPr>
          <p:cNvPr id="5" name="card-550"/>
          <p:cNvSpPr/>
          <p:nvPr/>
        </p:nvSpPr>
        <p:spPr>
          <a:xfrm>
            <a:off x="548640" y="160020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6" name="icon-bg-551"/>
          <p:cNvSpPr/>
          <p:nvPr/>
        </p:nvSpPr>
        <p:spPr>
          <a:xfrm>
            <a:off x="777240" y="18013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-552" descr="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11096"/>
            <a:ext cx="237744" cy="237744"/>
          </a:xfrm>
          <a:prstGeom prst="rect">
            <a:avLst/>
          </a:prstGeom>
        </p:spPr>
      </p:pic>
      <p:sp>
        <p:nvSpPr>
          <p:cNvPr id="8" name="text-553"/>
          <p:cNvSpPr txBox="1"/>
          <p:nvPr/>
        </p:nvSpPr>
        <p:spPr>
          <a:xfrm>
            <a:off x="1353312" y="1801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已完成且已驗證</a:t>
            </a:r>
            <a:endParaRPr lang="zh-TW" sz="1700" dirty="0"/>
          </a:p>
        </p:txBody>
      </p:sp>
      <p:sp>
        <p:nvSpPr>
          <p:cNvPr id="9" name="card-554"/>
          <p:cNvSpPr/>
          <p:nvPr/>
        </p:nvSpPr>
        <p:spPr>
          <a:xfrm>
            <a:off x="749808" y="2487168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10" name="text-555"/>
          <p:cNvSpPr txBox="1"/>
          <p:nvPr/>
        </p:nvSpPr>
        <p:spPr>
          <a:xfrm>
            <a:off x="914400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文字語意比對：LIVE_PASS</a:t>
            </a:r>
            <a:endParaRPr lang="zh-TW" sz="1400" dirty="0"/>
          </a:p>
        </p:txBody>
      </p:sp>
      <p:sp>
        <p:nvSpPr>
          <p:cNvPr id="11" name="card-556"/>
          <p:cNvSpPr/>
          <p:nvPr/>
        </p:nvSpPr>
        <p:spPr>
          <a:xfrm>
            <a:off x="749808" y="3465576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12" name="text-557"/>
          <p:cNvSpPr txBox="1"/>
          <p:nvPr/>
        </p:nvSpPr>
        <p:spPr>
          <a:xfrm>
            <a:off x="914400" y="34655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補件工具流程：LIVE_PASS</a:t>
            </a:r>
            <a:endParaRPr lang="zh-TW" sz="1400" dirty="0"/>
          </a:p>
        </p:txBody>
      </p:sp>
      <p:sp>
        <p:nvSpPr>
          <p:cNvPr id="13" name="card-558"/>
          <p:cNvSpPr/>
          <p:nvPr/>
        </p:nvSpPr>
        <p:spPr>
          <a:xfrm>
            <a:off x="749808" y="4443984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14" name="text-559"/>
          <p:cNvSpPr txBox="1"/>
          <p:nvPr/>
        </p:nvSpPr>
        <p:spPr>
          <a:xfrm>
            <a:off x="914400" y="44439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Session 清除與跨人隔離</a:t>
            </a:r>
            <a:endParaRPr lang="zh-TW" sz="1400" dirty="0"/>
          </a:p>
        </p:txBody>
      </p:sp>
      <p:sp>
        <p:nvSpPr>
          <p:cNvPr id="15" name="card-560"/>
          <p:cNvSpPr/>
          <p:nvPr/>
        </p:nvSpPr>
        <p:spPr>
          <a:xfrm>
            <a:off x="4334256" y="160020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6" name="icon-bg-561"/>
          <p:cNvSpPr/>
          <p:nvPr/>
        </p:nvSpPr>
        <p:spPr>
          <a:xfrm>
            <a:off x="4562856" y="180136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562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911096"/>
            <a:ext cx="237744" cy="237744"/>
          </a:xfrm>
          <a:prstGeom prst="rect">
            <a:avLst/>
          </a:prstGeom>
        </p:spPr>
      </p:pic>
      <p:sp>
        <p:nvSpPr>
          <p:cNvPr id="18" name="text-563"/>
          <p:cNvSpPr txBox="1"/>
          <p:nvPr/>
        </p:nvSpPr>
        <p:spPr>
          <a:xfrm>
            <a:off x="5138928" y="1801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已實作，效果待證明</a:t>
            </a:r>
            <a:endParaRPr lang="zh-TW" sz="1700" dirty="0"/>
          </a:p>
        </p:txBody>
      </p:sp>
      <p:sp>
        <p:nvSpPr>
          <p:cNvPr id="19" name="card-564"/>
          <p:cNvSpPr/>
          <p:nvPr/>
        </p:nvSpPr>
        <p:spPr>
          <a:xfrm>
            <a:off x="4535424" y="2487168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20" name="text-565"/>
          <p:cNvSpPr txBox="1"/>
          <p:nvPr/>
        </p:nvSpPr>
        <p:spPr>
          <a:xfrm>
            <a:off x="4700016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W6 評估後修訂：未證明改善</a:t>
            </a:r>
            <a:endParaRPr lang="zh-TW" sz="1400" dirty="0"/>
          </a:p>
        </p:txBody>
      </p:sp>
      <p:sp>
        <p:nvSpPr>
          <p:cNvPr id="21" name="card-566"/>
          <p:cNvSpPr/>
          <p:nvPr/>
        </p:nvSpPr>
        <p:spPr>
          <a:xfrm>
            <a:off x="4535424" y="3465576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22" name="text-567"/>
          <p:cNvSpPr txBox="1"/>
          <p:nvPr/>
        </p:nvSpPr>
        <p:spPr>
          <a:xfrm>
            <a:off x="4700016" y="34655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PDF 預檢：通過，業務預期 6／7</a:t>
            </a:r>
            <a:endParaRPr lang="zh-TW" sz="1400" dirty="0"/>
          </a:p>
        </p:txBody>
      </p:sp>
      <p:sp>
        <p:nvSpPr>
          <p:cNvPr id="23" name="card-568"/>
          <p:cNvSpPr/>
          <p:nvPr/>
        </p:nvSpPr>
        <p:spPr>
          <a:xfrm>
            <a:off x="4535424" y="4443984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24" name="text-569"/>
          <p:cNvSpPr txBox="1"/>
          <p:nvPr/>
        </p:nvSpPr>
        <p:spPr>
          <a:xfrm>
            <a:off x="4700016" y="44439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來源 v2 僅離線；估分未校準</a:t>
            </a:r>
            <a:endParaRPr lang="zh-TW" sz="1400" dirty="0"/>
          </a:p>
        </p:txBody>
      </p:sp>
      <p:sp>
        <p:nvSpPr>
          <p:cNvPr id="25" name="card-570"/>
          <p:cNvSpPr/>
          <p:nvPr/>
        </p:nvSpPr>
        <p:spPr>
          <a:xfrm>
            <a:off x="8119872" y="1600200"/>
            <a:ext cx="3520440" cy="39319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26" name="icon-bg-571"/>
          <p:cNvSpPr/>
          <p:nvPr/>
        </p:nvSpPr>
        <p:spPr>
          <a:xfrm>
            <a:off x="8348472" y="180136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con-572" descr="M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11096"/>
            <a:ext cx="237744" cy="237744"/>
          </a:xfrm>
          <a:prstGeom prst="rect">
            <a:avLst/>
          </a:prstGeom>
        </p:spPr>
      </p:pic>
      <p:sp>
        <p:nvSpPr>
          <p:cNvPr id="28" name="text-573"/>
          <p:cNvSpPr txBox="1"/>
          <p:nvPr/>
        </p:nvSpPr>
        <p:spPr>
          <a:xfrm>
            <a:off x="8924544" y="1801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700" b="1" dirty="0">
                <a:solidFill>
                  <a:schemeClr val="accent4"/>
                </a:solidFill>
              </a:rPr>
              <a:t>規劃中（期末前）</a:t>
            </a:r>
            <a:endParaRPr lang="zh-TW" sz="1700" dirty="0"/>
          </a:p>
        </p:txBody>
      </p:sp>
      <p:sp>
        <p:nvSpPr>
          <p:cNvPr id="29" name="card-574"/>
          <p:cNvSpPr/>
          <p:nvPr/>
        </p:nvSpPr>
        <p:spPr>
          <a:xfrm>
            <a:off x="8321040" y="2487168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30" name="text-575"/>
          <p:cNvSpPr txBox="1"/>
          <p:nvPr/>
        </p:nvSpPr>
        <p:spPr>
          <a:xfrm>
            <a:off x="8485632" y="248716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P0　判讀結果接入草稿工具</a:t>
            </a:r>
            <a:endParaRPr lang="zh-TW" sz="1400" dirty="0"/>
          </a:p>
        </p:txBody>
      </p:sp>
      <p:sp>
        <p:nvSpPr>
          <p:cNvPr id="31" name="card-576"/>
          <p:cNvSpPr/>
          <p:nvPr/>
        </p:nvSpPr>
        <p:spPr>
          <a:xfrm>
            <a:off x="8321040" y="3465576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32" name="text-577"/>
          <p:cNvSpPr txBox="1"/>
          <p:nvPr/>
        </p:nvSpPr>
        <p:spPr>
          <a:xfrm>
            <a:off x="8485632" y="34655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P0　20 組教師標註案例</a:t>
            </a:r>
            <a:endParaRPr lang="zh-TW" sz="1400" dirty="0"/>
          </a:p>
        </p:txBody>
      </p:sp>
      <p:sp>
        <p:nvSpPr>
          <p:cNvPr id="33" name="card-578"/>
          <p:cNvSpPr/>
          <p:nvPr/>
        </p:nvSpPr>
        <p:spPr>
          <a:xfrm>
            <a:off x="8321040" y="4443984"/>
            <a:ext cx="3118104" cy="82296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</p:spPr>
      </p:sp>
      <p:sp>
        <p:nvSpPr>
          <p:cNvPr id="34" name="text-579"/>
          <p:cNvSpPr txBox="1"/>
          <p:nvPr/>
        </p:nvSpPr>
        <p:spPr>
          <a:xfrm>
            <a:off x="8485632" y="44439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P1　掃描 PDF OCR、正式登入</a:t>
            </a:r>
            <a:endParaRPr lang="zh-TW" sz="1400" dirty="0"/>
          </a:p>
        </p:txBody>
      </p:sp>
      <p:pic>
        <p:nvPicPr>
          <p:cNvPr id="35" name="icon-580" descr="Targ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760720"/>
            <a:ext cx="310896" cy="310896"/>
          </a:xfrm>
          <a:prstGeom prst="rect">
            <a:avLst/>
          </a:prstGeom>
        </p:spPr>
      </p:pic>
      <p:sp>
        <p:nvSpPr>
          <p:cNvPr id="36" name="text-581"/>
          <p:cNvSpPr txBox="1"/>
          <p:nvPr/>
        </p:nvSpPr>
        <p:spPr>
          <a:xfrm>
            <a:off x="987552" y="5742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驗收：20 組標註案例 · 跨人隔離 · 來源變更拒寫 · 可重現 trace，並分開報告正確率與拒答率。</a:t>
            </a:r>
            <a:endParaRPr lang="zh-TW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團隊與後續</a:t>
            </a:r>
            <a:endParaRPr lang="zh-TW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3000" b="1" dirty="0">
                <a:solidFill>
                  <a:schemeClr val="bg1"/>
                </a:solidFill>
              </a:rPr>
              <a:t>分工與問答</a:t>
            </a:r>
            <a:endParaRPr lang="zh-TW" sz="3000" dirty="0"/>
          </a:p>
        </p:txBody>
      </p:sp>
      <p:sp>
        <p:nvSpPr>
          <p:cNvPr id="5" name="member-card-582"/>
          <p:cNvSpPr/>
          <p:nvPr/>
        </p:nvSpPr>
        <p:spPr>
          <a:xfrm>
            <a:off x="548640" y="1645920"/>
            <a:ext cx="5394960" cy="205740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icon-bg-583"/>
          <p:cNvSpPr/>
          <p:nvPr/>
        </p:nvSpPr>
        <p:spPr>
          <a:xfrm>
            <a:off x="868680" y="19202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584" descr="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521" y="2065081"/>
            <a:ext cx="313822" cy="313822"/>
          </a:xfrm>
          <a:prstGeom prst="rect">
            <a:avLst/>
          </a:prstGeom>
        </p:spPr>
      </p:pic>
      <p:sp>
        <p:nvSpPr>
          <p:cNvPr id="8" name="text-585"/>
          <p:cNvSpPr txBox="1"/>
          <p:nvPr/>
        </p:nvSpPr>
        <p:spPr>
          <a:xfrm>
            <a:off x="1691640" y="1901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陳冠友</a:t>
            </a:r>
            <a:endParaRPr lang="zh-TW" sz="2400" dirty="0"/>
          </a:p>
        </p:txBody>
      </p:sp>
      <p:sp>
        <p:nvSpPr>
          <p:cNvPr id="9" name="text-586"/>
          <p:cNvSpPr txBox="1"/>
          <p:nvPr/>
        </p:nvSpPr>
        <p:spPr>
          <a:xfrm>
            <a:off x="169164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bg2"/>
                </a:solidFill>
              </a:rPr>
              <a:t>S11259039 · 隊長</a:t>
            </a:r>
            <a:endParaRPr lang="zh-TW" sz="1300" dirty="0"/>
          </a:p>
        </p:txBody>
      </p:sp>
      <p:sp>
        <p:nvSpPr>
          <p:cNvPr id="10" name="text-587"/>
          <p:cNvSpPr txBox="1"/>
          <p:nvPr/>
        </p:nvSpPr>
        <p:spPr>
          <a:xfrm>
            <a:off x="86868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建議主講</a:t>
            </a:r>
            <a:endParaRPr lang="zh-TW" sz="1300" dirty="0"/>
          </a:p>
        </p:txBody>
      </p:sp>
      <p:sp>
        <p:nvSpPr>
          <p:cNvPr id="11" name="text-588"/>
          <p:cNvSpPr txBox="1"/>
          <p:nvPr/>
        </p:nvSpPr>
        <p:spPr>
          <a:xfrm>
            <a:off x="868680" y="3072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後端、工具確認、Session 記憶與 PDF 預檢示範</a:t>
            </a:r>
            <a:endParaRPr lang="zh-TW" sz="1600" dirty="0"/>
          </a:p>
        </p:txBody>
      </p:sp>
      <p:sp>
        <p:nvSpPr>
          <p:cNvPr id="12" name="member-card-589"/>
          <p:cNvSpPr/>
          <p:nvPr/>
        </p:nvSpPr>
        <p:spPr>
          <a:xfrm>
            <a:off x="6245352" y="1645920"/>
            <a:ext cx="5394960" cy="2057400"/>
          </a:xfrm>
          <a:prstGeom prst="roundRect">
            <a:avLst>
              <a:gd name="adj" fmla="val 4444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3" name="icon-bg-590"/>
          <p:cNvSpPr/>
          <p:nvPr/>
        </p:nvSpPr>
        <p:spPr>
          <a:xfrm>
            <a:off x="6565392" y="1920240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con-591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233" y="2065081"/>
            <a:ext cx="313822" cy="313822"/>
          </a:xfrm>
          <a:prstGeom prst="rect">
            <a:avLst/>
          </a:prstGeom>
        </p:spPr>
      </p:pic>
      <p:sp>
        <p:nvSpPr>
          <p:cNvPr id="15" name="text-592"/>
          <p:cNvSpPr txBox="1"/>
          <p:nvPr/>
        </p:nvSpPr>
        <p:spPr>
          <a:xfrm>
            <a:off x="7388352" y="190195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400" b="1" dirty="0">
                <a:solidFill>
                  <a:schemeClr val="bg1"/>
                </a:solidFill>
              </a:rPr>
              <a:t>林崇瑋</a:t>
            </a:r>
            <a:endParaRPr lang="zh-TW" sz="2400" dirty="0"/>
          </a:p>
        </p:txBody>
      </p:sp>
      <p:sp>
        <p:nvSpPr>
          <p:cNvPr id="16" name="text-593"/>
          <p:cNvSpPr txBox="1"/>
          <p:nvPr/>
        </p:nvSpPr>
        <p:spPr>
          <a:xfrm>
            <a:off x="7388352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dirty="0">
                <a:solidFill>
                  <a:schemeClr val="bg2"/>
                </a:solidFill>
              </a:rPr>
              <a:t>S11259031 · 隊員</a:t>
            </a:r>
            <a:endParaRPr lang="zh-TW" sz="1300" dirty="0"/>
          </a:p>
        </p:txBody>
      </p:sp>
      <p:sp>
        <p:nvSpPr>
          <p:cNvPr id="17" name="text-594"/>
          <p:cNvSpPr txBox="1"/>
          <p:nvPr/>
        </p:nvSpPr>
        <p:spPr>
          <a:xfrm>
            <a:off x="6565392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建議主講</a:t>
            </a:r>
            <a:endParaRPr lang="zh-TW" sz="1300" dirty="0"/>
          </a:p>
        </p:txBody>
      </p:sp>
      <p:sp>
        <p:nvSpPr>
          <p:cNvPr id="18" name="text-595"/>
          <p:cNvSpPr txBox="1"/>
          <p:nvPr/>
        </p:nvSpPr>
        <p:spPr>
          <a:xfrm>
            <a:off x="6565392" y="3072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600" dirty="0">
                <a:solidFill>
                  <a:schemeClr val="bg1"/>
                </a:solidFill>
              </a:rPr>
              <a:t>使用情境、來源引用、測試與失敗分析</a:t>
            </a:r>
            <a:endParaRPr lang="zh-TW" sz="1600" dirty="0"/>
          </a:p>
        </p:txBody>
      </p:sp>
      <p:sp>
        <p:nvSpPr>
          <p:cNvPr id="19" name="text-596"/>
          <p:cNvSpPr txBox="1"/>
          <p:nvPr/>
        </p:nvSpPr>
        <p:spPr>
          <a:xfrm>
            <a:off x="548640" y="3931920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chemeClr val="accent1"/>
                </a:solidFill>
              </a:rPr>
              <a:t>以上是建議分工，實際貢獻待兩位確認；開發、測試與簡報製作有使用 AI 工具（Codex、Claude）協助。</a:t>
            </a:r>
            <a:endParaRPr lang="zh-TW" sz="1400" dirty="0"/>
          </a:p>
        </p:txBody>
      </p:sp>
      <p:sp>
        <p:nvSpPr>
          <p:cNvPr id="20" name="time-seg-597"/>
          <p:cNvSpPr/>
          <p:nvPr/>
        </p:nvSpPr>
        <p:spPr>
          <a:xfrm>
            <a:off x="548640" y="4617720"/>
            <a:ext cx="7700162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-598"/>
          <p:cNvSpPr txBox="1"/>
          <p:nvPr/>
        </p:nvSpPr>
        <p:spPr>
          <a:xfrm>
            <a:off x="685800" y="4617720"/>
            <a:ext cx="75172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2"/>
                </a:solidFill>
              </a:rPr>
              <a:t>簡報＋示範 14 分鐘</a:t>
            </a:r>
            <a:endParaRPr lang="zh-TW" sz="1500" dirty="0"/>
          </a:p>
        </p:txBody>
      </p:sp>
      <p:sp>
        <p:nvSpPr>
          <p:cNvPr id="22" name="time-seg-599"/>
          <p:cNvSpPr/>
          <p:nvPr/>
        </p:nvSpPr>
        <p:spPr>
          <a:xfrm>
            <a:off x="8294522" y="4617720"/>
            <a:ext cx="2750058" cy="566928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3" name="text-600"/>
          <p:cNvSpPr txBox="1"/>
          <p:nvPr/>
        </p:nvSpPr>
        <p:spPr>
          <a:xfrm>
            <a:off x="8431682" y="4617720"/>
            <a:ext cx="25671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1500" b="1" dirty="0">
                <a:solidFill>
                  <a:schemeClr val="tx2"/>
                </a:solidFill>
              </a:rPr>
              <a:t>問答 5 分鐘</a:t>
            </a:r>
            <a:endParaRPr lang="zh-TW" sz="1500" dirty="0"/>
          </a:p>
        </p:txBody>
      </p:sp>
      <p:sp>
        <p:nvSpPr>
          <p:cNvPr id="24" name="time-seg-601"/>
          <p:cNvSpPr/>
          <p:nvPr/>
        </p:nvSpPr>
        <p:spPr>
          <a:xfrm>
            <a:off x="11090300" y="4617720"/>
            <a:ext cx="550012" cy="56692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5" name="text-602"/>
          <p:cNvSpPr txBox="1"/>
          <p:nvPr/>
        </p:nvSpPr>
        <p:spPr>
          <a:xfrm>
            <a:off x="11090300" y="4617720"/>
            <a:ext cx="5500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緩衝</a:t>
            </a:r>
            <a:endParaRPr lang="zh-TW" sz="1200" dirty="0"/>
          </a:p>
        </p:txBody>
      </p:sp>
      <p:sp>
        <p:nvSpPr>
          <p:cNvPr id="26" name="text-603"/>
          <p:cNvSpPr txBox="1"/>
          <p:nvPr/>
        </p:nvSpPr>
        <p:spPr>
          <a:xfrm>
            <a:off x="9811512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bg2"/>
                </a:solidFill>
              </a:rPr>
              <a:t>共 20 分鐘</a:t>
            </a:r>
            <a:endParaRPr lang="zh-TW" sz="1200" dirty="0"/>
          </a:p>
        </p:txBody>
      </p:sp>
      <p:sp>
        <p:nvSpPr>
          <p:cNvPr id="27" name="text-604"/>
          <p:cNvSpPr txBox="1"/>
          <p:nvPr/>
        </p:nvSpPr>
        <p:spPr>
          <a:xfrm>
            <a:off x="548640" y="5440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600" b="1" dirty="0">
                <a:solidFill>
                  <a:schemeClr val="bg1"/>
                </a:solidFill>
              </a:rPr>
              <a:t>謝謝，歡迎提問</a:t>
            </a:r>
            <a:endParaRPr lang="zh-TW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02 Ink and Status">
  <a:themeElements>
    <a:clrScheme name="Team02 Ink and Status">
      <a:dk1>
        <a:srgbClr val="1A2233"/>
      </a:dk1>
      <a:lt1>
        <a:srgbClr val="FFFFFF"/>
      </a:lt1>
      <a:dk2>
        <a:srgbClr val="1F2D4A"/>
      </a:dk2>
      <a:lt2>
        <a:srgbClr val="EEF2F7"/>
      </a:lt2>
      <a:accent1>
        <a:srgbClr val="F5C542"/>
      </a:accent1>
      <a:accent2>
        <a:srgbClr val="1E8A5A"/>
      </a:accent2>
      <a:accent3>
        <a:srgbClr val="C25E12"/>
      </a:accent3>
      <a:accent4>
        <a:srgbClr val="3D6BB3"/>
      </a:accent4>
      <a:accent5>
        <a:srgbClr val="C73541"/>
      </a:accent5>
      <a:accent6>
        <a:srgbClr val="66768C"/>
      </a:accent6>
      <a:hlink>
        <a:srgbClr val="3D6BB3"/>
      </a:hlink>
      <a:folHlink>
        <a:srgbClr val="66768C"/>
      </a:folHlink>
    </a:clrScheme>
    <a:fontScheme name="Team02 Ink and Status">
      <a:majorFont>
        <a:latin typeface="PingFang TC"/>
        <a:ea typeface="PingFang TC"/>
        <a:cs typeface=""/>
        <a:font script="Jpan" typeface="游ゴシック Light"/>
        <a:font script="Hang" typeface="맑은 고딕"/>
        <a:font script="Hans" typeface="等线 Light"/>
        <a:font script="Hant" typeface="PingFang T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TC"/>
        <a:ea typeface="PingFang TC"/>
        <a:cs typeface=""/>
        <a:font script="Jpan" typeface="游ゴシック"/>
        <a:font script="Hang" typeface="맑은 고딕"/>
        <a:font script="Hans" typeface="等线"/>
        <a:font script="Hant" typeface="PingFang T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作業規格與缺漏檢查助手：階段成果檢視（v2）</dc:title>
  <dc:subject>PptxGenJS Presentation</dc:subject>
  <dc:creator>第 02 組</dc:creator>
  <cp:lastModifiedBy>第 02 組</cp:lastModifiedBy>
  <cp:revision>1</cp:revision>
  <dcterms:created xsi:type="dcterms:W3CDTF">2026-10-29T18:07:38Z</dcterms:created>
  <dcterms:modified xsi:type="dcterms:W3CDTF">2026-10-29T18:07:38Z</dcterms:modified>
</cp:coreProperties>
</file>