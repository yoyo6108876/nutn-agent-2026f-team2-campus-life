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03e6c783ec48f3" /><Relationship Type="http://schemas.openxmlformats.org/officeDocument/2006/relationships/extended-properties" Target="/docProps/app.xml" Id="Ra60610dea243498d" /><Relationship Type="http://schemas.openxmlformats.org/officeDocument/2006/relationships/officeDocument" Target="/ppt/presentation.xml" Id="R3fde1eee29df43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8044a329ba43b3"/>
  </p:sldMasterIdLst>
  <p:notesMasterIdLst>
    <p:notesMasterId xmlns:r="http://schemas.openxmlformats.org/officeDocument/2006/relationships" r:id="R21e3e397d8984278"/>
  </p:notesMasterIdLst>
  <p:sldIdLst>
    <p:sldId xmlns:r="http://schemas.openxmlformats.org/officeDocument/2006/relationships" id="256" r:id="R405db4d05ae94a16"/>
    <p:sldId xmlns:r="http://schemas.openxmlformats.org/officeDocument/2006/relationships" id="257" r:id="R589370a0c34a4a05"/>
    <p:sldId xmlns:r="http://schemas.openxmlformats.org/officeDocument/2006/relationships" id="258" r:id="R97179a1e6ff24b56"/>
    <p:sldId xmlns:r="http://schemas.openxmlformats.org/officeDocument/2006/relationships" id="259" r:id="Rf2db76cfa687413d"/>
    <p:sldId xmlns:r="http://schemas.openxmlformats.org/officeDocument/2006/relationships" id="260" r:id="R28a9d09021d248ac"/>
    <p:sldId xmlns:r="http://schemas.openxmlformats.org/officeDocument/2006/relationships" id="261" r:id="R3fa665471f424cfe"/>
    <p:sldId xmlns:r="http://schemas.openxmlformats.org/officeDocument/2006/relationships" id="262" r:id="R87ca81849f604e4a"/>
    <p:sldId xmlns:r="http://schemas.openxmlformats.org/officeDocument/2006/relationships" id="263" r:id="Rbafb79d27ee24b0c"/>
    <p:sldId xmlns:r="http://schemas.openxmlformats.org/officeDocument/2006/relationships" id="264" r:id="R387f25c933954b57"/>
    <p:sldId xmlns:r="http://schemas.openxmlformats.org/officeDocument/2006/relationships" id="265" r:id="Rc52732088aef42e6"/>
    <p:sldId xmlns:r="http://schemas.openxmlformats.org/officeDocument/2006/relationships" id="266" r:id="R1a326e6b42d54d6b"/>
    <p:sldId xmlns:r="http://schemas.openxmlformats.org/officeDocument/2006/relationships" id="267" r:id="R73ab352b16fb4166"/>
    <p:sldId xmlns:r="http://schemas.openxmlformats.org/officeDocument/2006/relationships" id="268" r:id="Rf81879e4248a42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d1bfdede194833" /><Relationship Type="http://schemas.openxmlformats.org/officeDocument/2006/relationships/slideMaster" Target="/ppt/slideMasters/slideMaster1.xml" Id="R018044a329ba43b3" /><Relationship Type="http://schemas.openxmlformats.org/officeDocument/2006/relationships/notesMaster" Target="/ppt/notesMasters/notesMaster1.xml" Id="R21e3e397d8984278" /><Relationship Type="http://schemas.openxmlformats.org/officeDocument/2006/relationships/presProps" Target="/ppt/presProps.xml" Id="R3cd3d007c35c4e6f" /><Relationship Type="http://schemas.openxmlformats.org/officeDocument/2006/relationships/tableStyles" Target="/ppt/tableStyles.xml" Id="R533d608147a74298" /><Relationship Type="http://schemas.openxmlformats.org/officeDocument/2006/relationships/slide" Target="/ppt/slides/slide1.xml" Id="R405db4d05ae94a16" /><Relationship Type="http://schemas.openxmlformats.org/officeDocument/2006/relationships/slide" Target="/ppt/slides/slide2.xml" Id="R589370a0c34a4a05" /><Relationship Type="http://schemas.openxmlformats.org/officeDocument/2006/relationships/slide" Target="/ppt/slides/slide3.xml" Id="R97179a1e6ff24b56" /><Relationship Type="http://schemas.openxmlformats.org/officeDocument/2006/relationships/slide" Target="/ppt/slides/slide4.xml" Id="Rf2db76cfa687413d" /><Relationship Type="http://schemas.openxmlformats.org/officeDocument/2006/relationships/slide" Target="/ppt/slides/slide5.xml" Id="R28a9d09021d248ac" /><Relationship Type="http://schemas.openxmlformats.org/officeDocument/2006/relationships/slide" Target="/ppt/slides/slide6.xml" Id="R3fa665471f424cfe" /><Relationship Type="http://schemas.openxmlformats.org/officeDocument/2006/relationships/slide" Target="/ppt/slides/slide7.xml" Id="R87ca81849f604e4a" /><Relationship Type="http://schemas.openxmlformats.org/officeDocument/2006/relationships/slide" Target="/ppt/slides/slide8.xml" Id="Rbafb79d27ee24b0c" /><Relationship Type="http://schemas.openxmlformats.org/officeDocument/2006/relationships/slide" Target="/ppt/slides/slide9.xml" Id="R387f25c933954b57" /><Relationship Type="http://schemas.openxmlformats.org/officeDocument/2006/relationships/slide" Target="/ppt/slides/slide10.xml" Id="Rc52732088aef42e6" /><Relationship Type="http://schemas.openxmlformats.org/officeDocument/2006/relationships/slide" Target="/ppt/slides/slide11.xml" Id="R1a326e6b42d54d6b" /><Relationship Type="http://schemas.openxmlformats.org/officeDocument/2006/relationships/slide" Target="/ppt/slides/slide12.xml" Id="R73ab352b16fb4166" /><Relationship Type="http://schemas.openxmlformats.org/officeDocument/2006/relationships/slide" Target="/ppt/slides/slide13.xml" Id="Rf81879e4248a42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3f1250557244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TC"/>
        <a:ea typeface=""/>
        <a:cs typeface=""/>
      </a:majorFont>
      <a:minorFont>
        <a:latin typeface="PingFang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8f15c468d54e18" /><Relationship Type="http://schemas.openxmlformats.org/officeDocument/2006/relationships/notesMaster" Target="/ppt/notesMasters/notesMaster1.xml" Id="Rfb72d1a9b40b43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db63e87468446b" /><Relationship Type="http://schemas.openxmlformats.org/officeDocument/2006/relationships/notesMaster" Target="/ppt/notesMasters/notesMaster1.xml" Id="Rd2086a3667aa4d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8dc3a40d194797" /><Relationship Type="http://schemas.openxmlformats.org/officeDocument/2006/relationships/notesMaster" Target="/ppt/notesMasters/notesMaster1.xml" Id="R83268c13c2f44a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70b86b24914a8e" /><Relationship Type="http://schemas.openxmlformats.org/officeDocument/2006/relationships/notesMaster" Target="/ppt/notesMasters/notesMaster1.xml" Id="R6fbb093f44ac47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a5417f72234875" /><Relationship Type="http://schemas.openxmlformats.org/officeDocument/2006/relationships/notesMaster" Target="/ppt/notesMasters/notesMaster1.xml" Id="R7867532a345c49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3b3c6aaf0f45a6" /><Relationship Type="http://schemas.openxmlformats.org/officeDocument/2006/relationships/notesMaster" Target="/ppt/notesMasters/notesMaster1.xml" Id="R212c107517fb4a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8efa92bd454608" /><Relationship Type="http://schemas.openxmlformats.org/officeDocument/2006/relationships/notesMaster" Target="/ppt/notesMasters/notesMaster1.xml" Id="Rbf27fec109b745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d487ed97254039" /><Relationship Type="http://schemas.openxmlformats.org/officeDocument/2006/relationships/notesMaster" Target="/ppt/notesMasters/notesMaster1.xml" Id="Rb0aacd63eb5947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16dfde75764d50" /><Relationship Type="http://schemas.openxmlformats.org/officeDocument/2006/relationships/notesMaster" Target="/ppt/notesMasters/notesMaster1.xml" Id="Rd495094b500849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8c135f23b54011" /><Relationship Type="http://schemas.openxmlformats.org/officeDocument/2006/relationships/notesMaster" Target="/ppt/notesMasters/notesMaster1.xml" Id="Rc40eaa8b2d2b49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2b706f0b4e44fa" /><Relationship Type="http://schemas.openxmlformats.org/officeDocument/2006/relationships/notesMaster" Target="/ppt/notesMasters/notesMaster1.xml" Id="R9a0fd0c4f21c45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22c4b7b7be49a1" /><Relationship Type="http://schemas.openxmlformats.org/officeDocument/2006/relationships/notesMaster" Target="/ppt/notesMasters/notesMaster1.xml" Id="Rfb145263e77045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c7f0fa4ea74d4c" /><Relationship Type="http://schemas.openxmlformats.org/officeDocument/2006/relationships/notesMaster" Target="/ppt/notesMasters/notesMaster1.xml" Id="Re79b9320074341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秒。說明題目與團隊，這是可驗證的階段原型。受測程式 6a5bc9b，資料為合成。請勿稱為完整自動批改或正式校園服務。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秒。目標使用者為南大學生與教師。老師先確認必做項，學生貼入去識別文字。例子是同義內容與只有部分失敗描述的差異。完整學生到老師通知流程仍是願景，現有畫面在系統內呈現。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秒。單次語意比對本身不需要 Agent。只有接上查報告、提案、等待確認、回填結果才有 Agent 流程價值。本版模型在受限工具集合中產生 call，Host 控制允許序列，不是自由規劃。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 秒。上方為補件工具流程，下方是資料流。API 先驗證 cookie/session，OpenAI 提出 call，Host 驗證後用 MCP stdio 查既有報告。寫工具在本機 Host 等確認才寫 SQLite，再回填模型。Session 只提供背景，不能授權寫入。文字比對使用另一個端點。原生架構圖可編輯。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秒。可指向 contracts.py 的 Pydantic schema。create_revision_draft 在模型階段只是提案，confirmed 與 request_id 不由模型提供。確認後 Host 綁定 run ID 寫入。非法參數、工具順序不符、引用不足立即停止；可重試服務錯誤最多兩次，模型最多三輪，提案十分鐘到期。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秒。各週是累積成果，不宣稱每週全部符合課程。Week3 教師費率案例缺原文；Week4/5 歷史驗證分別107/131項，本次總回歸148。Week6沒有提供資料。PDF解析、平台與通知都未實作。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秒。引用 Lecture07 第8頁/投影片84。保留一筆4096bytes以下成功摘要，無原文、自由指令、草稿ID、先前同意。新Session、跨user、來源hash更新都排除舊摘要。稽核與交易仍保留，不稱全部資料刪除。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2分鐘。打開/week7，開始合成A，GPT模式準備補件清單。指出三個引用項目和未寫入狀態，再按確認、看收據與LIVE_PASS。展示trace的function_call、tool_validated、tool_result_returned、summary_verified。若API失敗用01/02截圖，須說是2026-10-28錄製畫面，不能稱現場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1分鐘。切文字語意比對，老師規格要求使用者情境與完整失敗案例，確認必做項後呼叫GPT。結果R1met/R2partial，引用均核對。這是真實模型生成判斷，和工具流程的預先撰寫快照不同，尚未串接。模型建議的原因仍須學生查證，不能照抄當作真實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秒。17項新測試。8個離線runner案例符合預期。C01配對真實未全過，下一頁解釋。C02是伺服器權限驗證，不是LLM成功次數。C06來源更新、C07/C08為明確標示離線/故障注入。再用30秒清除Session指memory:null，總demo約3.5分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秒。基線和候選同輸入、同模型、同來源，初始空狀態。基線讀後直接回答，Host擋下UNEXPECTED_TOOL_SEQUENCE且未寫。候選完成。這個樣本不能得出記憶提升成功率，且成本終點不同不能比優劣。Gemini未做，不得用OpenAI替代課程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秒。把最大缺口放最前。已實作尚未做真實服務驗證：來源v2配合GPT；正式認證未實作不能列這欄。確認有範例必做要求和引用才轉成不可變review快照。先驗收至少20組和一條上傳到通知的本機完整路徑，外部通知另行授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秒。以下均建議，實際貢獻尚待兩位確認，不可朗讀成已完成事項。程式、測試與文件使用Codex協助。兩位須自行跑案例並解釋主要流程。報告13張約10.5分鐘加demo3.5分鐘，Q&amp;A5分鐘，1分鐘緩衝。分工與口試題見team-progress.md與speaker-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24fcf0f6348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6c67c6e374e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40ab0fe2341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bdbe2d90a40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bb3d379d24b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8fc7aab5c94a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800DE7-8122-4009-9C13-3773FAE1A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E77BB2-231D-49F2-B75A-2DB59BF8C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8AEDE73-ACDE-45FD-9646-B1F45882C0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5F076B-2D49-48D0-855B-5B94E0FDFE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C3033D-24E0-4083-9F49-33112F1678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961AFC-29B2-42F3-81F0-56D24B658C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A27921-C3E4-468D-9CC7-E8879737DC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B53AB5-9643-430B-ABF3-D480A3620D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627F41-00E4-4A1E-9598-81F7898FF1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9D6264-BAD2-445E-B5DF-97AA600C82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1288ef034546d3" /><Relationship Type="http://schemas.openxmlformats.org/officeDocument/2006/relationships/slideLayout" Target="/ppt/slideLayouts/slideLayout1.xml" Id="Rafba1673c36545b8" /><Relationship Type="http://schemas.openxmlformats.org/officeDocument/2006/relationships/slideLayout" Target="/ppt/slideLayouts/slideLayout2.xml" Id="R4c43807affca4d29" /><Relationship Type="http://schemas.openxmlformats.org/officeDocument/2006/relationships/slideLayout" Target="/ppt/slideLayouts/slideLayout3.xml" Id="Rcb21c6b57878467b" /><Relationship Type="http://schemas.openxmlformats.org/officeDocument/2006/relationships/slideLayout" Target="/ppt/slideLayouts/slideLayout4.xml" Id="Rcf6ac9c32e164f53" /><Relationship Type="http://schemas.openxmlformats.org/officeDocument/2006/relationships/slideLayout" Target="/ppt/slideLayouts/slideLayout5.xml" Id="Rdde701b36c814586" /><Relationship Type="http://schemas.openxmlformats.org/officeDocument/2006/relationships/slideLayout" Target="/ppt/slideLayouts/slideLayout6.xml" Id="Rd51a609e358d45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ba1673c36545b8"/>
    <p:sldLayoutId xmlns:r="http://schemas.openxmlformats.org/officeDocument/2006/relationships" id="2147483650" r:id="R4c43807affca4d29"/>
    <p:sldLayoutId xmlns:r="http://schemas.openxmlformats.org/officeDocument/2006/relationships" id="2147483651" r:id="Rcb21c6b57878467b"/>
    <p:sldLayoutId xmlns:r="http://schemas.openxmlformats.org/officeDocument/2006/relationships" id="2147483652" r:id="Rcf6ac9c32e164f53"/>
    <p:sldLayoutId xmlns:r="http://schemas.openxmlformats.org/officeDocument/2006/relationships" id="2147483653" r:id="Rdde701b36c814586"/>
    <p:sldLayoutId xmlns:r="http://schemas.openxmlformats.org/officeDocument/2006/relationships" id="2147483654" r:id="Rd51a609e358d45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TC"/>
        <a:ea typeface=""/>
        <a:cs typeface=""/>
      </a:majorFont>
      <a:minorFont>
        <a:latin typeface="PingFang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490bc8cbb48d3" /><Relationship Type="http://schemas.openxmlformats.org/officeDocument/2006/relationships/notesSlide" Target="/ppt/notesSlides/notesSlide1.xml" Id="R6095054e44ac46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f7d5d8f542448e" /><Relationship Type="http://schemas.openxmlformats.org/officeDocument/2006/relationships/notesSlide" Target="/ppt/notesSlides/notesSlide2.xml" Id="R501db1c6077442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553b272d72481e" /><Relationship Type="http://schemas.openxmlformats.org/officeDocument/2006/relationships/notesSlide" Target="/ppt/notesSlides/notesSlide3.xml" Id="R65fdbbd765c442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546aaf5e64672" /><Relationship Type="http://schemas.openxmlformats.org/officeDocument/2006/relationships/notesSlide" Target="/ppt/notesSlides/notesSlide4.xml" Id="Rf78646803d094e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d3f3d01144435f" /><Relationship Type="http://schemas.openxmlformats.org/officeDocument/2006/relationships/notesSlide" Target="/ppt/notesSlides/notesSlide5.xml" Id="R3138718ec2404c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9f5ec235b4ee2" /><Relationship Type="http://schemas.openxmlformats.org/officeDocument/2006/relationships/notesSlide" Target="/ppt/notesSlides/notesSlide6.xml" Id="Rec9c897779d744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11e156af0d4e27" /><Relationship Type="http://schemas.openxmlformats.org/officeDocument/2006/relationships/notesSlide" Target="/ppt/notesSlides/notesSlide7.xml" Id="Rd050c66cdcc549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1917e9b3a4399" /><Relationship Type="http://schemas.openxmlformats.org/officeDocument/2006/relationships/image" Target="/ppt/media/image.jpeg" Id="R38b252fbd93743b6" /><Relationship Type="http://schemas.openxmlformats.org/officeDocument/2006/relationships/notesSlide" Target="/ppt/notesSlides/notesSlide8.xml" Id="Rb9a5b49cf7b447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99ff5ba9e4578" /><Relationship Type="http://schemas.openxmlformats.org/officeDocument/2006/relationships/image" Target="/ppt/media/image2.jpeg" Id="R4c92830122454aec" /><Relationship Type="http://schemas.openxmlformats.org/officeDocument/2006/relationships/notesSlide" Target="/ppt/notesSlides/notesSlide9.xml" Id="Re56fa2e71c684c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494fd7e884710" /><Relationship Type="http://schemas.openxmlformats.org/officeDocument/2006/relationships/notesSlide" Target="/ppt/notesSlides/notesSlide10.xml" Id="Ra81efed26ac74e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85f81d6384093" /><Relationship Type="http://schemas.openxmlformats.org/officeDocument/2006/relationships/notesSlide" Target="/ppt/notesSlides/notesSlide11.xml" Id="R190ef772754644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d5673663f4b13" /><Relationship Type="http://schemas.openxmlformats.org/officeDocument/2006/relationships/notesSlide" Target="/ppt/notesSlides/notesSlide12.xml" Id="Rf549dcf0ee5241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1f7cfd7d24057" /><Relationship Type="http://schemas.openxmlformats.org/officeDocument/2006/relationships/notesSlide" Target="/ppt/notesSlides/notesSlide13.xml" Id="R7a1dd2f3f1b540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4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E697F-7C3F-4DB0-A919-A185FFBD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階段性成果檢視  ·  WEEKS 01–07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500F7-95A7-4668-B153-BFC43B52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作業規格與缺漏檢查助手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FD037-C780-4378-B420-2DE3B3DA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 02 組    2026-10-28    程式 6a5bc9b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F02CD-0D4E-42AB-BD53-0C30BC82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37635-0D1F-43A0-9F11-9369248D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6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6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6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6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6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6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6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6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6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6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以教師範例為參考，指出已完成、需補件與待確認內容。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8300D-C9ED-462A-B06B-AF273677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9D6C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250" b="1">
                <a:solidFill>
                  <a:srgbClr val="A9D6C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250" b="1">
                <a:solidFill>
                  <a:srgbClr val="A9D6C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250" b="1">
                <a:solidFill>
                  <a:srgbClr val="A9D6C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250" b="1">
                <a:solidFill>
                  <a:srgbClr val="A9D6C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250" b="1">
                <a:solidFill>
                  <a:srgbClr val="A9D6C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250" b="1">
                <a:solidFill>
                  <a:srgbClr val="A9D6C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250" b="1">
                <a:solidFill>
                  <a:srgbClr val="A9D6C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250" b="1">
                <a:solidFill>
                  <a:srgbClr val="A9D6C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250" b="1">
                <a:solidFill>
                  <a:srgbClr val="A9D6C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9D6C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A9D6CA"/>
                </a:solidFill>
                <a:latin typeface="PingFang TC"/>
                <a:ea typeface="PingFang TC"/>
                <a:cs typeface="PingFang TC"/>
              </a:rPr>
              <a:t>第 02 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E4751-C14C-4BE2-8FE3-2078608E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陳冠友 S11259039（隊長）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林崇偉 S11259031（隊員）</a:t>
            </a:r>
          </a:p>
        </p:txBody>
      </p:sp>
    </p:spTree>
    <p:extLst>
      <p:ext uri="{BB962C8B-B14F-4D97-AF65-F5344CB8AC3E}">
        <p14:creationId xmlns:p14="http://schemas.microsoft.com/office/powerpoint/2010/main" val="21284031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AB138-327F-4A1F-8A62-558CBB60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問題與使用情境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1469B-B833-496A-A9A0-D11D2FFE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學生交作業前，先知道少了哪一段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C01F3-455F-4C05-BA46-4849D0A2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第 02 組    2026-10-28    程式 6a5bc9b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C42AA-7EC0-466E-A666-35DA55F4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02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9710D-1C39-41A4-9469-CC207D94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使用情境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FDAD1-14E0-425F-8AF5-30B29E7E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老師給範例與已確認要求，學生交報告前先檢查。</a:t>
            </a:r>
          </a:p>
          <a:p xmlns:a="http://schemas.openxmlformats.org/drawingml/2006/main">
            <a: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學生看補件建議，老師看有引用依據的待確認摘要。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C7FBD-2AA3-4201-8C1C-8CC9631980DD}"/>
              </a:ext>
            </a:extLst>
          </p:cNvPr>
          <p:cNvGraphicFramePr/>
          <p:nvPr/>
        </p:nvGraphicFramePr>
        <p:xfrm>
          <a:off xmlns:a="http://schemas.openxmlformats.org/drawingml/2006/main" x="571500" y="3714750"/>
          <a:ext xmlns:a="http://schemas.openxmlformats.org/drawingml/2006/main" cx="11049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4857750"/>
              </a:tblGrid>
              <a:tr h="547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學生內容</a:t>
                      </a:r>
                    </a:p>
                  </a:txBody>
                  <a:tcPr marL="133350" marR="133350" marT="95250" marB="95250">
                    <a:solidFill>
                      <a:srgbClr val="15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應有判斷</a:t>
                      </a:r>
                    </a:p>
                  </a:txBody>
                  <a:tcPr marL="133350" marR="133350" marT="95250" marB="95250">
                    <a:solidFill>
                      <a:srgbClr val="153449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「誰會用」描述南大同學與補件需求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語意符合，不能只因標題不同就判缺交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失敗案例只有輸入與結果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標示需補件：缺少失敗原因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說「附錄另交」，但目前讀不到檔案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標示待確認，交由老師核對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0789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23B5E-3D58-41A4-A370-A5A95BBB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設計理由與責任邊界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CFFC-7682-45EC-AC50-E1A35BEC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LLM 判讀語意，Agent 管理後續動作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A86A4-C314-4E9E-8425-05B3486A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第 02 組    2026-10-28    程式 6a5bc9b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8FF22-1668-43D7-A391-3F37C954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03 / 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31078-597E-434B-BFFF-2C7A7AF5E1B2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5524500"/>
              </a:tblGrid>
              <a:tr h="6905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由模型處理</a:t>
                      </a:r>
                    </a:p>
                  </a:txBody>
                  <a:tcPr marL="133350" marR="133350" marT="95250" marB="95250">
                    <a:solidFill>
                      <a:srgbClr val="15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由一般程式處理</a:t>
                      </a:r>
                    </a:p>
                  </a:txBody>
                  <a:tcPr marL="133350" marR="133350" marT="95250" marB="95250">
                    <a:solidFill>
                      <a:srgbClr val="153449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理解換句話說與內容是否充分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欄位、字數、版本與要求覆蓋驗證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提出工具名稱與型別化參數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檢索、原文引用、權限與人工確認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根據工具回填整理缺漏摘要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SQLite 交易、同 ID 冪等與停止條件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38BF9-03DC-424C-982C-4C3D544E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Agent 的必要性來自「查詢後提案、確認後執行」的任務流程。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7B7C6-7F46-4BEC-BFA0-67D1E9FC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483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目前兩條流程已各別運作，任意文字比對尚未接入草稿工具。</a:t>
            </a:r>
          </a:p>
        </p:txBody>
      </p:sp>
    </p:spTree>
    <p:extLst>
      <p:ext uri="{BB962C8B-B14F-4D97-AF65-F5344CB8AC3E}">
        <p14:creationId xmlns:p14="http://schemas.microsoft.com/office/powerpoint/2010/main" val="12062056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3B189-74A4-42FF-953F-EE039B9A47F0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3429000" y="4000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B5A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0A5ED-6C79-41DF-9A6C-78ACF7D37C1F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9429750" y="2762250"/>
            <a:ext cx="1190625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B5A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93E36-A712-42F8-B447-D03A1D33B547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5334000" y="2762250"/>
            <a:ext cx="5286375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66B5A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941FF-E43A-45BC-84DD-B0549BE0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系統架構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C5275-8125-46DE-B465-BE0E58C6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後端控制來源、記憶與寫入邊界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0529F-2ABE-4D4E-970C-6E2E9B1F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第 02 組    2026-10-28    程式 6a5bc9b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FA9BB-8BA1-42A0-8DD4-39A963BA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04 /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74790-EC79-4DCF-A572-ED477E18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166B5A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瀏覽器 /week7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8B84A-2A86-4A3C-9C1B-D408A9B5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42862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B5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FD1EC-06FA-4C0E-8E72-DFE0EFA0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166B5A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FastAPI</a:t>
            </a:r>
          </a:p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身分與 Session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4EF36-E4D8-4A22-A6E5-CBA436F8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66950"/>
            <a:ext cx="42862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B5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EA43B-720F-4492-8293-5FCB2050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166B5A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OpenAI GPT</a:t>
            </a:r>
          </a:p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提出工具呼叫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577EC-90D7-4A0B-AA28-6EC3DCF7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42862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B5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F68D8-BF96-4082-8435-B256CE12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166B5A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Host</a:t>
            </a:r>
          </a:p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參數／序列驗證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F1E59-F3AC-452A-8356-F94B351C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166B5A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來源與 RAG gate</a:t>
            </a:r>
          </a:p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T1–T3 / S1–S3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D6581-4329-41EF-9375-9CC964C0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166B5A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唯讀 MCP 工具</a:t>
            </a:r>
          </a:p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既有評閱快照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D0164-DC56-46EC-9194-C724F526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438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166B5A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確認後寫入</a:t>
            </a:r>
          </a:p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本機草稿／收據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F0080-23A4-4E1D-968D-E27E36C7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工具結果回填模型，Host 核對摘要後回傳 UI。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BD72B-A8C5-49AD-A9B3-C746DF44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8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8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8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8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8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8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8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8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8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SQLite：業務交易與稽核另存；Session 僅最近成功摘要。</a:t>
            </a:r>
          </a:p>
          <a:p xmlns:a="http://schemas.openxmlformats.org/drawingml/2006/main">
            <a:pPr>
              <a:defRPr sz="18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文字比對另走 /review：教師與學生文字 → GPT → 原文引用核對。</a:t>
            </a:r>
          </a:p>
        </p:txBody>
      </p:sp>
    </p:spTree>
    <p:extLst>
      <p:ext uri="{BB962C8B-B14F-4D97-AF65-F5344CB8AC3E}">
        <p14:creationId xmlns:p14="http://schemas.microsoft.com/office/powerpoint/2010/main" val="229070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CAC9B-0D1D-48A1-B118-DCA4487D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工具介面與停止條件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B04C6-2492-4F95-AC11-C5C95A3E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兩個工具都有可驗證的輸入與輸出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56FB5-9EF6-40A0-9D46-1593F438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第 02 組    2026-10-28    程式 6a5bc9b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98E95-E115-4FB5-8CD9-B1C3C2F3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05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90001-1D55-4050-BBDE-174D4B12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get_submission_review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7DF07-A4D7-42EA-B684-354106B2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輸入：作業 ID、提交 ID、版本</a:t>
            </a:r>
          </a:p>
          <a:p xmlns:a="http://schemas.openxmlformats.org/drawingml/2006/main">
            <a: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輸出：缺漏、待確認項、引用與 hash</a:t>
            </a:r>
          </a:p>
          <a:p xmlns:a="http://schemas.openxmlformats.org/drawingml/2006/main">
            <a: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驗證：目標一致、來源有效、完整覆蓋</a:t>
            </a:r>
          </a:p>
          <a:p xmlns:a="http://schemas.openxmlformats.org/drawingml/2006/main">
            <a: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傳輸：MCP stdio，唯讀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568A4-4A0A-4F12-A49F-F7DA79BE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create_revision_draft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A9BC4-1625-4D03-BA38-1F86A877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輸入：相同目標＋requirement_ids</a:t>
            </a:r>
          </a:p>
          <a:p xmlns:a="http://schemas.openxmlformats.org/drawingml/2006/main">
            <a: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輸出：draft_id、request_id、收據</a:t>
            </a:r>
          </a:p>
          <a:p xmlns:a="http://schemas.openxmlformats.org/drawingml/2006/main">
            <a: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驗證：項目一致、使用者確認、來源未變</a:t>
            </a:r>
          </a:p>
          <a:p xmlns:a="http://schemas.openxmlformats.org/drawingml/2006/main">
            <a: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寫入：本機 SQLite，同 run ID 只一次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58A9D-9A74-47CE-83CC-67384490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最多 3 輪模型呼叫；可重試錯誤最多 2 次；提案 10 分鐘到期。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D293D-7D57-4E3D-849A-D481BA9E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資料不足、無權限或摘要不一致時停止；疑義由老師處理。</a:t>
            </a:r>
          </a:p>
        </p:txBody>
      </p:sp>
    </p:spTree>
    <p:extLst>
      <p:ext uri="{BB962C8B-B14F-4D97-AF65-F5344CB8AC3E}">
        <p14:creationId xmlns:p14="http://schemas.microsoft.com/office/powerpoint/2010/main" val="766551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44FEB-2BD4-475F-838F-D71A0056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WEEK 01–07 進度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62CDD-127D-4E9E-A94A-C9F241E0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累積成果已從單次比對走到受控工具流程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88883-0FF3-4926-ACBE-69590BE0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第 02 組    2026-10-28    程式 6a5bc9b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5B6D6-9C86-49F3-9CDF-FB51FCAE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06 / 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AF22D-164D-4564-9F47-C50115B0F25F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286375"/>
                <a:gridCol w="447675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週次</a:t>
                      </a:r>
                    </a:p>
                  </a:txBody>
                  <a:tcPr marL="133350" marR="133350" marT="95250" marB="95250">
                    <a:solidFill>
                      <a:srgbClr val="15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已完成且有證據</a:t>
                      </a:r>
                    </a:p>
                  </a:txBody>
                  <a:tcPr marL="133350" marR="133350" marT="95250" marB="95250">
                    <a:solidFill>
                      <a:srgbClr val="15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仍有缺口</a:t>
                      </a:r>
                    </a:p>
                  </a:txBody>
                  <a:tcPr marL="133350" marR="133350" marT="95250" marB="95250">
                    <a:solidFill>
                      <a:srgbClr val="15344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1–2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題目、團隊 repo、文字比對與引用核對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PDF 上傳未實作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固定資料檢索、來源卡、拒答與 trace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教師費率案例缺原文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4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MCP 讀取、確認寫入、真實 GPT 工具迴圈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課程 Gemini／ADC 未驗證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5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LangGraph 等待／接續候選與前後比較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原版仍為預設，未主張框架較好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6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未提供教材或可核對的交付證據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未列為完成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7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Session 清除、隔離、來源更新與 UI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正式登入與流程整合待做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802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46900-E132-498E-9009-42F0C676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WEEK 07  ·  路線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A2051-3595-48B2-B47A-1D73F169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清除對話後，舊摘要不再進入模型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B8680-A1EE-4644-AC64-C8827AC0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第 02 組    2026-10-28    程式 6a5bc9b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E7D9A-7406-47DF-AE11-2030DACF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07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B133A-9F60-45DB-A414-75708FDF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166B5A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成功報告</a:t>
            </a:r>
          </a:p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摘要通過核對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7901B-D0F0-4206-A2CF-D2FAE7BB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86000"/>
            <a:ext cx="4762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B5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4A26A-A51F-4395-818D-13636C1A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166B5A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本 Session</a:t>
            </a:r>
          </a:p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最近一筆摘要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5B8E8-4064-44D5-A0FD-42F01941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0"/>
            <a:ext cx="4762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B5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9BD03-C1D6-4FD1-B5B4-723C7E97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166B5A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下次模型 context</a:t>
            </a:r>
          </a:p>
          <a:p xmlns:a="http://schemas.openxmlformats.org/drawingml/2006/main">
            <a:pPr algn="ctr">
              <a:def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先核對 owner 與版本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092F6-4775-4A27-9D56-78E9555F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清除／換人／來源 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2F1B7-1633-438D-AA2D-E23F691A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新 context 回填 memory:null。舊提案失效；每次仍查最新來源。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354AF-0E47-4508-8D98-C7EFBF21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記憶與稽核分開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3756F-0F51-483F-A6FC-F24393FE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摘要不含原始學生文字或先前同意。</a:t>
            </a:r>
          </a:p>
          <a:p xmlns:a="http://schemas.openxmlformats.org/drawingml/2006/main">
            <a: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清除不會刪除既有草稿、交易與稽核紀錄。</a:t>
            </a:r>
          </a:p>
        </p:txBody>
      </p:sp>
    </p:spTree>
    <p:extLst>
      <p:ext uri="{BB962C8B-B14F-4D97-AF65-F5344CB8AC3E}">
        <p14:creationId xmlns:p14="http://schemas.microsoft.com/office/powerpoint/2010/main" val="3311469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FB99B-43C8-436D-A1D8-F146F1E3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真實介面  ·  OPENAI LIVE_PASS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EE7EF-4193-4ADB-9AA7-4F74158F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示範：確認之後才產生一份草稿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6C6D9-7CB0-4CB1-8DE4-7AB93ED9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第 02 組    2026-10-28    程式 6a5bc9b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D455E-8FEA-4E5A-A1DD-C07FFE03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08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4D314-7DBF-4378-B4B8-61FA3BA7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5810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1  使用者提出補件需求</a:t>
            </a:r>
          </a:p>
          <a:p xmlns:a="http://schemas.openxmlformats.org/drawingml/2006/main">
            <a: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2  GPT 呼叫查詢工具</a:t>
            </a:r>
          </a:p>
          <a:p xmlns:a="http://schemas.openxmlformats.org/drawingml/2006/main">
            <a: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3  驗證參數、查來源並回填</a:t>
            </a:r>
          </a:p>
          <a:p xmlns:a="http://schemas.openxmlformats.org/drawingml/2006/main">
            <a: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4  GPT 提出草稿工具</a:t>
            </a:r>
          </a:p>
          <a:p xmlns:a="http://schemas.openxmlformats.org/drawingml/2006/main">
            <a: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5  使用者確認後寫入</a:t>
            </a:r>
          </a:p>
          <a:p xmlns:a="http://schemas.openxmlformats.org/drawingml/2006/main">
            <a: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6  收據回填 GPT，核對摘要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43174-E061-4FB4-BA9B-A270D110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581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實測：completed / LIVE_PASS</a:t>
            </a:r>
          </a:p>
          <a:p xmlns:a="http://schemas.openxmlformats.org/drawingml/2006/main">
            <a:pPr>
              <a:def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草稿 1 份；同請求重送仍 1 份。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8B752-2629-4B16-9F9E-082F2CD77C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252fbd93743b6"/>
          <a:srcRect xmlns:a="http://schemas.openxmlformats.org/drawingml/2006/main" l="0" t="54000" r="0" b="6000"/>
          <a:stretch xmlns:a="http://schemas.openxmlformats.org/drawingml/2006/main"/>
        </p:blipFill>
        <p:spPr>
          <a:xfrm xmlns:a="http://schemas.openxmlformats.org/drawingml/2006/main">
            <a:off x="7048500" y="1714500"/>
            <a:ext cx="419100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655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259E3-3500-41BD-98AE-BE527E51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真實介面  ·  OPENAI LIVE_PASS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35BF7-A9B5-4618-A15A-8946746E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語意比對能看出「有寫」與「寫完整」的差別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A3646-0C64-471D-A2A6-B16600F9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第 02 組    2026-10-28    程式 6a5bc9b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98416-289F-4F09-9E6E-97181DD2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09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9E6DA-450E-4A4A-AE54-C7890CFE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4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4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4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4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4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4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4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4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4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R1：已完成</a:t>
            </a:r>
          </a:p>
          <a:p xmlns:a="http://schemas.openxmlformats.org/drawingml/2006/main">
            <a:pPr>
              <a:defRPr sz="24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「誰會用」仍表達使用者與情境。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A8047-E060-4408-927F-19FC55E1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4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4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4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4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4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4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4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4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4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996714"/>
                </a:solidFill>
                <a:latin typeface="PingFang TC"/>
                <a:ea typeface="PingFang TC"/>
                <a:cs typeface="PingFang TC"/>
              </a:rPr>
              <a:t>R2：需補件</a:t>
            </a:r>
          </a:p>
          <a:p xmlns:a="http://schemas.openxmlformats.org/drawingml/2006/main">
            <a:pPr>
              <a:defRPr sz="24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996714"/>
                </a:solidFill>
                <a:latin typeface="PingFang TC"/>
                <a:ea typeface="PingFang TC"/>
                <a:cs typeface="PingFang TC"/>
              </a:rPr>
              <a:t>有輸入、有實際結果，缺少失敗原因。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D2069-EE50-476A-9DCB-5806747C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系統核對引用確實存在，但這不保證</a:t>
            </a:r>
          </a:p>
          <a:p xmlns:a="http://schemas.openxmlformats.org/drawingml/2006/main">
            <a:pPr>
              <a:def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模型的語意判斷一定正確。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9FBE2-DE0A-413C-93AC-044FD3EE57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2830122454aec"/>
          <a:srcRect xmlns:a="http://schemas.openxmlformats.org/drawingml/2006/main" l="0" t="57000" r="0" b="20000"/>
          <a:stretch xmlns:a="http://schemas.openxmlformats.org/drawingml/2006/main"/>
        </p:blipFill>
        <p:spPr>
          <a:xfrm xmlns:a="http://schemas.openxmlformats.org/drawingml/2006/main">
            <a:off x="7048500" y="1714500"/>
            <a:ext cx="419100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90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5290E-C2B4-46D8-9F2C-49360FE6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預期與實際  ·  148 項回歸測試通過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8C6E4-8EAB-4A29-8901-DEDAEC49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測試涵蓋正常流程與清除邊界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C78F5-9DC8-4295-A2B2-702EB5C9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第 02 組    2026-10-28    程式 6a5bc9b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CB037-9A35-4FB7-B916-3602FCCD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10 / 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0AE48-1A52-4E90-80B8-96ADF4480A51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3905250"/>
                <a:gridCol w="3286125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案例／模式</a:t>
                      </a:r>
                    </a:p>
                  </a:txBody>
                  <a:tcPr marL="133350" marR="133350" marT="95250" marB="95250">
                    <a:solidFill>
                      <a:srgbClr val="15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預期</a:t>
                      </a:r>
                    </a:p>
                  </a:txBody>
                  <a:tcPr marL="133350" marR="133350" marT="95250" marB="95250">
                    <a:solidFill>
                      <a:srgbClr val="15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實際</a:t>
                      </a:r>
                    </a:p>
                  </a:txBody>
                  <a:tcPr marL="133350" marR="133350" marT="95250" marB="95250">
                    <a:solidFill>
                      <a:srgbClr val="15344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同 Session 續問 / GPT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帶入該 Session 成功摘要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PASS，有先前 run ID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清除後新查詢 / GPT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不帶舊摘要，任務仍完成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PASS，memory:null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跨 user / HTTP＋離線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不得讀寫別人的 run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PASS，RUN_NOT_FOUND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來源 v2 / 離線副本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舊摘要排除，使用新 hash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PASS，舊版摘要排除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同 ID 重送 / GPT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確認前 0、確認後與重送各 1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PASS，同一收據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非法參數、429 / 故障注入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有限停止，不新增草稿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PASS，均停止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468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B882B-B10A-42EC-967E-1DA3A413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原版／候選比較  ·  保留 LIVE_FAIL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47661-B1AF-4B58-96FC-190A02FF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一個真實失敗：模型略過了草稿提案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EF003-F370-4BA0-9571-7877042D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第 02 組    2026-10-28    程式 6a5bc9b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E435E-3BC5-4E10-AD75-2FBD5107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11 / 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C0C79-C381-4D57-A212-7A3ECDC2FB62}"/>
              </a:ext>
            </a:extLst>
          </p:cNvPr>
          <p:cNvGraphicFramePr/>
          <p:nvPr/>
        </p:nvGraphicFramePr>
        <p:xfrm>
          <a:off xmlns:a="http://schemas.openxmlformats.org/drawingml/2006/main" x="571500" y="1857375"/>
          <a:ext xmlns:a="http://schemas.openxmlformats.org/drawingml/2006/main" cx="110490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238500"/>
                <a:gridCol w="3238500"/>
              </a:tblGrid>
              <a:tr h="6000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同輸入的單次比較</a:t>
                      </a:r>
                    </a:p>
                  </a:txBody>
                  <a:tcPr marL="133350" marR="133350" marT="95250" marB="95250">
                    <a:solidFill>
                      <a:srgbClr val="15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原版</a:t>
                      </a:r>
                    </a:p>
                  </a:txBody>
                  <a:tcPr marL="133350" marR="133350" marT="95250" marB="95250">
                    <a:solidFill>
                      <a:srgbClr val="15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Session 候選</a:t>
                      </a:r>
                    </a:p>
                  </a:txBody>
                  <a:tcPr marL="133350" marR="133350" marT="95250" marB="95250">
                    <a:solidFill>
                      <a:srgbClr val="15344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檢索／引用 gate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ready，同 evidence hash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ready，同 evidence hash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任務結果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LIVE_FAIL：略過提案工具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LIVE_PASS：確認後完成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模型回覆 / tokens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 次 / 2,133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 次 / 4,352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觀測時間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6.518 秒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44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5.183 秒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C34FB-C2C6-4240-B386-C76AB98B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1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1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1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1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1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1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1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1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1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996714"/>
                </a:solidFill>
                <a:latin typeface="PingFang TC"/>
                <a:ea typeface="PingFang TC"/>
                <a:cs typeface="PingFang TC"/>
              </a:rPr>
              <a:t>樣本不足，且完成終點不同：不能宣稱品質或成本改善。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D30AE-6F91-4872-B517-A1DEB8B2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課程指定的 Google Cloud／ADC Gemini：LIVE_NOT_RUN。</a:t>
            </a:r>
          </a:p>
        </p:txBody>
      </p:sp>
    </p:spTree>
    <p:extLst>
      <p:ext uri="{BB962C8B-B14F-4D97-AF65-F5344CB8AC3E}">
        <p14:creationId xmlns:p14="http://schemas.microsoft.com/office/powerpoint/2010/main" val="542636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C1088-1726-4D4A-B913-C62C8033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已完成、待驗證與規劃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654AF-A2B1-41F5-B7B5-C583B272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下一個優先事項是串接真實比對與草稿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749C7-7D1E-4E3D-9153-DAE567DD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第 02 組    2026-10-28    程式 6a5bc9b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D4AEA-C24D-47BF-9856-68EBF079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12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3EF48-26A7-4832-9DE0-E95ABD4B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已完成且已驗證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A1028-EDE8-415D-B046-B8AAB3D1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文字語意比對；固定評閱快照的工具流程；Session 清除與隔離。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0F74C-40C3-491F-B785-88D7EF5C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已實作但尚未完成真實驗證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6CE0B-6B51-4BFE-90EE-CE3B4DAF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來源 v2 排除有離線測試，尚未做 GPT 的 v2 端到端驗證。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8FB0E-A025-4D16-B109-92B8832E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規劃優先順序與驗收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19B9C-EEDF-4E25-9CEB-11C03E05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先將語意結果接入版本化草稿來源，再做 PDF 解析與正式登入。</a:t>
            </a:r>
          </a:p>
          <a:p xmlns:a="http://schemas.openxmlformats.org/drawingml/2006/main">
            <a:pPr>
              <a:def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驗收：20 組教師標註案例、跨人隔離、來源變更拒寫與可重現 trace。</a:t>
            </a:r>
          </a:p>
        </p:txBody>
      </p:sp>
    </p:spTree>
    <p:extLst>
      <p:ext uri="{BB962C8B-B14F-4D97-AF65-F5344CB8AC3E}">
        <p14:creationId xmlns:p14="http://schemas.microsoft.com/office/powerpoint/2010/main" val="4987789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D8132-55B8-40E8-BD15-75096F5F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團隊與後續計畫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2A0FE-47F0-4824-B726-C12F6A51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建議分工與問答準備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6A635-E003-45B4-8169-AA06C87E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第 02 組    2026-10-28    程式 6a5bc9b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C0A3A-C1D1-4AAA-B93C-C38B07A5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7080"/>
                </a:solidFill>
                <a:latin typeface="PingFang TC"/>
                <a:ea typeface="PingFang TC"/>
                <a:cs typeface="PingFang TC"/>
              </a:rPr>
              <a:t>13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94562-2D56-4EB5-AA41-1F68E593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陳冠友  S11259039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B6449-408F-4C18-9A8C-B2D86010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建議主講：後端、工具確認、Session 與完整操作示範。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D0382-EF13-40B3-AC6A-5C96C5BD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66B5A"/>
                </a:solidFill>
                <a:latin typeface="PingFang TC"/>
                <a:ea typeface="PingFang TC"/>
                <a:cs typeface="PingFang TC"/>
              </a:rPr>
              <a:t>林崇偉  S11259031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0286E-1126-4066-8BBE-5CAEB2F3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建議主講：使用情境、來源引用、測試與失敗分析。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44F74-C54A-40EF-B52A-3C653626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025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025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025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025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025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025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025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025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025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96714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996714"/>
                </a:solidFill>
                <a:latin typeface="PingFang TC"/>
                <a:ea typeface="PingFang TC"/>
                <a:cs typeface="PingFang TC"/>
              </a:rPr>
              <a:t>實際貢獻待組員確認；開發、測試與報告有使用 Codex 協助。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69BDA-D44D-42AF-A15F-4D8CE5BD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483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defPPr>
            <a:lvl1pPr>
              <a:defRPr sz="210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1pPr>
            <a:lvl2pPr>
              <a:defRPr sz="210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2pPr>
            <a:lvl3pPr>
              <a:defRPr sz="210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3pPr>
            <a:lvl4pPr>
              <a:defRPr sz="210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4pPr>
            <a:lvl5pPr>
              <a:defRPr sz="210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5pPr>
            <a:lvl6pPr>
              <a:defRPr sz="210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6pPr>
            <a:lvl7pPr>
              <a:defRPr sz="210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7pPr>
            <a:lvl8pPr>
              <a:defRPr sz="210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8pPr>
            <a:lvl9pPr>
              <a:defRPr sz="210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449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53449"/>
                </a:solidFill>
                <a:latin typeface="PingFang TC"/>
                <a:ea typeface="PingFang TC"/>
                <a:cs typeface="PingFang TC"/>
              </a:rPr>
              <a:t>簡報與示範 14 分鐘，問答 5 分鐘，緩衝 1 分鐘。</a:t>
            </a:r>
          </a:p>
        </p:txBody>
      </p:sp>
    </p:spTree>
    <p:extLst>
      <p:ext uri="{BB962C8B-B14F-4D97-AF65-F5344CB8AC3E}">
        <p14:creationId xmlns:p14="http://schemas.microsoft.com/office/powerpoint/2010/main" val="1666536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TC"/>
        <a:ea typeface=""/>
        <a:cs typeface=""/>
      </a:majorFont>
      <a:minorFont>
        <a:latin typeface="PingFang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2026-10-28T06:55:08.0360000Z</dcterms:created>
  <dcterms:modified xsi:type="dcterms:W3CDTF">2026-10-28T06:55:08.0360000Z</dcterms:modified>
</coreProperties>
</file>