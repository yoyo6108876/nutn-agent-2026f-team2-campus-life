
<file path=[Content_Types].xml><?xml version="1.0" encoding="utf-8"?>
<Types xmlns="http://schemas.openxmlformats.org/package/2006/content-types">
  <Default Extension="xml" ContentType="application/xml"/>
  <Default Extension="rels" ContentType="application/vnd.openxmlformats-package.relationships+xml"/>
  <Default Extension="jpeg" ContentType="image/jpeg"/>
  <Default Extension="jpg" ContentType="image/jpg"/>
  <Default Extension="svg" ContentType="image/svg+xml"/>
  <Default Extension="png" ContentType="image/png"/>
  <Default Extension="gif" ContentType="image/gif"/>
  <Default Extension="m4v" ContentType="video/mp4"/>
  <Default Extension="mp4" ContentType="video/mp4"/>
  <Default Extension="vml" ContentType="application/vnd.openxmlformats-officedocument.vmlDrawing"/>
  <Default Extension="xlsx" ContentType="application/vnd.openxmlformats-officedocument.spreadsheetml.sheet"/>
  <Override PartName="/ppt/presentation.xml" ContentType="application/vnd.openxmlformats-officedocument.presentationml.presentation.main+xml"/>
  <Override PartName="/ppt/notesMasters/notesMaster1.xml" ContentType="application/vnd.openxmlformats-officedocument.presentationml.notesMaster+xml"/>
  <Override PartName="/ppt/slideMasters/slideMaster1.xml" ContentType="application/vnd.openxmlformats-officedocument.presentationml.slideMaster+xml"/>
  <Override PartName="/ppt/slides/slide1.xml" ContentType="application/vnd.openxmlformats-officedocument.presentationml.slide+xml"/>
  <Override PartName="/ppt/slideMasters/slideMaster2.xml" ContentType="application/vnd.openxmlformats-officedocument.presentationml.slideMaster+xml"/>
  <Override PartName="/ppt/slides/slide2.xml" ContentType="application/vnd.openxmlformats-officedocument.presentationml.slide+xml"/>
  <Override PartName="/ppt/slideMasters/slideMaster3.xml" ContentType="application/vnd.openxmlformats-officedocument.presentationml.slideMaster+xml"/>
  <Override PartName="/ppt/slides/slide3.xml" ContentType="application/vnd.openxmlformats-officedocument.presentationml.slide+xml"/>
  <Override PartName="/ppt/slideMasters/slideMaster4.xml" ContentType="application/vnd.openxmlformats-officedocument.presentationml.slideMaster+xml"/>
  <Override PartName="/ppt/slides/slide4.xml" ContentType="application/vnd.openxmlformats-officedocument.presentationml.slide+xml"/>
  <Override PartName="/ppt/slideMasters/slideMaster5.xml" ContentType="application/vnd.openxmlformats-officedocument.presentationml.slideMaster+xml"/>
  <Override PartName="/ppt/slides/slide5.xml" ContentType="application/vnd.openxmlformats-officedocument.presentationml.slide+xml"/>
  <Override PartName="/ppt/slideMasters/slideMaster6.xml" ContentType="application/vnd.openxmlformats-officedocument.presentationml.slideMaster+xml"/>
  <Override PartName="/ppt/slides/slide6.xml" ContentType="application/vnd.openxmlformats-officedocument.presentationml.slide+xml"/>
  <Override PartName="/ppt/slideMasters/slideMaster7.xml" ContentType="application/vnd.openxmlformats-officedocument.presentationml.slideMaster+xml"/>
  <Override PartName="/ppt/slides/slide7.xml" ContentType="application/vnd.openxmlformats-officedocument.presentationml.slide+xml"/>
  <Override PartName="/ppt/slideMasters/slideMaster8.xml" ContentType="application/vnd.openxmlformats-officedocument.presentationml.slideMaster+xml"/>
  <Override PartName="/ppt/slides/slide8.xml" ContentType="application/vnd.openxmlformats-officedocument.presentationml.slide+xml"/>
  <Override PartName="/ppt/slideMasters/slideMaster9.xml" ContentType="application/vnd.openxmlformats-officedocument.presentationml.slideMaster+xml"/>
  <Override PartName="/ppt/slides/slide9.xml" ContentType="application/vnd.openxmlformats-officedocument.presentationml.slide+xml"/>
  <Override PartName="/ppt/slideMasters/slideMaster10.xml" ContentType="application/vnd.openxmlformats-officedocument.presentationml.slideMaster+xml"/>
  <Override PartName="/ppt/slides/slide10.xml" ContentType="application/vnd.openxmlformats-officedocument.presentationml.slide+xml"/>
  <Override PartName="/ppt/slideMasters/slideMaster11.xml" ContentType="application/vnd.openxmlformats-officedocument.presentationml.slideMaster+xml"/>
  <Override PartName="/ppt/slides/slide11.xml" ContentType="application/vnd.openxmlformats-officedocument.presentationml.slide+xml"/>
  <Override PartName="/ppt/slideMasters/slideMaster12.xml" ContentType="application/vnd.openxmlformats-officedocument.presentationml.slideMaster+xml"/>
  <Override PartName="/ppt/slides/slide12.xml" ContentType="application/vnd.openxmlformats-officedocument.presentationml.slide+xml"/>
  <Override PartName="/ppt/charts/chart1.xml" ContentType="application/vnd.openxmlformats-officedocument.drawingml.chart+xml"/>
  <Override PartName="/ppt/slideMasters/slideMaster13.xml" ContentType="application/vnd.openxmlformats-officedocument.presentationml.slideMaster+xml"/>
  <Override PartName="/ppt/slides/slide13.xml" ContentType="application/vnd.openxmlformats-officedocument.presentationml.slide+xml"/>
  <Override PartName="/ppt/slideMasters/slideMaster14.xml" ContentType="application/vnd.openxmlformats-officedocument.presentationml.slideMaster+xml"/>
  <Override PartName="/ppt/slides/slide14.xml" ContentType="application/vnd.openxmlformats-officedocument.presentationml.slide+xml"/>
  <Override PartName="/ppt/slideMasters/slideMaster15.xml" ContentType="application/vnd.openxmlformats-officedocument.presentationml.slideMaster+xml"/>
  <Override PartName="/ppt/slides/slide15.xml" ContentType="application/vnd.openxmlformats-officedocument.presentationml.slide+xml"/>
  <Override PartName="/ppt/presProps.xml" ContentType="application/vnd.openxmlformats-officedocument.presentationml.presProps+xml"/>
  <Override PartName="/ppt/viewProps.xml" ContentType="application/vnd.openxmlformats-officedocument.presentationml.viewProps+xml"/>
  <Override PartName="/ppt/theme/theme1.xml" ContentType="application/vnd.openxmlformats-officedocument.theme+xml"/>
  <Override PartName="/ppt/tableStyles.xml" ContentType="application/vnd.openxmlformats-officedocument.presentationml.tableStyles+xml"/>
  <Override PartName="/ppt/slideLayouts/slideLayout1.xml" ContentType="application/vnd.openxmlformats-officedocument.presentationml.slideLayout+xml"/>
  <Override PartName="/ppt/slideLayouts/slideLayout2.xml" ContentType="application/vnd.openxmlformats-officedocument.presentationml.slideLayout+xml"/>
  <Override PartName="/ppt/slideLayouts/slideLayout3.xml" ContentType="application/vnd.openxmlformats-officedocument.presentationml.slideLayout+xml"/>
  <Override PartName="/ppt/slideLayouts/slideLayout4.xml" ContentType="application/vnd.openxmlformats-officedocument.presentationml.slideLayout+xml"/>
  <Override PartName="/ppt/notesSlides/notesSlide1.xml" ContentType="application/vnd.openxmlformats-officedocument.presentationml.notesSlide+xml"/>
  <Override PartName="/ppt/notesSlides/notesSlide2.xml" ContentType="application/vnd.openxmlformats-officedocument.presentationml.notesSlide+xml"/>
  <Override PartName="/ppt/notesSlides/notesSlide3.xml" ContentType="application/vnd.openxmlformats-officedocument.presentationml.notesSlide+xml"/>
  <Override PartName="/ppt/notesSlides/notesSlide4.xml" ContentType="application/vnd.openxmlformats-officedocument.presentationml.notesSlide+xml"/>
  <Override PartName="/ppt/notesSlides/notesSlide5.xml" ContentType="application/vnd.openxmlformats-officedocument.presentationml.notesSlide+xml"/>
  <Override PartName="/ppt/notesSlides/notesSlide6.xml" ContentType="application/vnd.openxmlformats-officedocument.presentationml.notesSlide+xml"/>
  <Override PartName="/ppt/notesSlides/notesSlide7.xml" ContentType="application/vnd.openxmlformats-officedocument.presentationml.notesSlide+xml"/>
  <Override PartName="/ppt/notesSlides/notesSlide8.xml" ContentType="application/vnd.openxmlformats-officedocument.presentationml.notesSlide+xml"/>
  <Override PartName="/ppt/notesSlides/notesSlide9.xml" ContentType="application/vnd.openxmlformats-officedocument.presentationml.notesSlide+xml"/>
  <Override PartName="/ppt/notesSlides/notesSlide10.xml" ContentType="application/vnd.openxmlformats-officedocument.presentationml.notesSlide+xml"/>
  <Override PartName="/ppt/notesSlides/notesSlide11.xml" ContentType="application/vnd.openxmlformats-officedocument.presentationml.notesSlide+xml"/>
  <Override PartName="/ppt/notesSlides/notesSlide12.xml" ContentType="application/vnd.openxmlformats-officedocument.presentationml.notesSlide+xml"/>
  <Override PartName="/ppt/notesSlides/notesSlide13.xml" ContentType="application/vnd.openxmlformats-officedocument.presentationml.notesSlide+xml"/>
  <Override PartName="/ppt/notesSlides/notesSlide14.xml" ContentType="application/vnd.openxmlformats-officedocument.presentationml.notesSlide+xml"/>
  <Override PartName="/ppt/notesSlides/notesSlide15.xml" ContentType="application/vnd.openxmlformats-officedocument.presentationml.notesSlide+xml"/>
  <Override PartName="/docProps/core.xml" ContentType="application/vnd.openxmlformats-package.core-properties+xml"/>
  <Override PartName="/docProps/app.xml" ContentType="application/vnd.openxmlformats-officedocument.extended-properties+xml"/>
</Types>
</file>

<file path=_rels/.rels><?xml version="1.0" encoding="UTF-8" standalone="yes"?>
<Relationships xmlns="http://schemas.openxmlformats.org/package/2006/relationships">
		<Relationship Id="rId1" Type="http://schemas.openxmlformats.org/officeDocument/2006/relationships/extended-properties" Target="docProps/app.xml"/>
		<Relationship Id="rId2" Type="http://schemas.openxmlformats.org/package/2006/relationships/metadata/core-properties" Target="docProps/core.xml"/>
		<Relationship Id="rId3" Type="http://schemas.openxmlformats.org/officeDocument/2006/relationships/officeDocument" Target="ppt/presentation.xml"/>
		</Relationships>
</file>

<file path=ppt/presentation.xml><?xml version="1.0" encoding="utf-8"?>
<p:presentation xmlns:a="http://schemas.openxmlformats.org/drawingml/2006/main" xmlns:r="http://schemas.openxmlformats.org/officeDocument/2006/relationships" xmlns:p="http://schemas.openxmlformats.org/presentationml/2006/main" saveSubsetFonts="1" autoCompressPictures="0">
  <p:sldMasterIdLst>
    <p:sldMasterId id="2147483648" r:id="rId1"/>
  </p:sldMasterIdLst>
  <p:sldIdLst>
    <p:sldId id="256" r:id="rId2"/>
    <p:sldId id="257" r:id="rId3"/>
    <p:sldId id="258" r:id="rId4"/>
    <p:sldId id="259" r:id="rId5"/>
    <p:sldId id="260" r:id="rId6"/>
    <p:sldId id="261" r:id="rId7"/>
    <p:sldId id="262" r:id="rId8"/>
    <p:sldId id="263" r:id="rId9"/>
    <p:sldId id="264" r:id="rId10"/>
    <p:sldId id="265" r:id="rId11"/>
    <p:sldId id="266" r:id="rId12"/>
    <p:sldId id="267" r:id="rId13"/>
    <p:sldId id="268" r:id="rId14"/>
    <p:sldId id="269" r:id="rId15"/>
    <p:sldId id="270" r:id="rId16"/>
  </p:sldIdLst>
  <p:notesMasterIdLst>
    <p:notesMasterId r:id="rId17"/>
  </p:notesMasterIdLst>
  <p:sldSz cx="12192000" cy="6858000"/>
  <p:notesSz cx="6858000" cy="12192000"/>
  <p:defaultTextStyle>
    <a:lvl1pPr marL="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1pPr>
    <a:lvl2pPr marL="4572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2pPr>
    <a:lvl3pPr marL="9144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3pPr>
    <a:lvl4pPr marL="13716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4pPr>
    <a:lvl5pPr marL="18288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5pPr>
    <a:lvl6pPr marL="22860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6pPr>
    <a:lvl7pPr marL="27432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7pPr>
    <a:lvl8pPr marL="32004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8pPr>
    <a:lvl9pPr marL="36576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9pPr>
  </p:defaultTextStyle>
  <p:extLst>
    <p:ext uri="{521415D9-36F7-43E2-AB2F-B90AF26B5E84}">
      <p14:sectionLst xmlns:p14="http://schemas.microsoft.com/office/powerpoint/2010/main">
        <p14:section name="開場" id="{559b31c5-aa6e-e2c5-cce4-2ffda76b8515}">
          <p14:sldIdLst>
            <p14:sldId id="256"/>
            <p14:sldId id="257"/>
            <p14:sldId id="258"/>
          </p14:sldIdLst>
        </p14:section>
        <p14:section name="系統設計" id="{7becf219-4035-5b8e-aa6c-a5bce9148cd1}">
          <p14:sldIdLst>
            <p14:sldId id="259"/>
            <p14:sldId id="260"/>
            <p14:sldId id="261"/>
            <p14:sldId id="262"/>
          </p14:sldIdLst>
        </p14:section>
        <p14:section name="實際示範" id="{b6aa2037-6170-7512-0a19-ff6395ec453e}">
          <p14:sldIdLst>
            <p14:sldId id="263"/>
            <p14:sldId id="264"/>
          </p14:sldIdLst>
        </p14:section>
        <p14:section name="PDF 預檢" id="{ea127328-b14a-8b9c-5281-20dee5166b25}">
          <p14:sldIdLst>
            <p14:sldId id="265"/>
            <p14:sldId id="266"/>
          </p14:sldIdLst>
        </p14:section>
        <p14:section name="驗證與限制" id="{cf33004a-2ccd-878f-d978-515db75b43be}">
          <p14:sldIdLst>
            <p14:sldId id="267"/>
            <p14:sldId id="268"/>
            <p14:sldId id="269"/>
          </p14:sldIdLst>
        </p14:section>
        <p14:section name="結尾" id="{70807578-5a1c-8ad6-1c9d-1c99f6fa3bc2}">
          <p14:sldIdLst>
            <p14:sldId id="270"/>
          </p14:sldIdLst>
        </p14:section>
      </p14:sectionLst>
    </p:ext>
    <p:ext uri="{EFAFB233-063F-42B5-8137-9DF3F51BA10A}">
      <p15:sldGuideLst xmlns:p15="http://schemas.microsoft.com/office/powerpoint/2012/main"/>
    </p:ext>
  </p:extLst>
</p:presentation>
</file>

<file path=ppt/presProps.xml><?xml version="1.0" encoding="utf-8"?>
<p:presentationPr xmlns:a="http://schemas.openxmlformats.org/drawingml/2006/main" xmlns:r="http://schemas.openxmlformats.org/officeDocument/2006/relationships" xmlns:p="http://schemas.openxmlformats.org/presentationml/2006/main"/>
</file>

<file path=ppt/tableStyles.xml><?xml version="1.0" encoding="utf-8"?>
<a:tblStyleLst xmlns:a="http://schemas.openxmlformats.org/drawingml/2006/main" def="{5C22544A-7EE6-4342-B048-85BDC9FD1C3A}"/>
</file>

<file path=ppt/viewProps.xml><?xml version="1.0" encoding="utf-8"?>
<p:viewPr xmlns:a="http://schemas.openxmlformats.org/drawingml/2006/main" xmlns:r="http://schemas.openxmlformats.org/officeDocument/2006/relationships" xmlns:p="http://schemas.openxmlformats.org/presentationml/2006/main">
  <p:normalViewPr horzBarState="maximized">
    <p:restoredLeft sz="15611"/>
    <p:restoredTop sz="94610"/>
  </p:normalViewPr>
  <p:slideViewPr>
    <p:cSldViewPr snapToGrid="0" snapToObjects="1">
      <p:cViewPr varScale="1">
        <p:scale>
          <a:sx n="136" d="100"/>
          <a:sy n="136" d="100"/>
        </p:scale>
        <p:origin x="216" y="312"/>
      </p:cViewPr>
      <p:guideLst/>
    </p:cSldViewPr>
  </p:slideViewPr>
  <p:notesTextViewPr>
    <p:cViewPr>
      <p:scale>
        <a:sx n="1" d="1"/>
        <a:sy n="1" d="1"/>
      </p:scale>
      <p:origin x="0" y="0"/>
    </p:cViewPr>
  </p:notesTextViewPr>
  <p:gridSpacing cx="76200" cy="76200"/>
</p:viewPr>
</file>

<file path=ppt/_rels/presentation.xml.rels><?xml version="1.0" encoding="UTF-8" standalone="yes"?>
<Relationships xmlns="http://schemas.openxmlformats.org/package/2006/relationships"><Relationship Id="rId1" Type="http://schemas.openxmlformats.org/officeDocument/2006/relationships/slideMaster" Target="slideMasters/slideMaster1.xml"/><Relationship Id="rId2" Type="http://schemas.openxmlformats.org/officeDocument/2006/relationships/slide" Target="slides/slide1.xml"/><Relationship Id="rId3" Type="http://schemas.openxmlformats.org/officeDocument/2006/relationships/slide" Target="slides/slide2.xml"/><Relationship Id="rId4" Type="http://schemas.openxmlformats.org/officeDocument/2006/relationships/slide" Target="slides/slide3.xml"/><Relationship Id="rId5" Type="http://schemas.openxmlformats.org/officeDocument/2006/relationships/slide" Target="slides/slide4.xml"/><Relationship Id="rId6" Type="http://schemas.openxmlformats.org/officeDocument/2006/relationships/slide" Target="slides/slide5.xml"/><Relationship Id="rId7" Type="http://schemas.openxmlformats.org/officeDocument/2006/relationships/slide" Target="slides/slide6.xml"/><Relationship Id="rId8" Type="http://schemas.openxmlformats.org/officeDocument/2006/relationships/slide" Target="slides/slide7.xml"/><Relationship Id="rId9" Type="http://schemas.openxmlformats.org/officeDocument/2006/relationships/slide" Target="slides/slide8.xml"/><Relationship Id="rId10" Type="http://schemas.openxmlformats.org/officeDocument/2006/relationships/slide" Target="slides/slide9.xml"/><Relationship Id="rId11" Type="http://schemas.openxmlformats.org/officeDocument/2006/relationships/slide" Target="slides/slide10.xml"/><Relationship Id="rId12" Type="http://schemas.openxmlformats.org/officeDocument/2006/relationships/slide" Target="slides/slide11.xml"/><Relationship Id="rId13" Type="http://schemas.openxmlformats.org/officeDocument/2006/relationships/slide" Target="slides/slide12.xml"/><Relationship Id="rId14" Type="http://schemas.openxmlformats.org/officeDocument/2006/relationships/slide" Target="slides/slide13.xml"/><Relationship Id="rId15" Type="http://schemas.openxmlformats.org/officeDocument/2006/relationships/slide" Target="slides/slide14.xml"/><Relationship Id="rId16" Type="http://schemas.openxmlformats.org/officeDocument/2006/relationships/slide" Target="slides/slide15.xml"/><Relationship Id="rId17" Type="http://schemas.openxmlformats.org/officeDocument/2006/relationships/notesMaster" Target="notesMasters/notesMaster1.xml"/><Relationship Id="rId18" Type="http://schemas.openxmlformats.org/officeDocument/2006/relationships/presProps" Target="presProps.xml"/><Relationship Id="rId19" Type="http://schemas.openxmlformats.org/officeDocument/2006/relationships/viewProps" Target="viewProps.xml"/><Relationship Id="rId20" Type="http://schemas.openxmlformats.org/officeDocument/2006/relationships/theme" Target="theme/theme1.xml"/><Relationship Id="rId21" Type="http://schemas.openxmlformats.org/officeDocument/2006/relationships/tableStyles" Target="tableStyles.xml"/></Relationships>
</file>

<file path=ppt/charts/_rels/chart1.xml.rels><?xml version="1.0" encoding="UTF-8" standalone="yes"?><Relationships xmlns="http://schemas.openxmlformats.org/package/2006/relationships"><Relationship Id="rId1" Type="http://schemas.openxmlformats.org/officeDocument/2006/relationships/package" Target="../embeddings/Microsoft_Excel_Worksheet1.xlsx"/></Relationships>
</file>

<file path=ppt/charts/chart1.xml><?xml version="1.0" encoding="utf-8"?>
<c:chartSpace xmlns:c="http://schemas.openxmlformats.org/drawingml/2006/chart" xmlns:a="http://schemas.openxmlformats.org/drawingml/2006/main" xmlns:r="http://schemas.openxmlformats.org/officeDocument/2006/relationships">
  <c:date1904 val="0"/>
  <c:roundedCorners val="1"/>
  <c:chart>
    <c:autoTitleDeleted val="1"/>
    <c:plotArea>
      <c:layout/>
      <c:barChart>
        <c:barDir val="col"/>
        <c:grouping val="clustered"/>
        <c:varyColors val="0"/>
        <c:ser>
          <c:idx val="0"/>
          <c:order val="0"/>
          <c:tx>
            <c:strRef>
              <c:f>Sheet1!$B$1</c:f>
              <c:strCache>
                <c:ptCount val="1"/>
                <c:pt idx="0">
                  <c:v>通過測試</c:v>
                </c:pt>
              </c:strCache>
            </c:strRef>
          </c:tx>
          <c:spPr>
            <a:solidFill>
              <a:srgbClr val="66768C"/>
            </a:solidFill>
            <a:effectLst/>
          </c:spPr>
          <c:invertIfNegative val="0"/>
          <c:dLbls>
            <c:numFmt formatCode="#,##0" sourceLinked="0"/>
            <c:txPr>
              <a:bodyPr/>
              <a:lstStyle/>
              <a:p>
                <a:pPr>
                  <a:defRPr b="1" i="0" strike="noStrike" sz="1600" u="none">
                    <a:solidFill>
                      <a:srgbClr val="1A2233"/>
                    </a:solidFill>
                    <a:latin typeface="+mn-lt"/>
                  </a:defRPr>
                </a:pPr>
              </a:p>
            </c:txPr>
            <c:showLegendKey val="0"/>
            <c:showVal val="1"/>
            <c:showCatName val="0"/>
            <c:showSerName val="0"/>
            <c:showPercent val="0"/>
            <c:showBubbleSize val="0"/>
            <c:showLeaderLines val="0"/>
          </c:dLbls>
          <c:dPt>
            <c:idx val="0"/>
            <c:invertIfNegative val="0"/>
            <c:bubble3D val="0"/>
            <c:spPr>
              <a:solidFill>
                <a:srgbClr val="66768C"/>
              </a:solidFill>
              <a:effectLst/>
            </c:spPr>
          </c:dPt>
          <c:dPt>
            <c:idx val="1"/>
            <c:invertIfNegative val="0"/>
            <c:bubble3D val="0"/>
            <c:spPr>
              <a:solidFill>
                <a:srgbClr val="66768C"/>
              </a:solidFill>
              <a:effectLst/>
            </c:spPr>
          </c:dPt>
          <c:dPt>
            <c:idx val="2"/>
            <c:invertIfNegative val="0"/>
            <c:bubble3D val="0"/>
            <c:spPr>
              <a:solidFill>
                <a:srgbClr val="1F2D4A"/>
              </a:solidFill>
              <a:effectLst/>
            </c:spPr>
          </c:dPt>
          <c:dPt>
            <c:idx val="3"/>
            <c:invertIfNegative val="0"/>
            <c:bubble3D val="0"/>
            <c:spPr>
              <a:solidFill>
                <a:srgbClr val="F5C542"/>
              </a:solidFill>
              <a:effectLst/>
            </c:spPr>
          </c:dPt>
          <c:cat>
            <c:multiLvlStrRef>
              <c:f>Sheet1!$A$2:$A$5</c:f>
              <c:multiLvlStrCache>
                <c:ptCount val="4"/>
                <c:lvl>
                  <c:pt idx="0">
                    <c:v>W4</c:v>
                  </c:pt>
                  <c:pt idx="1">
                    <c:v>W5</c:v>
                  </c:pt>
                  <c:pt idx="2">
                    <c:v>W7</c:v>
                  </c:pt>
                  <c:pt idx="3">
                    <c:v>v0.8</c:v>
                  </c:pt>
                </c:lvl>
              </c:multiLvlStrCache>
            </c:multiLvlStrRef>
          </c:cat>
          <c:val>
            <c:numRef>
              <c:f>Sheet1!$B$2:$B$5</c:f>
              <c:numCache>
                <c:formatCode>General</c:formatCode>
                <c:ptCount val="4"/>
                <c:pt idx="0">
                  <c:v>107</c:v>
                </c:pt>
                <c:pt idx="1">
                  <c:v>131</c:v>
                </c:pt>
                <c:pt idx="2">
                  <c:v>148</c:v>
                </c:pt>
                <c:pt idx="3">
                  <c:v>178</c:v>
                </c:pt>
              </c:numCache>
            </c:numRef>
          </c:val>
        </c:ser>
        <c:dLbls>
          <c:numFmt formatCode="#,##0" sourceLinked="0"/>
          <c:txPr>
            <a:bodyPr/>
            <a:lstStyle/>
            <a:p>
              <a:pPr>
                <a:defRPr b="1" i="0" strike="noStrike" sz="1600" u="none">
                  <a:solidFill>
                    <a:srgbClr val="1A2233"/>
                  </a:solidFill>
                  <a:latin typeface="+mn-lt"/>
                </a:defRPr>
              </a:pPr>
            </a:p>
          </c:txPr>
          <c:showLegendKey val="0"/>
          <c:showVal val="1"/>
          <c:showCatName val="0"/>
          <c:showSerName val="0"/>
          <c:showPercent val="0"/>
          <c:showBubbleSize val="0"/>
          <c:showLeaderLines val="0"/>
        </c:dLbls>
        <c:gapWidth val="55"/>
        <c:overlap val="0"/>
        <c:axId val="2094734554"/>
        <c:axId val="2094734552"/>
        <c:axId val="2094734556"/>
      </c:barChart>
      <c:catAx>
        <c:axId val="2094734554"/>
        <c:scaling>
          <c:orientation val="minMax"/>
        </c:scaling>
        <c:delete val="0"/>
        <c:axPos val="b"/>
        <c:numFmt formatCode="General" sourceLinked="1"/>
        <c:majorTickMark val="out"/>
        <c:minorTickMark val="none"/>
        <c:tickLblPos val="low"/>
        <c:spPr>
          <a:ln w="12700" cap="flat">
            <a:noFill/>
            <a:prstDash val="solid"/>
            <a:round/>
          </a:ln>
        </c:spPr>
        <c:txPr>
          <a:bodyPr/>
          <a:lstStyle/>
          <a:p>
            <a:pPr>
              <a:defRPr sz="1400" b="0" i="0" u="none" strike="noStrike">
                <a:solidFill>
                  <a:srgbClr val="66768C"/>
                </a:solidFill>
                <a:latin typeface="+mn-lt"/>
              </a:defRPr>
            </a:pPr>
            <a:endParaRPr lang="en-US"/>
          </a:p>
        </c:txPr>
        <c:crossAx val="2094734552"/>
        <c:crosses val="autoZero"/>
        <c:auto val="1"/>
        <c:lblAlgn val="ctr"/>
        <c:noMultiLvlLbl val="1"/>
      </c:catAx>
      <c:valAx>
        <c:axId val="2094734552"/>
        <c:scaling>
          <c:orientation val="minMax"/>
          <c:max val="200"/>
          <c:min val="0"/>
        </c:scaling>
        <c:delete val="1"/>
        <c:axPos val="l"/>
        <c:numFmt formatCode="General" sourceLinked="0"/>
        <c:majorTickMark val="out"/>
        <c:minorTickMark val="none"/>
        <c:tickLblPos val="nextTo"/>
        <c:spPr>
          <a:ln w="12700" cap="flat">
            <a:solidFill>
              <a:srgbClr val="888888"/>
            </a:solidFill>
            <a:prstDash val="solid"/>
            <a:round/>
          </a:ln>
        </c:spPr>
        <c:txPr>
          <a:bodyPr/>
          <a:lstStyle/>
          <a:p>
            <a:pPr>
              <a:defRPr sz="1200" b="0" i="0" u="none" strike="noStrike">
                <a:solidFill>
                  <a:srgbClr val="000000"/>
                </a:solidFill>
                <a:latin typeface="Arial"/>
              </a:defRPr>
            </a:pPr>
            <a:endParaRPr lang="en-US"/>
          </a:p>
        </c:txPr>
        <c:crossAx val="2094734554"/>
        <c:crosses val="autoZero"/>
        <c:crossBetween val="between"/>
      </c:valAx>
      <c:spPr>
        <a:noFill/>
        <a:ln>
          <a:noFill/>
        </a:ln>
        <a:effectLst/>
      </c:spPr>
    </c:plotArea>
    <c:plotVisOnly val="1"/>
    <c:dispBlanksAs val="span"/>
  </c:chart>
  <c:spPr>
    <a:noFill/>
    <a:ln>
      <a:noFill/>
    </a:ln>
    <a:effectLst/>
  </c:spPr>
  <c:externalData r:id="rId1">
    <c:autoUpdate val="0"/>
  </c:externalData>
</c:chartSpace>
</file>

<file path=ppt/notesMasters/_rels/notesMaster1.xml.rels><?xml version="1.0" encoding="UTF-8" standalone="yes"?>
<Relationships xmlns="http://schemas.openxmlformats.org/package/2006/relationships">
		<Relationship Id="rId1" Type="http://schemas.openxmlformats.org/officeDocument/2006/relationships/theme" Target="../theme/theme1.xml"/>
		</Relationships>
</file>

<file path=ppt/notesMasters/notesMaster1.xml><?xml version="1.0" encoding="utf-8"?>
<p:notesMaster xmlns:a="http://schemas.openxmlformats.org/drawingml/2006/main" xmlns:r="http://schemas.openxmlformats.org/officeDocument/2006/relationships" xmlns:p="http://schemas.openxmlformats.org/presentationml/2006/main">
  <p:cSld>
    <p:bg>
      <p:bgRef idx="1001">
        <a:schemeClr val="bg1"/>
      </p:bgRef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Header Placeholder 1"/>
          <p:cNvSpPr>
            <a:spLocks noGrp="1"/>
          </p:cNvSpPr>
          <p:nvPr>
            <p:ph type="hdr" sz="quarter"/>
          </p:nvPr>
        </p:nvSpPr>
        <p:spPr>
          <a:xfrm>
            <a:off x="0" y="0"/>
            <a:ext cx="2971800" cy="458788"/>
          </a:xfrm>
          <a:prstGeom prst="rect">
            <a:avLst/>
          </a:prstGeom>
        </p:spPr>
        <p:txBody>
          <a:bodyPr vert="horz" lIns="91440" tIns="45720" rIns="91440" bIns="45720" rtlCol="0"/>
          <a:lstStyle>
            <a:lvl1pPr algn="l">
              <a:defRPr sz="1200"/>
            </a:lvl1pPr>
          </a:lstStyle>
          <a:p>
            <a:endParaRPr lang="en-US"/>
          </a:p>
        </p:txBody>
      </p:sp>
      <p:sp>
        <p:nvSpPr>
          <p:cNvPr id="3" name="Date Placeholder 2"/>
          <p:cNvSpPr>
            <a:spLocks noGrp="1"/>
          </p:cNvSpPr>
          <p:nvPr>
            <p:ph type="dt" idx="1"/>
          </p:nvPr>
        </p:nvSpPr>
        <p:spPr>
          <a:xfrm>
            <a:off x="3884613" y="0"/>
            <a:ext cx="2971800" cy="458788"/>
          </a:xfrm>
          <a:prstGeom prst="rect">
            <a:avLst/>
          </a:prstGeom>
        </p:spPr>
        <p:txBody>
          <a:bodyPr vert="horz" lIns="91440" tIns="45720" rIns="91440" bIns="45720" rtlCol="0"/>
          <a:lstStyle>
            <a:lvl1pPr algn="r">
              <a:defRPr sz="1200"/>
            </a:lvl1pPr>
          </a:lstStyle>
          <a:p>
            <a:fld id="{5282F153-3F37-0F45-9E97-73ACFA13230C}" type="datetimeFigureOut">
              <a:rPr lang="en-US"/>
              <a:t>7/23/19</a:t>
            </a:fld>
            <a:endParaRPr lang="en-US"/>
          </a:p>
        </p:txBody>
      </p:sp>
      <p:sp>
        <p:nvSpPr>
          <p:cNvPr id="4" name="Slide Image Placeholder 3"/>
          <p:cNvSpPr>
            <a:spLocks noGrp="1" noRot="1" noChangeAspect="1"/>
          </p:cNvSpPr>
          <p:nvPr>
            <p:ph type="sldImg" idx="2"/>
          </p:nvPr>
        </p:nvSpPr>
        <p:spPr>
          <a:xfrm>
            <a:off x="685800" y="1143000"/>
            <a:ext cx="5486400" cy="3086100"/>
          </a:xfrm>
          <a:prstGeom prst="rect">
            <a:avLst/>
          </a:prstGeom>
          <a:noFill/>
          <a:ln w="12700">
            <a:solidFill>
              <a:prstClr val="black"/>
            </a:solidFill>
          </a:ln>
        </p:spPr>
        <p:txBody>
          <a:bodyPr vert="horz" lIns="91440" tIns="45720" rIns="91440" bIns="45720" rtlCol="0" anchor="ctr"/>
          <a:lstStyle/>
          <a:p>
            <a:endParaRPr lang="en-US"/>
          </a:p>
        </p:txBody>
      </p:sp>
      <p:sp>
        <p:nvSpPr>
          <p:cNvPr id="5" name="Notes Placeholder 4"/>
          <p:cNvSpPr>
            <a:spLocks noGrp="1"/>
          </p:cNvSpPr>
          <p:nvPr>
            <p:ph type="body" sz="quarter" idx="3"/>
          </p:nvPr>
        </p:nvSpPr>
        <p:spPr>
          <a:xfrm>
            <a:off x="685800" y="4400550"/>
            <a:ext cx="5486400" cy="3600450"/>
          </a:xfrm>
          <a:prstGeom prst="rect">
            <a:avLst/>
          </a:prstGeom>
        </p:spPr>
        <p:txBody>
          <a:bodyPr vert="horz" lIns="91440" tIns="45720" rIns="91440" bIns="45720" rtlCol="0"/>
          <a:lstStyle/>
          <a:p>
            <a:pPr lvl="0"/>
            <a:r>
              <a:rPr lang="en-US"/>
              <a:t>Click to edit Master text styles</a:t>
            </a:r>
          </a:p>
          <a:p>
            <a:pPr lvl="1"/>
            <a:r>
              <a:rPr lang="en-US"/>
              <a:t>Second level</a:t>
            </a:r>
          </a:p>
          <a:p>
            <a:pPr lvl="2"/>
            <a:r>
              <a:rPr lang="en-US"/>
              <a:t>Third level</a:t>
            </a:r>
          </a:p>
          <a:p>
            <a:pPr lvl="3"/>
            <a:r>
              <a:rPr lang="en-US"/>
              <a:t>Fourth level</a:t>
            </a:r>
          </a:p>
          <a:p>
            <a:pPr lvl="4"/>
            <a:r>
              <a:rPr lang="en-US"/>
              <a:t>Fifth level</a:t>
            </a:r>
          </a:p>
        </p:txBody>
      </p:sp>
      <p:sp>
        <p:nvSpPr>
          <p:cNvPr id="6" name="Footer Placeholder 5"/>
          <p:cNvSpPr>
            <a:spLocks noGrp="1"/>
          </p:cNvSpPr>
          <p:nvPr>
            <p:ph type="ftr" sz="quarter" idx="4"/>
          </p:nvPr>
        </p:nvSpPr>
        <p:spPr>
          <a:xfrm>
            <a:off x="0" y="8685213"/>
            <a:ext cx="2971800" cy="458787"/>
          </a:xfrm>
          <a:prstGeom prst="rect">
            <a:avLst/>
          </a:prstGeom>
        </p:spPr>
        <p:txBody>
          <a:bodyPr vert="horz" lIns="91440" tIns="45720" rIns="91440" bIns="45720" rtlCol="0" anchor="b"/>
          <a:lstStyle>
            <a:lvl1pPr algn="l">
              <a:defRPr sz="1200"/>
            </a:lvl1pPr>
          </a:lstStyle>
          <a:p>
            <a:endParaRPr lang="en-US"/>
          </a:p>
        </p:txBody>
      </p:sp>
      <p:sp>
        <p:nvSpPr>
          <p:cNvPr id="7" name="Slide Number Placeholder 6"/>
          <p:cNvSpPr>
            <a:spLocks noGrp="1"/>
          </p:cNvSpPr>
          <p:nvPr>
            <p:ph type="sldNum" sz="quarter" idx="5"/>
          </p:nvPr>
        </p:nvSpPr>
        <p:spPr>
          <a:xfrm>
            <a:off x="3884613" y="8685213"/>
            <a:ext cx="2971800" cy="458787"/>
          </a:xfrm>
          <a:prstGeom prst="rect">
            <a:avLst/>
          </a:prstGeom>
        </p:spPr>
        <p:txBody>
          <a:bodyPr vert="horz" lIns="91440" tIns="45720" rIns="91440" bIns="45720" rtlCol="0" anchor="b"/>
          <a:lstStyle>
            <a:lvl1pPr algn="r">
              <a:defRPr sz="1200"/>
            </a:lvl1pPr>
          </a:lstStyle>
          <a:p>
            <a:fld id="{CE5E9CC1-C706-0F49-92D6-E571CC5EEA8F}" type="slidenum">
              <a:rPr lang="en-US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 bg1="lt1" tx1="dk1" bg2="lt2" tx2="dk2" accent1="accent1" accent2="accent2" accent3="accent3" accent4="accent4" accent5="accent5" accent6="accent6" hlink="hlink" folHlink="folHlink"/>
  <p:notesStyle>
    <a:lvl1pPr marL="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1pPr>
    <a:lvl2pPr marL="45720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2pPr>
    <a:lvl3pPr marL="91440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3pPr>
    <a:lvl4pPr marL="137160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4pPr>
    <a:lvl5pPr marL="182880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5pPr>
    <a:lvl6pPr marL="228600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6pPr>
    <a:lvl7pPr marL="274320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7pPr>
    <a:lvl8pPr marL="320040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8pPr>
    <a:lvl9pPr marL="365760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9pPr>
  </p:notesStyle>
</p:notesMaster>
</file>

<file path=ppt/notesSlides/_rels/notesSlide1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1.xml"/>
		</Relationships>
</file>

<file path=ppt/notesSlides/_rels/notesSlide2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2.xml"/>
		</Relationships>
</file>

<file path=ppt/notesSlides/_rels/notesSlide3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3.xml"/>
		</Relationships>
</file>

<file path=ppt/notesSlides/_rels/notesSlide4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4.xml"/>
		</Relationships>
</file>

<file path=ppt/notesSlides/_rels/notesSlide5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5.xml"/>
		</Relationships>
</file>

<file path=ppt/notesSlides/_rels/notesSlide6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6.xml"/>
		</Relationships>
</file>

<file path=ppt/notesSlides/_rels/notesSlide7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7.xml"/>
		</Relationships>
</file>

<file path=ppt/notesSlides/_rels/notesSlide8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8.xml"/>
		</Relationships>
</file>

<file path=ppt/notesSlides/_rels/notesSlide9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9.xml"/>
		</Relationships>
</file>

<file path=ppt/notesSlides/_rels/notesSlide10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10.xml"/>
		</Relationships>
</file>

<file path=ppt/notesSlides/_rels/notesSlide11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11.xml"/>
		</Relationships>
</file>

<file path=ppt/notesSlides/_rels/notesSlide12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12.xml"/>
		</Relationships>
</file>

<file path=ppt/notesSlides/_rels/notesSlide13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13.xml"/>
		</Relationships>
</file>

<file path=ppt/notesSlides/_rels/notesSlide14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14.xml"/>
		</Relationships>
</file>

<file path=ppt/notesSlides/_rels/notesSlide15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15.xml"/>
		</Relationships>
</file>

<file path=ppt/notesSlides/notesSlide1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>【講者】林崇偉　【時間】約 20 秒
【講稿】
大家好，我們是第 02 組，題目是「作業規格與缺漏檢查助手」。我是林崇偉，隊長是陳冠友。
簡單說，學生交作業前，系統會拿老師的範例和規格來比對，把每一項要求標成已完成、需補件或待確認，就像右邊這張卡片。今天展示的是本機的階段原型，所有資料都是合成的。
【注意】
・不要說成「完整自動批改」或「正式校園服務」。</a:t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1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2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>【講者】林崇偉　【時間】約 50 秒
【講稿】
先講問題。老師會給範例和必做要求，但學生交之前，常常不知道自己少了哪一段。難的地方在於：「有寫」不等於「符合」。
看右邊三個例子。第一個，學生把「使用者」這一節寫成「誰會用」，標題不同，但內容有描述對象和情境，應該算已完成。第二個，失敗案例只寫了輸入和結果，沒寫原因，這是需補件。第三個，學生說測試紀錄在附錄，但系統讀不到附錄，不能直接判缺交，只能標待確認、交給老師。
標題和用字一直在變，關鍵字規則判不準，這就是我們需要 LLM 判讀語意的原因。
【注意】
・完整的「學生到老師通知」流程仍是願景，現有結果只在系統畫面內呈現。</a:t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2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3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>【講者】林崇偉　【時間】約 50 秒
【講稿】
這是我們七週的累積。綠點是有證據的完成項，下面橘色字是還沒補齊的缺口，例如 Week 3 缺教師費率案例的原文、Week 4 課程指定的 Gemini 沒有驗證。Week 6 沒有可核對的材料，所以我們不列為完成。最右邊黃色的 v0.8，是 10 月 28 日晚上新增的 PDF 預檢。
整理下來有三條路徑：A 文字語意比對、B 補件工具流程，兩條都有真實呼叫成功的紀錄；C 是 PDF 預檢，已經實作，但最終的真實執行結果還在記錄中。
最大的缺口是：A 和 C 的判讀結果還沒接到 B 的草稿工具，B 目前讀的是預先寫好的合成評閱快照。
【注意】
・Week 4／5 的歷史驗證分別是 107／131 項測試，被問到再回答。
・舊版簡報寫「PDF 規劃中」，現在要以這頁為準。</a:t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3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4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>【講者】陳冠友　【時間】約 45 秒
【講稿】
接下來由我陳冠友說明設計。我們的原則是：需要理解語意的交給模型，能明確驗證的交給程式。
模型負責判斷換句話說是否符合、內容有沒有寫完整、讀 PDF 的文字和圖片，以及提出工具呼叫。程式負責欄位和版本驗證、原文引用和頁碼核對、權限與人工確認，還有資料庫交易。
要強調的是，單次比對其實不需要 Agent；只有「先查詢、再提案、使用者確認後才執行、最後回填結果」這種多步流程，才需要受控的工具迴圈。
【注意】
・模型是在受限的工具集合裡產生 call，Host 控制允許的順序，不是自由規劃。</a:t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4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5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>【講者】陳冠友　【時間】約 1 分鐘
【講稿】
這是系統架構。使用者從瀏覽器的 /week7 進來，所有請求都先經過中間的 FastAPI 和 Host。Host 先驗證 Cookie 和 Session 身分，再把 context 送給 OpenAI。
模型回來的只是「提出工具呼叫」，Host 會檢查參數和允許的工具順序，通過了才執行。下面四塊是 Host 管理的資料：來源與 RAG gate 管版本和 hash；MCP 唯讀伺服器提供既有的評閱快照；SQLite 存草稿、收據和稽核，只有使用者確認後才會寫；Session 記憶只留最近一筆成功摘要。
工具結果回填模型之後，Host 會再核對一次摘要才回傳畫面。記憶只是背景資訊，不能拿來授權寫入。
【注意】
・PDF 預檢預設模型是 gpt-5.4-2026-03-05；工具與文字流程是 gpt-4.1-mini-2025-04-14。</a:t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5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6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>【講者】陳冠友　【時間】約 45 秒
【講稿】
兩個工具都有明確的輸入、輸出和驗證。get_submission_review 是唯讀的，透過 MCP stdio 讀出缺漏、待確認項和引用。
create_revision_draft 是寫入工具，但模型呼叫它時只算「提案」。確認旗標和 request_id 不是模型給的，而是使用者按下確認後由 Host 綁定，同一個 run ID 只會寫一次。
另外有三個硬性上限：模型最多三輪、可重試的錯誤最多兩次、提案十分鐘到期。遇到非法參數、順序不符、引用不足或沒有權限，就立刻停止、不寫入，交給老師處理。
【注意】
・可指向 contracts.py 的 Pydantic schema。</a:t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6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7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>【講者】陳冠友　【時間】約 45 秒
【講稿】
Week 7 我們做的是 Session 記憶。成功的報告摘要通過核對後，只在這個 Session 保留最近一筆，大小在 4096 bytes 以內，不含原文，也不含先前的同意。下次呼叫模型時，會先核對擁有者和來源版本。
有三種情況會切斷記憶：清除對話、換成另一位使用者、來源更新成新版本。這時 context 裡的 memory 就是 null，舊的提案也會失效。右邊是實際畫面。
要注意，清除不等於刪除：草稿、交易和稽核紀錄還是保留在本機。
【注意】
・對應 Lecture07 第 8 頁／投影片 84。
・不要說「清除後全部資料都刪掉了」。</a:t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7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8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>【講者】陳冠友操作、林崇偉補充　【時間】約 2 分鐘
【操作】
・開啟 /week7，選「示範學生 A」→「切換／開始」，執行方式選「GPT 實際 AI」。
・按「準備補件清單」，等結果出來。
・展開 trace，再按「確認建立草稿」。
【講稿】
接下來實際操作。我按「準備補件清單」，這時 GPT 真的在決定要呼叫哪個工具、帶什麼參數。
結果出來了：使用者與需求已完成、失敗案例需補件、附錄待確認，每一項都附了引用。注意現在的狀態是「等待確認」，資料庫還沒有寫入任何東西。
展開 trace，可以看到流程是 function_call、tool_validated、read_executed、tool_result_returned，然後停在 awaiting_confirmation。
現在我按「確認建立草稿」。收到收據、狀態是 LIVE_PASS，這時候才寫入一份本機草稿，沒有通知任何人；同一個請求重送，仍然只有一份。
要說明的是，這個工具讀的是預先寫好的合成評閱快照，不是剛剛重新批改。
【注意】
・API 失敗時不要一直重按，改用 reports/midterm/screenshots/01、02 截圖，並說明「這是 2026-10-28、程式 6a5bc9b 的執行畫面」，不能稱為現場成功。
・不要現場重按「準備」當成同 ID 重送；同 ID 重送的證據在 W01/W02 JSON。</a:t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8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9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>【講者】林崇偉解說、陳冠友操作　【時間】約 1 分 30 秒
【操作】
・切到「文字語意比對」，勾選「我已核對以上項目為本次必做要求」，按「呼叫 GPT 進行語意檢查」。
・結束前按「清除對話，開始新 Session」，切回補件工具流程，展開「本次記憶範圍」。
【講稿】
再看文字語意比對，這一條才是真正讓模型做判斷。老師要求說明使用者情境，並提供包含輸入、結果和原因的失敗案例。
結果 R1 已完成：學生用「誰會用」當標題，但仍然描述了對象和情境。R2 需補件：有輸入、有結果，但沒寫失敗原因。
系統確認每一段引用確實存在於原文；但引用存在不代表判斷一定對，模型建議的失敗原因也需要學生自己查證，不能照抄。
最後我們按「清除對話」，再看記憶範圍：memory 是 null，舊摘要已經不會進入模型。
【注意】
・語意結果尚未接回工具流程的固定快照，兩條流程分開驗證。
・備援截圖：03 語意比對、04 清除對話。</a:t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9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10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>【講者】陳冠友　【時間】約 1 分 10 秒
【講稿】
這是舊版簡報之後新增的 PDF 預檢。學生上傳老師的規格和自己的報告，每份最多 6 MiB、25 頁，兩份合計 35 頁。
Host 先檢查檔案、擷取文字，並把每一行編號。GPT 同時讀文字和頁面圖片，判斷每項要求有沒有完成，但它只回傳證據的「行號」，引文由 Host 從原文直接複製，所以引用不會被模型改寫。
估分有三道關卡：老師原文要明列配分、總和要是 100、使用者要確認配分正確。三個都成立才顯示估分區間，否則只列缺漏，不給分數。
另外，只交 PDF 時看不到 C++ 原始碼，這只會列為待確認，不會直接算零分。估分區間也還沒和老師的真實成績校準，所以它是自我檢查，不是正式成績。
【注意】
・一次操作只呼叫一次模型，沒有自動重試，會使用 API 額度。
・除非上台前已確認 gpt-5.4 能成功執行，否則不要現場示範 PDF；只用合成或已授權的 PDF，不要投影真實學生作業。</a:t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10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11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>【講者】陳冠友　【時間】約 1 分鐘
【講稿】
PDF 這條我們把真實呼叫紀錄都列出來。第一版用 gpt-4.1-mini，讓模型直接寫引文，結果模型把摘要當成逐字引文、還混用頁碼，Host 用 UNGROUNDED_PDF_REPORT 拒絕輸出成績。
第二版改成模型只選行號、Host 複製原文。同一個模型又選了跨頁和過長的範圍，被 INVALID_SOURCE_REFERENCE 擋下；我們人工抽查還發現，它把目錄當成已完成的正文。
第三版把 PDF 換成 gpt-5.4，保留行號驗證。最終結果還沒寫進公開紀錄，所以今天不宣稱成功。
我們學到的是：格式通過、引用正確、語意判斷正確，是三件不同的事，要分開驗證。兩次失敗都被擋下，沒有給出錯誤的分數。
【注意】
・上台前確認 artifacts/pdf-precheck/verification.json 是否已產生。若有 LIVE_PASS 紀錄，才把第三張卡與這段講稿改成成功，且只能說「單一案例」，不能說準確率。
・真實學生作業、分數與引文只留本機，不要投影或公開。</a:t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11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12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>【講者】林崇偉　【時間】約 45 秒
【講稿】
再來是測試。回歸測試從 Week 4 的 107 項、Week 5 的 131 項、Week 7 的 148 項，到加入 PDF 後的 178 項全部通過，其中 30 項是 PDF 的新測試。
右邊是關鍵案例，每一列都標了執行模式：GPT 是真實呼叫，HTTP 是伺服器權限檢查，故障注入和離線是我們刻意製造的情境。例如跨使用者讀取，會回傳 RUN_NOT_FOUND，不會透露別人的資料存不存在。
要提醒的是，離線測試通過不等於真實模型的準確率。Week 7 的真實呼叫一共 14 次、18,296 個 tokens。
【注意】
・178 項另有 1 個 AnyIO deprecation warning。
・tokens 是用量，不是帳單金額。</a:t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12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13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>【講者】林崇偉　【時間】約 45 秒
【講稿】
我們也保留了一個真實失敗。原版和加了 Session 記憶的候選版，用同樣的輸入、同樣的模型、同樣的來源各跑一次。
原版讀完資料後直接回答，跳過了草稿提案，Host 用 UNEXPECTED_TOOL_SEQUENCE 擋下，沒有寫入；候選版則正常完成。數字上，原版 2 次回覆、2,133 tokens，候選版 3 次、4,352 tokens。
但這只有一組樣本，而且兩邊完成的終點不同，所以我們不能說記憶提升了品質或降低了成本。另外，課程指定的 Google Cloud Gemini 我們沒有執行，這部分還不符合要求。
【注意】
・完整 live index 是 all_passed=false，不要只挑候選成功說整組通過。</a:t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13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14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>【講者】林崇偉　【時間】約 50 秒
【講稿】
最後整理現況。已完成且驗證的有：文字語意比對、補件工具流程、Session 清除與跨人隔離。
已經實作但還要真實驗證的有：PDF 預檢的 gpt-5.4 最終結果、來源 v2 排除目前只有離線測試、估分區間還沒和老師成績校準。
期末前的第一優先，是把 PDF 和語意判讀的結果轉成不可變的評閱快照，再接進草稿工具；同時建立 20 組老師標註的案例。之後再做掃描 PDF 的 OCR、正式登入和教師角色。
驗收方式是：20 組標註案例、跨人隔離、來源變更拒寫、可重現的 trace，並分開報告正確率和拒答率。
【注意】
・正式登入尚未實作，不能放進「待驗證」那欄。外部通知與 LMS 串接需另行授權，仍是規劃。</a:t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14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15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>【講者】兩人　【時間】約 30 秒
【講稿】
（陳冠友）分工上，目前的建議是：我負責後端、工具確認、Session 記憶和 PDF 預檢示範。
（林崇偉）我負責使用情境、來源引用、測試和失敗分析。
開發、測試和簡報製作有使用 Codex 和 Claude 協助。以上是我們的報告，謝謝，歡迎提問。
【注意】
・這是建議分工，上台前請改成兩人確認過的實際分工，不要把建議念成已完成的事實。</a:t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15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slideLayouts/_rels/slideLayout1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2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3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4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slideLayout1.xml><?xml version="1.0" encoding="utf-8"?>
<p:sldLayout xmlns:a="http://schemas.openxmlformats.org/drawingml/2006/main" xmlns:r="http://schemas.openxmlformats.org/officeDocument/2006/relationships" xmlns:p="http://schemas.openxmlformats.org/presentationml/2006/main" preserve="1">
  <p:cSld name="DEFAULT">
    <p:bg>
      <p:bgRef idx="1001">
        <a:schemeClr val="bg1"/>
      </p:bgRef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</p:spTree>
  </p:cSld>
  <p:clrMapOvr>
    <a:masterClrMapping/>
  </p:clrMapOvr>
</p:sldLayout>
</file>

<file path=ppt/slideLayouts/slideLayout2.xml><?xml version="1.0" encoding="utf-8"?>
<p:sldLayout xmlns:a="http://schemas.openxmlformats.org/drawingml/2006/main" xmlns:r="http://schemas.openxmlformats.org/officeDocument/2006/relationships" xmlns:p="http://schemas.openxmlformats.org/presentationml/2006/main" preserve="1">
  <p:cSld name="TITLE_DARK">
    <p:bg>
      <p:bgPr>
        <a:solidFill>
          <a:schemeClr val="tx2"/>
        </a:solidFill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ext 0"/>
          <p:cNvSpPr/>
          <p:nvPr>
            <p:ph idx="100" type="body" hasCustomPrompt="1"/>
          </p:nvPr>
        </p:nvSpPr>
        <p:spPr>
          <a:xfrm>
            <a:off x="548640" y="822960"/>
            <a:ext cx="6766560" cy="365760"/>
          </a:xfrm>
          <a:prstGeom prst="rect">
            <a:avLst/>
          </a:prstGeom>
          <a:noFill/>
          <a:ln/>
        </p:spPr>
        <p:txBody>
          <a:bodyPr wrap="square" rtlCol="0"/>
          <a:lstStyle>
            <a:lvl1pPr algn="l" indent="0" marL="0">
              <a:buNone/>
              <a:defRPr lang="en-US" sz="1600" b="1" dirty="0">
                <a:solidFill>
                  <a:schemeClr val="accent1"/>
                </a:solidFill>
              </a:defRPr>
            </a:lvl1pPr>
          </a:lstStyle>
          <a:p>
            <a:pPr algn="l" indent="0" marL="0">
              <a:buNone/>
            </a:pPr>
            <a:endParaRPr lang="en-US" sz="1600" dirty="0"/>
          </a:p>
        </p:txBody>
      </p:sp>
      <p:sp>
        <p:nvSpPr>
          <p:cNvPr id="3" name="Text 0"/>
          <p:cNvSpPr/>
          <p:nvPr>
            <p:ph idx="101" type="title" hasCustomPrompt="1"/>
          </p:nvPr>
        </p:nvSpPr>
        <p:spPr>
          <a:xfrm>
            <a:off x="548640" y="1325880"/>
            <a:ext cx="6949440" cy="960120"/>
          </a:xfrm>
          <a:prstGeom prst="rect">
            <a:avLst/>
          </a:prstGeom>
          <a:noFill/>
          <a:ln/>
        </p:spPr>
        <p:txBody>
          <a:bodyPr wrap="square" rtlCol="0"/>
          <a:lstStyle>
            <a:lvl1pPr algn="l" indent="0" marL="0">
              <a:buNone/>
              <a:defRPr lang="en-US" sz="4400" b="1" dirty="0">
                <a:solidFill>
                  <a:schemeClr val="bg1"/>
                </a:solidFill>
              </a:defRPr>
            </a:lvl1pPr>
          </a:lstStyle>
          <a:p>
            <a:pPr algn="l" indent="0" marL="0">
              <a:buNone/>
            </a:pPr>
            <a:endParaRPr lang="en-US" sz="4400" dirty="0"/>
          </a:p>
        </p:txBody>
      </p:sp>
    </p:spTree>
  </p:cSld>
  <p:clrMapOvr>
    <a:masterClrMapping/>
  </p:clrMapOvr>
</p:sldLayout>
</file>

<file path=ppt/slideLayouts/slideLayout3.xml><?xml version="1.0" encoding="utf-8"?>
<p:sldLayout xmlns:a="http://schemas.openxmlformats.org/drawingml/2006/main" xmlns:r="http://schemas.openxmlformats.org/officeDocument/2006/relationships" xmlns:p="http://schemas.openxmlformats.org/presentationml/2006/main" preserve="1">
  <p:cSld name="CONTENT">
    <p:bg>
      <p:bgPr>
        <a:solidFill>
          <a:schemeClr val="bg1"/>
        </a:solidFill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ext 0"/>
          <p:cNvSpPr/>
          <p:nvPr>
            <p:ph idx="100" type="body" hasCustomPrompt="1"/>
          </p:nvPr>
        </p:nvSpPr>
        <p:spPr>
          <a:xfrm>
            <a:off x="548640" y="365760"/>
            <a:ext cx="8778240" cy="274320"/>
          </a:xfrm>
          <a:prstGeom prst="rect">
            <a:avLst/>
          </a:prstGeom>
          <a:noFill/>
          <a:ln/>
        </p:spPr>
        <p:txBody>
          <a:bodyPr wrap="square" rtlCol="0"/>
          <a:lstStyle>
            <a:lvl1pPr algn="l" indent="0" marL="0">
              <a:buNone/>
              <a:defRPr lang="en-US" sz="1300" b="1" dirty="0">
                <a:solidFill>
                  <a:schemeClr val="accent6"/>
                </a:solidFill>
              </a:defRPr>
            </a:lvl1pPr>
          </a:lstStyle>
          <a:p>
            <a:pPr algn="l" indent="0" marL="0">
              <a:buNone/>
            </a:pPr>
            <a:endParaRPr lang="en-US" sz="1300" dirty="0"/>
          </a:p>
        </p:txBody>
      </p:sp>
      <p:sp>
        <p:nvSpPr>
          <p:cNvPr id="3" name="Text 0"/>
          <p:cNvSpPr/>
          <p:nvPr>
            <p:ph idx="101" type="title" hasCustomPrompt="1"/>
          </p:nvPr>
        </p:nvSpPr>
        <p:spPr>
          <a:xfrm>
            <a:off x="548640" y="658368"/>
            <a:ext cx="11064240" cy="685800"/>
          </a:xfrm>
          <a:prstGeom prst="rect">
            <a:avLst/>
          </a:prstGeom>
          <a:noFill/>
          <a:ln/>
        </p:spPr>
        <p:txBody>
          <a:bodyPr wrap="square" rtlCol="0"/>
          <a:lstStyle>
            <a:lvl1pPr algn="l" indent="0" marL="0">
              <a:buNone/>
              <a:defRPr lang="en-US" sz="3000" b="1" dirty="0">
                <a:solidFill>
                  <a:schemeClr val="tx1"/>
                </a:solidFill>
              </a:defRPr>
            </a:lvl1pPr>
          </a:lstStyle>
          <a:p>
            <a:pPr algn="l" indent="0" marL="0">
              <a:buNone/>
            </a:pPr>
            <a:endParaRPr lang="en-US" sz="3000" dirty="0"/>
          </a:p>
        </p:txBody>
      </p:sp>
      <p:sp>
        <p:nvSpPr>
          <p:cNvPr id="4" name="Text 0"/>
          <p:cNvSpPr/>
          <p:nvPr/>
        </p:nvSpPr>
        <p:spPr>
          <a:xfrm>
            <a:off x="548640" y="6400800"/>
            <a:ext cx="7315200" cy="256032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zh-TW" altLang="en-US" sz="1000" dirty="0">
                <a:solidFill>
                  <a:schemeClr val="accent6"/>
                </a:solidFill>
              </a:rPr>
              <a:t>第 02 組 · 作業規格與缺漏檢查助手</a:t>
            </a:r>
            <a:endParaRPr lang="zh-TW" sz="1000" dirty="0"/>
          </a:p>
        </p:txBody>
      </p:sp>
      <p:sp>
        <p:nvSpPr>
          <p:cNvPr id="25" name="Slide Number Placeholder 0"/>
          <p:cNvSpPr>
            <a:spLocks noGrp="1"/>
          </p:cNvSpPr>
          <p:nvPr>
            <p:ph type="sldNum" sz="quarter" idx="4294967295"/>
          </p:nvPr>
        </p:nvSpPr>
        <p:spPr>
          <a:xfrm>
            <a:off x="11091672" y="6400800"/>
            <a:ext cx="548640" cy="256032"/>
          </a:xfrm>
          <a:prstGeom prst="rect">
            <a:avLst/>
          </a:prstGeom>
          <a:extLst>
            <a:ext uri="{C572A759-6A51-4108-AA02-DFA0A04FC94B}">
              <ma14:wrappingTextBoxFlag xmlns:ma14="http://schemas.microsoft.com/office/mac/drawingml/2011/main" val="0"/>
            </a:ext>
          </a:extLst>
        </p:spPr>
        <p:txBody>
          <a:bodyPr/>
          <a:lstStyle>
            <a:lvl1pPr>
              <a:defRPr sz="1000">
                <a:solidFill>
                  <a:schemeClr val="accent6"/>
                </a:solidFill>
              </a:defRPr>
            </a:lvl1pPr>
          </a:lstStyle>
          <a:p>
            <a:pPr algn="r"/>
            <a:fld id="{F7021451-1387-4CA6-816F-3879F97B5CBC}" type="slidenum">
              <a:rPr b="0" lang="en-US"/>
              <a:t>1003</a:t>
            </a:fld>
            <a:endParaRPr lang="en-US"/>
          </a:p>
        </p:txBody>
      </p:sp>
    </p:spTree>
  </p:cSld>
  <p:clrMapOvr>
    <a:masterClrMapping/>
  </p:clrMapOvr>
</p:sldLayout>
</file>

<file path=ppt/slideLayouts/slideLayout4.xml><?xml version="1.0" encoding="utf-8"?>
<p:sldLayout xmlns:a="http://schemas.openxmlformats.org/drawingml/2006/main" xmlns:r="http://schemas.openxmlformats.org/officeDocument/2006/relationships" xmlns:p="http://schemas.openxmlformats.org/presentationml/2006/main" preserve="1">
  <p:cSld name="CLOSING_DARK">
    <p:bg>
      <p:bgPr>
        <a:solidFill>
          <a:schemeClr val="tx2"/>
        </a:solidFill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ext 0"/>
          <p:cNvSpPr/>
          <p:nvPr>
            <p:ph idx="100" type="body" hasCustomPrompt="1"/>
          </p:nvPr>
        </p:nvSpPr>
        <p:spPr>
          <a:xfrm>
            <a:off x="548640" y="365760"/>
            <a:ext cx="8778240" cy="274320"/>
          </a:xfrm>
          <a:prstGeom prst="rect">
            <a:avLst/>
          </a:prstGeom>
          <a:noFill/>
          <a:ln/>
        </p:spPr>
        <p:txBody>
          <a:bodyPr wrap="square" rtlCol="0"/>
          <a:lstStyle>
            <a:lvl1pPr algn="l" indent="0" marL="0">
              <a:buNone/>
              <a:defRPr lang="en-US" sz="1300" b="1" dirty="0">
                <a:solidFill>
                  <a:schemeClr val="accent1"/>
                </a:solidFill>
              </a:defRPr>
            </a:lvl1pPr>
          </a:lstStyle>
          <a:p>
            <a:pPr algn="l" indent="0" marL="0">
              <a:buNone/>
            </a:pPr>
            <a:endParaRPr lang="en-US" sz="1300" dirty="0"/>
          </a:p>
        </p:txBody>
      </p:sp>
      <p:sp>
        <p:nvSpPr>
          <p:cNvPr id="3" name="Text 0"/>
          <p:cNvSpPr/>
          <p:nvPr>
            <p:ph idx="101" type="title" hasCustomPrompt="1"/>
          </p:nvPr>
        </p:nvSpPr>
        <p:spPr>
          <a:xfrm>
            <a:off x="548640" y="658368"/>
            <a:ext cx="11064240" cy="685800"/>
          </a:xfrm>
          <a:prstGeom prst="rect">
            <a:avLst/>
          </a:prstGeom>
          <a:noFill/>
          <a:ln/>
        </p:spPr>
        <p:txBody>
          <a:bodyPr wrap="square" rtlCol="0"/>
          <a:lstStyle>
            <a:lvl1pPr algn="l" indent="0" marL="0">
              <a:buNone/>
              <a:defRPr lang="en-US" sz="3000" b="1" dirty="0">
                <a:solidFill>
                  <a:schemeClr val="bg1"/>
                </a:solidFill>
              </a:defRPr>
            </a:lvl1pPr>
          </a:lstStyle>
          <a:p>
            <a:pPr algn="l" indent="0" marL="0">
              <a:buNone/>
            </a:pPr>
            <a:endParaRPr lang="en-US" sz="3000" dirty="0"/>
          </a:p>
        </p:txBody>
      </p:sp>
      <p:sp>
        <p:nvSpPr>
          <p:cNvPr id="4" name="Text 0"/>
          <p:cNvSpPr/>
          <p:nvPr/>
        </p:nvSpPr>
        <p:spPr>
          <a:xfrm>
            <a:off x="548640" y="6400800"/>
            <a:ext cx="7315200" cy="256032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zh-TW" altLang="en-US" sz="1000" dirty="0">
                <a:solidFill>
                  <a:schemeClr val="bg2"/>
                </a:solidFill>
              </a:rPr>
              <a:t>第 02 組 · 作業規格與缺漏檢查助手</a:t>
            </a:r>
            <a:endParaRPr lang="zh-TW" sz="1000" dirty="0"/>
          </a:p>
        </p:txBody>
      </p:sp>
      <p:sp>
        <p:nvSpPr>
          <p:cNvPr id="25" name="Slide Number Placeholder 0"/>
          <p:cNvSpPr>
            <a:spLocks noGrp="1"/>
          </p:cNvSpPr>
          <p:nvPr>
            <p:ph type="sldNum" sz="quarter" idx="4294967295"/>
          </p:nvPr>
        </p:nvSpPr>
        <p:spPr>
          <a:xfrm>
            <a:off x="11091672" y="6400800"/>
            <a:ext cx="548640" cy="256032"/>
          </a:xfrm>
          <a:prstGeom prst="rect">
            <a:avLst/>
          </a:prstGeom>
          <a:extLst>
            <a:ext uri="{C572A759-6A51-4108-AA02-DFA0A04FC94B}">
              <ma14:wrappingTextBoxFlag xmlns:ma14="http://schemas.microsoft.com/office/mac/drawingml/2011/main" val="0"/>
            </a:ext>
          </a:extLst>
        </p:spPr>
        <p:txBody>
          <a:bodyPr/>
          <a:lstStyle>
            <a:lvl1pPr>
              <a:defRPr sz="1000">
                <a:solidFill>
                  <a:schemeClr val="bg2"/>
                </a:solidFill>
              </a:defRPr>
            </a:lvl1pPr>
          </a:lstStyle>
          <a:p>
            <a:pPr algn="r"/>
            <a:fld id="{F7021451-1387-4CA6-816F-3879F97B5CBC}" type="slidenum">
              <a:rPr b="0" lang="en-US"/>
              <a:t>1004</a:t>
            </a:fld>
            <a:endParaRPr lang="en-US"/>
          </a:p>
        </p:txBody>
      </p:sp>
    </p:spTree>
  </p:cSld>
  <p:clrMapOvr>
    <a:masterClrMapping/>
  </p:clrMapOvr>
</p:sldLayout>
</file>

<file path=ppt/slideMasters/_rels/slideMaster1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slideLayout" Target="../slideLayouts/slideLayout2.xml"/><Relationship Id="rId3" Type="http://schemas.openxmlformats.org/officeDocument/2006/relationships/slideLayout" Target="../slideLayouts/slideLayout3.xml"/><Relationship Id="rId4" Type="http://schemas.openxmlformats.org/officeDocument/2006/relationships/slideLayout" Target="../slideLayouts/slideLayout4.xml"/><Relationship Id="rId5" Type="http://schemas.openxmlformats.org/officeDocument/2006/relationships/theme" Target="../theme/theme1.xml"/></Relationships>
</file>

<file path=ppt/slideMasters/slideMaster1.xml><?xml version="1.0" encoding="utf-8"?>
<p:sldMaster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5" name="Slide Number Placeholder 0"/>
          <p:cNvSpPr>
            <a:spLocks noGrp="1"/>
          </p:cNvSpPr>
          <p:nvPr>
            <p:ph type="sldNum" sz="quarter" idx="4294967295"/>
          </p:nvPr>
        </p:nvSpPr>
        <p:spPr>
          <a:xfrm>
            <a:off x="11091672" y="6400800"/>
            <a:ext cx="548640" cy="256032"/>
          </a:xfrm>
          <a:prstGeom prst="rect">
            <a:avLst/>
          </a:prstGeom>
          <a:extLst>
            <a:ext uri="{C572A759-6A51-4108-AA02-DFA0A04FC94B}">
              <ma14:wrappingTextBoxFlag xmlns:ma14="http://schemas.microsoft.com/office/mac/drawingml/2011/main" val="0"/>
            </a:ext>
          </a:extLst>
        </p:spPr>
        <p:txBody>
          <a:bodyPr/>
          <a:lstStyle>
            <a:lvl1pPr>
              <a:defRPr sz="1000">
                <a:solidFill>
                  <a:schemeClr val="accent6"/>
                </a:solidFill>
              </a:defRPr>
            </a:lvl1pPr>
          </a:lstStyle>
          <a:p>
            <a:pPr algn="r"/>
            <a:fld id="{F7021451-1387-4CA6-816F-3879F97B5CBC}" type="slidenum">
              <a:rPr b="0" lang="en-US"/>
              <a:t>null</a:t>
            </a:fld>
            <a:endParaRPr lang="en-US"/>
          </a:p>
        </p:txBody>
      </p:sp>
    </p:spTree>
  </p:cSld>
  <p:clrMap bg1="lt1" tx1="dk1" bg2="lt2" tx2="dk2" accent1="accent1" accent2="accent2" accent3="accent3" accent4="accent4" accent5="accent5" accent6="accent6" hlink="hlink" folHlink="folHlink"/>
  <p:sldLayoutIdLst>
    <p:sldLayoutId id="2147483649" r:id="rId1"/>
    <p:sldLayoutId id="2147483650" r:id="rId2"/>
    <p:sldLayoutId id="2147483651" r:id="rId3"/>
    <p:sldLayoutId id="2147483652" r:id="rId4"/>
  </p:sldLayoutIdLst>
  <p:hf sldNum="0" hdr="0" ftr="0" dt="0"/>
  <p:txStyles>
    <p:titleStyle>
      <a:lvl1pPr algn="ctr" defTabSz="914400" rtl="0" eaLnBrk="1" latinLnBrk="0" hangingPunct="1">
        <a:spcBef>
          <a:spcPct val="0"/>
        </a:spcBef>
        <a:buNone/>
        <a:defRPr sz="4400" kern="1200">
          <a:solidFill>
            <a:schemeClr val="tx1"/>
          </a:solidFill>
          <a:latin typeface="+mj-lt"/>
          <a:ea typeface="+mj-ea"/>
          <a:cs typeface="+mj-cs"/>
        </a:defRPr>
      </a:lvl1pPr>
    </p:titleStyle>
    <p:bodyStyle>
      <a:lvl1pPr marL="342900" indent="-342900" algn="l" defTabSz="914400" rtl="0" eaLnBrk="1" latinLnBrk="0" hangingPunct="1">
        <a:spcBef>
          <a:spcPct val="20000"/>
        </a:spcBef>
        <a:buFont typeface="Arial" pitchFamily="34" charset="0"/>
        <a:buChar char="•"/>
        <a:defRPr sz="3200" kern="1200">
          <a:solidFill>
            <a:schemeClr val="tx1"/>
          </a:solidFill>
          <a:latin typeface="+mn-lt"/>
          <a:ea typeface="+mn-ea"/>
          <a:cs typeface="+mn-cs"/>
        </a:defRPr>
      </a:lvl1pPr>
      <a:lvl2pPr marL="742950" indent="-285750" algn="l" defTabSz="914400" rtl="0" eaLnBrk="1" latinLnBrk="0" hangingPunct="1">
        <a:spcBef>
          <a:spcPct val="20000"/>
        </a:spcBef>
        <a:buFont typeface="Arial" pitchFamily="34" charset="0"/>
        <a:buChar char="–"/>
        <a:defRPr sz="2800" kern="1200">
          <a:solidFill>
            <a:schemeClr val="tx1"/>
          </a:solidFill>
          <a:latin typeface="+mn-lt"/>
          <a:ea typeface="+mn-ea"/>
          <a:cs typeface="+mn-cs"/>
        </a:defRPr>
      </a:lvl2pPr>
      <a:lvl3pPr marL="1143000" indent="-228600" algn="l" defTabSz="914400" rtl="0" eaLnBrk="1" latinLnBrk="0" hangingPunct="1">
        <a:spcBef>
          <a:spcPct val="20000"/>
        </a:spcBef>
        <a:buFont typeface="Arial" pitchFamily="34" charset="0"/>
        <a:buChar char="•"/>
        <a:defRPr sz="2400" kern="1200">
          <a:solidFill>
            <a:schemeClr val="tx1"/>
          </a:solidFill>
          <a:latin typeface="+mn-lt"/>
          <a:ea typeface="+mn-ea"/>
          <a:cs typeface="+mn-cs"/>
        </a:defRPr>
      </a:lvl3pPr>
      <a:lvl4pPr marL="1600200" indent="-228600" algn="l" defTabSz="914400" rtl="0" eaLnBrk="1" latinLnBrk="0" hangingPunct="1">
        <a:spcBef>
          <a:spcPct val="20000"/>
        </a:spcBef>
        <a:buFont typeface="Arial" pitchFamily="34" charset="0"/>
        <a:buChar char="–"/>
        <a:defRPr sz="2000" kern="1200">
          <a:solidFill>
            <a:schemeClr val="tx1"/>
          </a:solidFill>
          <a:latin typeface="+mn-lt"/>
          <a:ea typeface="+mn-ea"/>
          <a:cs typeface="+mn-cs"/>
        </a:defRPr>
      </a:lvl4pPr>
      <a:lvl5pPr marL="2057400" indent="-228600" algn="l" defTabSz="914400" rtl="0" eaLnBrk="1" latinLnBrk="0" hangingPunct="1">
        <a:spcBef>
          <a:spcPct val="20000"/>
        </a:spcBef>
        <a:buFont typeface="Arial" pitchFamily="34" charset="0"/>
        <a:buChar char="»"/>
        <a:defRPr sz="2000" kern="1200">
          <a:solidFill>
            <a:schemeClr val="tx1"/>
          </a:solidFill>
          <a:latin typeface="+mn-lt"/>
          <a:ea typeface="+mn-ea"/>
          <a:cs typeface="+mn-cs"/>
        </a:defRPr>
      </a:lvl5pPr>
      <a:lvl6pPr marL="2514600" indent="-228600" algn="l" defTabSz="914400" rtl="0" eaLnBrk="1" latinLnBrk="0" hangingPunct="1">
        <a:spcBef>
          <a:spcPct val="20000"/>
        </a:spcBef>
        <a:buFont typeface="Arial" pitchFamily="34" charset="0"/>
        <a:buChar char="•"/>
        <a:defRPr sz="2000" kern="1200">
          <a:solidFill>
            <a:schemeClr val="tx1"/>
          </a:solidFill>
          <a:latin typeface="+mn-lt"/>
          <a:ea typeface="+mn-ea"/>
          <a:cs typeface="+mn-cs"/>
        </a:defRPr>
      </a:lvl6pPr>
      <a:lvl7pPr marL="2971800" indent="-228600" algn="l" defTabSz="914400" rtl="0" eaLnBrk="1" latinLnBrk="0" hangingPunct="1">
        <a:spcBef>
          <a:spcPct val="20000"/>
        </a:spcBef>
        <a:buFont typeface="Arial" pitchFamily="34" charset="0"/>
        <a:buChar char="•"/>
        <a:defRPr sz="2000" kern="1200">
          <a:solidFill>
            <a:schemeClr val="tx1"/>
          </a:solidFill>
          <a:latin typeface="+mn-lt"/>
          <a:ea typeface="+mn-ea"/>
          <a:cs typeface="+mn-cs"/>
        </a:defRPr>
      </a:lvl7pPr>
      <a:lvl8pPr marL="3429000" indent="-228600" algn="l" defTabSz="914400" rtl="0" eaLnBrk="1" latinLnBrk="0" hangingPunct="1">
        <a:spcBef>
          <a:spcPct val="20000"/>
        </a:spcBef>
        <a:buFont typeface="Arial" pitchFamily="34" charset="0"/>
        <a:buChar char="•"/>
        <a:defRPr sz="2000" kern="1200">
          <a:solidFill>
            <a:schemeClr val="tx1"/>
          </a:solidFill>
          <a:latin typeface="+mn-lt"/>
          <a:ea typeface="+mn-ea"/>
          <a:cs typeface="+mn-cs"/>
        </a:defRPr>
      </a:lvl8pPr>
      <a:lvl9pPr marL="3886200" indent="-228600" algn="l" defTabSz="914400" rtl="0" eaLnBrk="1" latinLnBrk="0" hangingPunct="1">
        <a:spcBef>
          <a:spcPct val="20000"/>
        </a:spcBef>
        <a:buFont typeface="Arial" pitchFamily="34" charset="0"/>
        <a:buChar char="•"/>
        <a:defRPr sz="2000" kern="1200">
          <a:solidFill>
            <a:schemeClr val="tx1"/>
          </a:solidFill>
          <a:latin typeface="+mn-lt"/>
          <a:ea typeface="+mn-ea"/>
          <a:cs typeface="+mn-cs"/>
        </a:defRPr>
      </a:lvl9pPr>
    </p:bodyStyle>
    <p:otherStyle>
      <a:defPPr>
        <a:defRPr lang="en-US"/>
      </a:defPPr>
      <a:lvl1pPr marL="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1pPr>
      <a:lvl2pPr marL="4572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2pPr>
      <a:lvl3pPr marL="9144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3pPr>
      <a:lvl4pPr marL="13716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4pPr>
      <a:lvl5pPr marL="18288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5pPr>
      <a:lvl6pPr marL="22860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6pPr>
      <a:lvl7pPr marL="27432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7pPr>
      <a:lvl8pPr marL="32004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8pPr>
      <a:lvl9pPr marL="36576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9pPr>
    </p:otherStyle>
  </p:txStyles>
</p:sldMaster>
</file>

<file path=ppt/slides/_rels/slide1.xml.rels><?xml version="1.0" encoding="UTF-8" standalone="yes"?>
<Relationships xmlns="http://schemas.openxmlformats.org/package/2006/relationships"><Relationship Id="rId1" Type="http://schemas.openxmlformats.org/officeDocument/2006/relationships/image" Target="../media/image-1-1.png"/><Relationship Id="rId2" Type="http://schemas.openxmlformats.org/officeDocument/2006/relationships/image" Target="../media/image-1-2.png"/><Relationship Id="rId3" Type="http://schemas.openxmlformats.org/officeDocument/2006/relationships/image" Target="../media/image-1-3.png"/><Relationship Id="rId4" Type="http://schemas.openxmlformats.org/officeDocument/2006/relationships/image" Target="../media/image-1-4.png"/><Relationship Id="rId5" Type="http://schemas.openxmlformats.org/officeDocument/2006/relationships/image" Target="../media/image-1-5.png"/><Relationship Id="rId6" Type="http://schemas.openxmlformats.org/officeDocument/2006/relationships/image" Target="../media/image-1-6.png"/><Relationship Id="rId7" Type="http://schemas.openxmlformats.org/officeDocument/2006/relationships/image" Target="../media/image-1-7.png"/><Relationship Id="rId8" Type="http://schemas.openxmlformats.org/officeDocument/2006/relationships/slideLayout" Target="../slideLayouts/slideLayout2.xml"/><Relationship Id="rId9" Type="http://schemas.openxmlformats.org/officeDocument/2006/relationships/notesSlide" Target="../notesSlides/notesSlide1.xml"/></Relationships>
</file>

<file path=ppt/slides/_rels/slide2.xml.rels><?xml version="1.0" encoding="UTF-8" standalone="yes"?>
<Relationships xmlns="http://schemas.openxmlformats.org/package/2006/relationships"><Relationship Id="rId1" Type="http://schemas.openxmlformats.org/officeDocument/2006/relationships/image" Target="../media/image-2-1.png"/><Relationship Id="rId2" Type="http://schemas.openxmlformats.org/officeDocument/2006/relationships/image" Target="../media/image-2-2.png"/><Relationship Id="rId3" Type="http://schemas.openxmlformats.org/officeDocument/2006/relationships/image" Target="../media/image-2-3.png"/><Relationship Id="rId4" Type="http://schemas.openxmlformats.org/officeDocument/2006/relationships/image" Target="../media/image-2-4.png"/><Relationship Id="rId5" Type="http://schemas.openxmlformats.org/officeDocument/2006/relationships/image" Target="../media/image-2-5.png"/><Relationship Id="rId6" Type="http://schemas.openxmlformats.org/officeDocument/2006/relationships/image" Target="../media/image-2-6.png"/><Relationship Id="rId7" Type="http://schemas.openxmlformats.org/officeDocument/2006/relationships/image" Target="../media/image-2-7.png"/><Relationship Id="rId8" Type="http://schemas.openxmlformats.org/officeDocument/2006/relationships/slideLayout" Target="../slideLayouts/slideLayout3.xml"/><Relationship Id="rId9" Type="http://schemas.openxmlformats.org/officeDocument/2006/relationships/notesSlide" Target="../notesSlides/notesSlide2.xml"/></Relationships>
</file>

<file path=ppt/slides/_rels/slide3.xml.rels><?xml version="1.0" encoding="UTF-8" standalone="yes"?>
<Relationships xmlns="http://schemas.openxmlformats.org/package/2006/relationships"><Relationship Id="rId1" Type="http://schemas.openxmlformats.org/officeDocument/2006/relationships/image" Target="../media/image-3-1.png"/><Relationship Id="rId2" Type="http://schemas.openxmlformats.org/officeDocument/2006/relationships/image" Target="../media/image-3-2.png"/><Relationship Id="rId3" Type="http://schemas.openxmlformats.org/officeDocument/2006/relationships/image" Target="../media/image-3-3.png"/><Relationship Id="rId4" Type="http://schemas.openxmlformats.org/officeDocument/2006/relationships/image" Target="../media/image-3-4.png"/><Relationship Id="rId5" Type="http://schemas.openxmlformats.org/officeDocument/2006/relationships/image" Target="../media/image-3-5.png"/><Relationship Id="rId6" Type="http://schemas.openxmlformats.org/officeDocument/2006/relationships/image" Target="../media/image-3-6.png"/><Relationship Id="rId7" Type="http://schemas.openxmlformats.org/officeDocument/2006/relationships/image" Target="../media/image-3-7.png"/><Relationship Id="rId8" Type="http://schemas.openxmlformats.org/officeDocument/2006/relationships/slideLayout" Target="../slideLayouts/slideLayout3.xml"/><Relationship Id="rId9" Type="http://schemas.openxmlformats.org/officeDocument/2006/relationships/notesSlide" Target="../notesSlides/notesSlide3.xml"/></Relationships>
</file>

<file path=ppt/slides/_rels/slide4.xml.rels><?xml version="1.0" encoding="UTF-8" standalone="yes"?>
<Relationships xmlns="http://schemas.openxmlformats.org/package/2006/relationships"><Relationship Id="rId1" Type="http://schemas.openxmlformats.org/officeDocument/2006/relationships/image" Target="../media/image-4-1.png"/><Relationship Id="rId2" Type="http://schemas.openxmlformats.org/officeDocument/2006/relationships/image" Target="../media/image-4-2.png"/><Relationship Id="rId3" Type="http://schemas.openxmlformats.org/officeDocument/2006/relationships/image" Target="../media/image-4-3.png"/><Relationship Id="rId4" Type="http://schemas.openxmlformats.org/officeDocument/2006/relationships/slideLayout" Target="../slideLayouts/slideLayout3.xml"/><Relationship Id="rId5" Type="http://schemas.openxmlformats.org/officeDocument/2006/relationships/notesSlide" Target="../notesSlides/notesSlide4.xml"/></Relationships>
</file>

<file path=ppt/slides/_rels/slide5.xml.rels><?xml version="1.0" encoding="UTF-8" standalone="yes"?>
<Relationships xmlns="http://schemas.openxmlformats.org/package/2006/relationships"><Relationship Id="rId1" Type="http://schemas.openxmlformats.org/officeDocument/2006/relationships/image" Target="../media/image-5-1.png"/><Relationship Id="rId2" Type="http://schemas.openxmlformats.org/officeDocument/2006/relationships/image" Target="../media/image-5-2.png"/><Relationship Id="rId3" Type="http://schemas.openxmlformats.org/officeDocument/2006/relationships/image" Target="../media/image-5-3.png"/><Relationship Id="rId4" Type="http://schemas.openxmlformats.org/officeDocument/2006/relationships/image" Target="../media/image-5-4.png"/><Relationship Id="rId5" Type="http://schemas.openxmlformats.org/officeDocument/2006/relationships/image" Target="../media/image-5-5.png"/><Relationship Id="rId6" Type="http://schemas.openxmlformats.org/officeDocument/2006/relationships/image" Target="../media/image-5-6.png"/><Relationship Id="rId7" Type="http://schemas.openxmlformats.org/officeDocument/2006/relationships/image" Target="../media/image-5-7.png"/><Relationship Id="rId8" Type="http://schemas.openxmlformats.org/officeDocument/2006/relationships/image" Target="../media/image-5-8.png"/><Relationship Id="rId9" Type="http://schemas.openxmlformats.org/officeDocument/2006/relationships/image" Target="../media/image-5-9.png"/><Relationship Id="rId10" Type="http://schemas.openxmlformats.org/officeDocument/2006/relationships/slideLayout" Target="../slideLayouts/slideLayout3.xml"/><Relationship Id="rId11" Type="http://schemas.openxmlformats.org/officeDocument/2006/relationships/notesSlide" Target="../notesSlides/notesSlide5.xml"/></Relationships>
</file>

<file path=ppt/slides/_rels/slide6.xml.rels><?xml version="1.0" encoding="UTF-8" standalone="yes"?>
<Relationships xmlns="http://schemas.openxmlformats.org/package/2006/relationships"><Relationship Id="rId1" Type="http://schemas.openxmlformats.org/officeDocument/2006/relationships/image" Target="../media/image-6-1.png"/><Relationship Id="rId2" Type="http://schemas.openxmlformats.org/officeDocument/2006/relationships/image" Target="../media/image-6-2.png"/><Relationship Id="rId3" Type="http://schemas.openxmlformats.org/officeDocument/2006/relationships/image" Target="../media/image-6-3.png"/><Relationship Id="rId4" Type="http://schemas.openxmlformats.org/officeDocument/2006/relationships/slideLayout" Target="../slideLayouts/slideLayout3.xml"/><Relationship Id="rId5" Type="http://schemas.openxmlformats.org/officeDocument/2006/relationships/notesSlide" Target="../notesSlides/notesSlide6.xml"/></Relationships>
</file>

<file path=ppt/slides/_rels/slide7.xml.rels><?xml version="1.0" encoding="UTF-8" standalone="yes"?>
<Relationships xmlns="http://schemas.openxmlformats.org/package/2006/relationships"><Relationship Id="rId1" Type="http://schemas.openxmlformats.org/officeDocument/2006/relationships/image" Target="../media/image-7-1.png"/><Relationship Id="rId2" Type="http://schemas.openxmlformats.org/officeDocument/2006/relationships/image" Target="../media/image-7-2.png"/><Relationship Id="rId3" Type="http://schemas.openxmlformats.org/officeDocument/2006/relationships/image" Target="../media/image-7-3.png"/><Relationship Id="rId4" Type="http://schemas.openxmlformats.org/officeDocument/2006/relationships/image" Target="../media/image-7-4.png"/><Relationship Id="rId5" Type="http://schemas.openxmlformats.org/officeDocument/2006/relationships/slideLayout" Target="../slideLayouts/slideLayout3.xml"/><Relationship Id="rId6" Type="http://schemas.openxmlformats.org/officeDocument/2006/relationships/notesSlide" Target="../notesSlides/notesSlide7.xml"/></Relationships>
</file>

<file path=ppt/slides/_rels/slide8.xml.rels><?xml version="1.0" encoding="UTF-8" standalone="yes"?>
<Relationships xmlns="http://schemas.openxmlformats.org/package/2006/relationships"><Relationship Id="rId1" Type="http://schemas.openxmlformats.org/officeDocument/2006/relationships/image" Target="../media/image-8-1.png"/><Relationship Id="rId2" Type="http://schemas.openxmlformats.org/officeDocument/2006/relationships/image" Target="../media/image-8-2.png"/><Relationship Id="rId3" Type="http://schemas.openxmlformats.org/officeDocument/2006/relationships/slideLayout" Target="../slideLayouts/slideLayout3.xml"/><Relationship Id="rId4" Type="http://schemas.openxmlformats.org/officeDocument/2006/relationships/notesSlide" Target="../notesSlides/notesSlide8.xml"/></Relationships>
</file>

<file path=ppt/slides/_rels/slide9.xml.rels><?xml version="1.0" encoding="UTF-8" standalone="yes"?>
<Relationships xmlns="http://schemas.openxmlformats.org/package/2006/relationships"><Relationship Id="rId1" Type="http://schemas.openxmlformats.org/officeDocument/2006/relationships/image" Target="../media/image-9-1.png"/><Relationship Id="rId2" Type="http://schemas.openxmlformats.org/officeDocument/2006/relationships/image" Target="../media/image-9-2.png"/><Relationship Id="rId3" Type="http://schemas.openxmlformats.org/officeDocument/2006/relationships/image" Target="../media/image-9-3.png"/><Relationship Id="rId4" Type="http://schemas.openxmlformats.org/officeDocument/2006/relationships/image" Target="../media/image-9-4.png"/><Relationship Id="rId5" Type="http://schemas.openxmlformats.org/officeDocument/2006/relationships/slideLayout" Target="../slideLayouts/slideLayout3.xml"/><Relationship Id="rId6" Type="http://schemas.openxmlformats.org/officeDocument/2006/relationships/notesSlide" Target="../notesSlides/notesSlide9.xml"/></Relationships>
</file>

<file path=ppt/slides/_rels/slide10.xml.rels><?xml version="1.0" encoding="UTF-8" standalone="yes"?>
<Relationships xmlns="http://schemas.openxmlformats.org/package/2006/relationships"><Relationship Id="rId1" Type="http://schemas.openxmlformats.org/officeDocument/2006/relationships/image" Target="../media/image-10-1.png"/><Relationship Id="rId2" Type="http://schemas.openxmlformats.org/officeDocument/2006/relationships/image" Target="../media/image-10-2.png"/><Relationship Id="rId3" Type="http://schemas.openxmlformats.org/officeDocument/2006/relationships/slideLayout" Target="../slideLayouts/slideLayout3.xml"/><Relationship Id="rId4" Type="http://schemas.openxmlformats.org/officeDocument/2006/relationships/notesSlide" Target="../notesSlides/notesSlide10.xml"/></Relationships>
</file>

<file path=ppt/slides/_rels/slide11.xml.rels><?xml version="1.0" encoding="UTF-8" standalone="yes"?>
<Relationships xmlns="http://schemas.openxmlformats.org/package/2006/relationships"><Relationship Id="rId1" Type="http://schemas.openxmlformats.org/officeDocument/2006/relationships/image" Target="../media/image-11-1.png"/><Relationship Id="rId2" Type="http://schemas.openxmlformats.org/officeDocument/2006/relationships/image" Target="../media/image-11-2.png"/><Relationship Id="rId3" Type="http://schemas.openxmlformats.org/officeDocument/2006/relationships/image" Target="../media/image-11-3.png"/><Relationship Id="rId4" Type="http://schemas.openxmlformats.org/officeDocument/2006/relationships/image" Target="../media/image-11-4.png"/><Relationship Id="rId5" Type="http://schemas.openxmlformats.org/officeDocument/2006/relationships/image" Target="../media/image-11-5.png"/><Relationship Id="rId6" Type="http://schemas.openxmlformats.org/officeDocument/2006/relationships/image" Target="../media/image-11-6.png"/><Relationship Id="rId7" Type="http://schemas.openxmlformats.org/officeDocument/2006/relationships/image" Target="../media/image-11-7.png"/><Relationship Id="rId8" Type="http://schemas.openxmlformats.org/officeDocument/2006/relationships/slideLayout" Target="../slideLayouts/slideLayout3.xml"/><Relationship Id="rId9" Type="http://schemas.openxmlformats.org/officeDocument/2006/relationships/notesSlide" Target="../notesSlides/notesSlide11.xml"/></Relationships>
</file>

<file path=ppt/slides/_rels/slide12.xml.rels><?xml version="1.0" encoding="UTF-8" standalone="yes"?>
<Relationships xmlns="http://schemas.openxmlformats.org/package/2006/relationships"><Relationship Id="rId1" Type="http://schemas.openxmlformats.org/officeDocument/2006/relationships/chart" Target="/ppt/charts/chart1.xml"/><Relationship Id="rId2" Type="http://schemas.openxmlformats.org/officeDocument/2006/relationships/image" Target="../media/image-12-1.png"/><Relationship Id="rId3" Type="http://schemas.openxmlformats.org/officeDocument/2006/relationships/image" Target="../media/image-12-2.png"/><Relationship Id="rId4" Type="http://schemas.openxmlformats.org/officeDocument/2006/relationships/image" Target="../media/image-12-3.png"/><Relationship Id="rId5" Type="http://schemas.openxmlformats.org/officeDocument/2006/relationships/image" Target="../media/image-12-4.png"/><Relationship Id="rId6" Type="http://schemas.openxmlformats.org/officeDocument/2006/relationships/image" Target="../media/image-12-5.png"/><Relationship Id="rId7" Type="http://schemas.openxmlformats.org/officeDocument/2006/relationships/image" Target="../media/image-12-6.png"/><Relationship Id="rId8" Type="http://schemas.openxmlformats.org/officeDocument/2006/relationships/slideLayout" Target="../slideLayouts/slideLayout3.xml"/><Relationship Id="rId9" Type="http://schemas.openxmlformats.org/officeDocument/2006/relationships/notesSlide" Target="../notesSlides/notesSlide12.xml"/></Relationships>
</file>

<file path=ppt/slides/_rels/slide13.xml.rels><?xml version="1.0" encoding="UTF-8" standalone="yes"?>
<Relationships xmlns="http://schemas.openxmlformats.org/package/2006/relationships"><Relationship Id="rId1" Type="http://schemas.openxmlformats.org/officeDocument/2006/relationships/image" Target="../media/image-13-1.png"/><Relationship Id="rId2" Type="http://schemas.openxmlformats.org/officeDocument/2006/relationships/image" Target="../media/image-13-2.png"/><Relationship Id="rId3" Type="http://schemas.openxmlformats.org/officeDocument/2006/relationships/image" Target="../media/image-13-3.png"/><Relationship Id="rId4" Type="http://schemas.openxmlformats.org/officeDocument/2006/relationships/slideLayout" Target="../slideLayouts/slideLayout3.xml"/><Relationship Id="rId5" Type="http://schemas.openxmlformats.org/officeDocument/2006/relationships/notesSlide" Target="../notesSlides/notesSlide13.xml"/></Relationships>
</file>

<file path=ppt/slides/_rels/slide14.xml.rels><?xml version="1.0" encoding="UTF-8" standalone="yes"?>
<Relationships xmlns="http://schemas.openxmlformats.org/package/2006/relationships"><Relationship Id="rId1" Type="http://schemas.openxmlformats.org/officeDocument/2006/relationships/image" Target="../media/image-14-1.png"/><Relationship Id="rId2" Type="http://schemas.openxmlformats.org/officeDocument/2006/relationships/image" Target="../media/image-14-2.png"/><Relationship Id="rId3" Type="http://schemas.openxmlformats.org/officeDocument/2006/relationships/image" Target="../media/image-14-3.png"/><Relationship Id="rId4" Type="http://schemas.openxmlformats.org/officeDocument/2006/relationships/image" Target="../media/image-14-4.png"/><Relationship Id="rId5" Type="http://schemas.openxmlformats.org/officeDocument/2006/relationships/slideLayout" Target="../slideLayouts/slideLayout3.xml"/><Relationship Id="rId6" Type="http://schemas.openxmlformats.org/officeDocument/2006/relationships/notesSlide" Target="../notesSlides/notesSlide14.xml"/></Relationships>
</file>

<file path=ppt/slides/_rels/slide15.xml.rels><?xml version="1.0" encoding="UTF-8" standalone="yes"?>
<Relationships xmlns="http://schemas.openxmlformats.org/package/2006/relationships"><Relationship Id="rId1" Type="http://schemas.openxmlformats.org/officeDocument/2006/relationships/image" Target="../media/image-15-1.png"/><Relationship Id="rId2" Type="http://schemas.openxmlformats.org/officeDocument/2006/relationships/image" Target="../media/image-15-2.png"/><Relationship Id="rId3" Type="http://schemas.openxmlformats.org/officeDocument/2006/relationships/slideLayout" Target="../slideLayouts/slideLayout4.xml"/><Relationship Id="rId4" Type="http://schemas.openxmlformats.org/officeDocument/2006/relationships/notesSlide" Target="../notesSlides/notesSlide15.xml"/></Relationships>
</file>

<file path=ppt/slides/slide1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1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ext 0"/>
          <p:cNvSpPr/>
          <p:nvPr>
            <p:ph idx="100" type="body" hasCustomPrompt="1"/>
          </p:nvPr>
        </p:nvSpPr>
        <p:spPr>
          <a:xfrm>
            <a:off x="548640" y="822960"/>
            <a:ext cx="6766560" cy="36576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algn="l" indent="0" marL="0">
              <a:buNone/>
            </a:pPr>
            <a:r>
              <a:rPr lang="zh-TW" altLang="en-US" sz="1600" b="1" dirty="0">
                <a:solidFill>
                  <a:schemeClr val="accent1"/>
                </a:solidFill>
              </a:rPr>
              <a:t>階段性成果檢視 · WEEK 01–07 ＋ PDF 預檢 v0.8</a:t>
            </a:r>
            <a:endParaRPr lang="zh-TW" sz="1600" dirty="0"/>
          </a:p>
        </p:txBody>
      </p:sp>
      <p:sp>
        <p:nvSpPr>
          <p:cNvPr id="3" name="Text 0"/>
          <p:cNvSpPr/>
          <p:nvPr>
            <p:ph idx="101" type="title" hasCustomPrompt="1"/>
          </p:nvPr>
        </p:nvSpPr>
        <p:spPr>
          <a:xfrm>
            <a:off x="548640" y="1325880"/>
            <a:ext cx="6949440" cy="96012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algn="l" indent="0" marL="0">
              <a:buNone/>
            </a:pPr>
            <a:r>
              <a:rPr lang="zh-TW" altLang="en-US" sz="4400" b="1" dirty="0">
                <a:solidFill>
                  <a:schemeClr val="bg1"/>
                </a:solidFill>
              </a:rPr>
              <a:t>作業規格與缺漏檢查助手</a:t>
            </a:r>
            <a:endParaRPr lang="zh-TW" sz="4400" dirty="0"/>
          </a:p>
        </p:txBody>
      </p:sp>
      <p:sp>
        <p:nvSpPr>
          <p:cNvPr id="5" name="text-1"/>
          <p:cNvSpPr txBox="1"/>
          <p:nvPr/>
        </p:nvSpPr>
        <p:spPr>
          <a:xfrm>
            <a:off x="548640" y="2468880"/>
            <a:ext cx="6675120" cy="91440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lnSpc>
                <a:spcPct val="115000"/>
              </a:lnSpc>
              <a:buNone/>
            </a:pPr>
            <a:r>
              <a:rPr lang="zh-TW" altLang="en-US" sz="2000" dirty="0">
                <a:solidFill>
                  <a:schemeClr val="bg2"/>
                </a:solidFill>
              </a:rPr>
              <a:t>以老師範例為參考，交作業前先指出哪些已完成、哪些需要補件、哪些要等老師確認。</a:t>
            </a:r>
            <a:endParaRPr lang="zh-TW" sz="2000" dirty="0"/>
          </a:p>
        </p:txBody>
      </p:sp>
      <p:sp>
        <p:nvSpPr>
          <p:cNvPr id="6" name="chip-met-2"/>
          <p:cNvSpPr/>
          <p:nvPr/>
        </p:nvSpPr>
        <p:spPr>
          <a:xfrm>
            <a:off x="548640" y="3657600"/>
            <a:ext cx="1139342" cy="349504"/>
          </a:xfrm>
          <a:prstGeom prst="roundRect">
            <a:avLst>
              <a:gd name="adj" fmla="val 50000"/>
            </a:avLst>
          </a:prstGeom>
          <a:solidFill>
            <a:schemeClr val="accent2"/>
          </a:solidFill>
          <a:ln/>
        </p:spPr>
      </p:sp>
      <p:pic>
        <p:nvPicPr>
          <p:cNvPr id="7" name="chip-icon-3" descr="已完成">    </p:cNvPr>
          <p:cNvPicPr>
            <a:picLocks noChangeAspect="1"/>
          </p:cNvPicPr>
          <p:nvPr/>
        </p:nvPicPr>
        <p:blipFill>
          <a:blip r:embed="rId1"/>
          <a:stretch>
            <a:fillRect/>
          </a:stretch>
        </p:blipFill>
        <p:spPr>
          <a:xfrm>
            <a:off x="658368" y="3727501"/>
            <a:ext cx="209702" cy="209702"/>
          </a:xfrm>
          <a:prstGeom prst="rect">
            <a:avLst/>
          </a:prstGeom>
        </p:spPr>
      </p:pic>
      <p:sp>
        <p:nvSpPr>
          <p:cNvPr id="8" name="chip-text-4"/>
          <p:cNvSpPr txBox="1"/>
          <p:nvPr/>
        </p:nvSpPr>
        <p:spPr>
          <a:xfrm>
            <a:off x="932078" y="3657600"/>
            <a:ext cx="746760" cy="349504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zh-TW" altLang="en-US" sz="1600" b="1" dirty="0">
                <a:solidFill>
                  <a:schemeClr val="bg1"/>
                </a:solidFill>
              </a:rPr>
              <a:t>已完成</a:t>
            </a:r>
            <a:endParaRPr lang="zh-TW" sz="1600" dirty="0"/>
          </a:p>
        </p:txBody>
      </p:sp>
      <p:sp>
        <p:nvSpPr>
          <p:cNvPr id="9" name="chip-partial-5"/>
          <p:cNvSpPr/>
          <p:nvPr/>
        </p:nvSpPr>
        <p:spPr>
          <a:xfrm>
            <a:off x="1870862" y="3657600"/>
            <a:ext cx="1139342" cy="349504"/>
          </a:xfrm>
          <a:prstGeom prst="roundRect">
            <a:avLst>
              <a:gd name="adj" fmla="val 50000"/>
            </a:avLst>
          </a:prstGeom>
          <a:solidFill>
            <a:schemeClr val="accent3"/>
          </a:solidFill>
          <a:ln/>
        </p:spPr>
      </p:sp>
      <p:pic>
        <p:nvPicPr>
          <p:cNvPr id="10" name="chip-icon-6" descr="需補件">    </p:cNvPr>
          <p:cNvPicPr>
            <a:picLocks noChangeAspect="1"/>
          </p:cNvPicPr>
          <p:nvPr/>
        </p:nvPicPr>
        <p:blipFill>
          <a:blip r:embed="rId2"/>
          <a:stretch>
            <a:fillRect/>
          </a:stretch>
        </p:blipFill>
        <p:spPr>
          <a:xfrm>
            <a:off x="1980590" y="3727501"/>
            <a:ext cx="209702" cy="209702"/>
          </a:xfrm>
          <a:prstGeom prst="rect">
            <a:avLst/>
          </a:prstGeom>
        </p:spPr>
      </p:pic>
      <p:sp>
        <p:nvSpPr>
          <p:cNvPr id="11" name="chip-text-7"/>
          <p:cNvSpPr txBox="1"/>
          <p:nvPr/>
        </p:nvSpPr>
        <p:spPr>
          <a:xfrm>
            <a:off x="2254301" y="3657600"/>
            <a:ext cx="746760" cy="349504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zh-TW" altLang="en-US" sz="1600" b="1" dirty="0">
                <a:solidFill>
                  <a:schemeClr val="bg1"/>
                </a:solidFill>
              </a:rPr>
              <a:t>需補件</a:t>
            </a:r>
            <a:endParaRPr lang="zh-TW" sz="1600" dirty="0"/>
          </a:p>
        </p:txBody>
      </p:sp>
      <p:sp>
        <p:nvSpPr>
          <p:cNvPr id="12" name="chip-unsure-8"/>
          <p:cNvSpPr/>
          <p:nvPr/>
        </p:nvSpPr>
        <p:spPr>
          <a:xfrm>
            <a:off x="3193085" y="3657600"/>
            <a:ext cx="1139342" cy="349504"/>
          </a:xfrm>
          <a:prstGeom prst="roundRect">
            <a:avLst>
              <a:gd name="adj" fmla="val 50000"/>
            </a:avLst>
          </a:prstGeom>
          <a:solidFill>
            <a:schemeClr val="accent4"/>
          </a:solidFill>
          <a:ln/>
        </p:spPr>
      </p:sp>
      <p:pic>
        <p:nvPicPr>
          <p:cNvPr id="13" name="chip-icon-9" descr="待確認">    </p:cNvPr>
          <p:cNvPicPr>
            <a:picLocks noChangeAspect="1"/>
          </p:cNvPicPr>
          <p:nvPr/>
        </p:nvPicPr>
        <p:blipFill>
          <a:blip r:embed="rId3"/>
          <a:stretch>
            <a:fillRect/>
          </a:stretch>
        </p:blipFill>
        <p:spPr>
          <a:xfrm>
            <a:off x="3302813" y="3727501"/>
            <a:ext cx="209702" cy="209702"/>
          </a:xfrm>
          <a:prstGeom prst="rect">
            <a:avLst/>
          </a:prstGeom>
        </p:spPr>
      </p:pic>
      <p:sp>
        <p:nvSpPr>
          <p:cNvPr id="14" name="chip-text-10"/>
          <p:cNvSpPr txBox="1"/>
          <p:nvPr/>
        </p:nvSpPr>
        <p:spPr>
          <a:xfrm>
            <a:off x="3576523" y="3657600"/>
            <a:ext cx="746760" cy="349504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zh-TW" altLang="en-US" sz="1600" b="1" dirty="0">
                <a:solidFill>
                  <a:schemeClr val="bg1"/>
                </a:solidFill>
              </a:rPr>
              <a:t>待確認</a:t>
            </a:r>
            <a:endParaRPr lang="zh-TW" sz="1600" dirty="0"/>
          </a:p>
        </p:txBody>
      </p:sp>
      <p:sp>
        <p:nvSpPr>
          <p:cNvPr id="15" name="text-11"/>
          <p:cNvSpPr txBox="1"/>
          <p:nvPr/>
        </p:nvSpPr>
        <p:spPr>
          <a:xfrm>
            <a:off x="548640" y="4709160"/>
            <a:ext cx="3657600" cy="36576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buNone/>
            </a:pPr>
            <a:r>
              <a:rPr lang="zh-TW" altLang="en-US" sz="1800" b="1" dirty="0">
                <a:solidFill>
                  <a:schemeClr val="accent1"/>
                </a:solidFill>
              </a:rPr>
              <a:t>第 02 組</a:t>
            </a:r>
            <a:endParaRPr lang="zh-TW" sz="1800" dirty="0"/>
          </a:p>
        </p:txBody>
      </p:sp>
      <p:sp>
        <p:nvSpPr>
          <p:cNvPr id="16" name="text-12"/>
          <p:cNvSpPr txBox="1"/>
          <p:nvPr/>
        </p:nvSpPr>
        <p:spPr>
          <a:xfrm>
            <a:off x="548640" y="5120640"/>
            <a:ext cx="6766560" cy="36576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buNone/>
            </a:pPr>
            <a:r>
              <a:rPr lang="zh-TW" altLang="en-US" sz="1600" dirty="0">
                <a:solidFill>
                  <a:schemeClr val="bg1"/>
                </a:solidFill>
              </a:rPr>
              <a:t>陳冠友 S11259039（隊長）　林崇偉 S11259031（隊員）</a:t>
            </a:r>
            <a:endParaRPr lang="zh-TW" sz="1600" dirty="0"/>
          </a:p>
        </p:txBody>
      </p:sp>
      <p:sp>
        <p:nvSpPr>
          <p:cNvPr id="17" name="text-13"/>
          <p:cNvSpPr txBox="1"/>
          <p:nvPr/>
        </p:nvSpPr>
        <p:spPr>
          <a:xfrm>
            <a:off x="548640" y="5989320"/>
            <a:ext cx="6949440" cy="27432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buNone/>
            </a:pPr>
            <a:r>
              <a:rPr lang="zh-TW" altLang="en-US" sz="1200" dirty="0">
                <a:solidFill>
                  <a:schemeClr val="bg2"/>
                </a:solidFill>
              </a:rPr>
              <a:t>證據日期 2026-10-28 · Week 7 程式 6a5bc9b · PDF 預檢程式 13b2b1e · 資料皆為合成</a:t>
            </a:r>
            <a:endParaRPr lang="zh-TW" sz="1200" dirty="0"/>
          </a:p>
        </p:txBody>
      </p:sp>
      <p:sp>
        <p:nvSpPr>
          <p:cNvPr id="18" name="mock-card-14"/>
          <p:cNvSpPr/>
          <p:nvPr/>
        </p:nvSpPr>
        <p:spPr>
          <a:xfrm>
            <a:off x="7818120" y="1097280"/>
            <a:ext cx="3822192" cy="4526280"/>
          </a:xfrm>
          <a:prstGeom prst="roundRect">
            <a:avLst>
              <a:gd name="adj" fmla="val 2392"/>
            </a:avLst>
          </a:prstGeom>
          <a:solidFill>
            <a:schemeClr val="bg1"/>
          </a:solidFill>
          <a:ln/>
          <a:effectLst>
            <a:outerShdw sx="100000" sy="100000" kx="0" ky="0" algn="bl" rotWithShape="0" blurRad="127000" dist="25400" dir="5400000">
              <a:srgbClr val="1A2233">
                <a:alpha val="10000"/>
              </a:srgbClr>
            </a:outerShdw>
          </a:effectLst>
        </p:spPr>
      </p:sp>
      <p:sp>
        <p:nvSpPr>
          <p:cNvPr id="19" name="icon-bg-15"/>
          <p:cNvSpPr/>
          <p:nvPr/>
        </p:nvSpPr>
        <p:spPr>
          <a:xfrm>
            <a:off x="8092440" y="1371600"/>
            <a:ext cx="530352" cy="530352"/>
          </a:xfrm>
          <a:prstGeom prst="ellipse">
            <a:avLst/>
          </a:prstGeom>
          <a:solidFill>
            <a:schemeClr val="tx2"/>
          </a:solidFill>
          <a:ln/>
        </p:spPr>
      </p:sp>
      <p:pic>
        <p:nvPicPr>
          <p:cNvPr id="20" name="icon-16" descr="FileCheck">    </p:cNvPr>
          <p:cNvPicPr>
            <a:picLocks noChangeAspect="1"/>
          </p:cNvPicPr>
          <p:nvPr/>
        </p:nvPicPr>
        <p:blipFill>
          <a:blip r:embed="rId4"/>
          <a:stretch>
            <a:fillRect/>
          </a:stretch>
        </p:blipFill>
        <p:spPr>
          <a:xfrm>
            <a:off x="8219724" y="1498884"/>
            <a:ext cx="275783" cy="275783"/>
          </a:xfrm>
          <a:prstGeom prst="rect">
            <a:avLst/>
          </a:prstGeom>
        </p:spPr>
      </p:pic>
      <p:sp>
        <p:nvSpPr>
          <p:cNvPr id="21" name="text-17"/>
          <p:cNvSpPr txBox="1"/>
          <p:nvPr/>
        </p:nvSpPr>
        <p:spPr>
          <a:xfrm>
            <a:off x="8778240" y="1389888"/>
            <a:ext cx="2743200" cy="347472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buNone/>
            </a:pPr>
            <a:r>
              <a:rPr lang="zh-TW" altLang="en-US" sz="1800" b="1" dirty="0">
                <a:solidFill>
                  <a:schemeClr val="tx1"/>
                </a:solidFill>
              </a:rPr>
              <a:t>作業檢查結果</a:t>
            </a:r>
            <a:endParaRPr lang="zh-TW" sz="1800" dirty="0"/>
          </a:p>
        </p:txBody>
      </p:sp>
      <p:sp>
        <p:nvSpPr>
          <p:cNvPr id="22" name="text-18"/>
          <p:cNvSpPr txBox="1"/>
          <p:nvPr/>
        </p:nvSpPr>
        <p:spPr>
          <a:xfrm>
            <a:off x="8778240" y="1737360"/>
            <a:ext cx="2743200" cy="237744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buNone/>
            </a:pPr>
            <a:r>
              <a:rPr lang="zh-TW" altLang="en-US" sz="1100" dirty="0">
                <a:solidFill>
                  <a:schemeClr val="accent6"/>
                </a:solidFill>
              </a:rPr>
              <a:t>提交前自我檢查 · 不是正式成績</a:t>
            </a:r>
            <a:endParaRPr lang="zh-TW" sz="1100" dirty="0"/>
          </a:p>
        </p:txBody>
      </p:sp>
      <p:sp>
        <p:nvSpPr>
          <p:cNvPr id="23" name="rule-19"/>
          <p:cNvSpPr/>
          <p:nvPr/>
        </p:nvSpPr>
        <p:spPr>
          <a:xfrm>
            <a:off x="8092440" y="2295144"/>
            <a:ext cx="3291840" cy="0"/>
          </a:xfrm>
          <a:prstGeom prst="line">
            <a:avLst/>
          </a:prstGeom>
          <a:noFill/>
          <a:ln w="12700">
            <a:solidFill>
              <a:schemeClr val="bg2"/>
            </a:solidFill>
            <a:prstDash val="solid"/>
          </a:ln>
        </p:spPr>
      </p:sp>
      <p:sp>
        <p:nvSpPr>
          <p:cNvPr id="24" name="text-20"/>
          <p:cNvSpPr txBox="1"/>
          <p:nvPr/>
        </p:nvSpPr>
        <p:spPr>
          <a:xfrm>
            <a:off x="8092440" y="2423160"/>
            <a:ext cx="2103120" cy="310896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buNone/>
            </a:pPr>
            <a:r>
              <a:rPr lang="zh-TW" altLang="en-US" sz="1500" b="1" dirty="0">
                <a:solidFill>
                  <a:schemeClr val="tx1"/>
                </a:solidFill>
              </a:rPr>
              <a:t>使用者與需求</a:t>
            </a:r>
            <a:endParaRPr lang="zh-TW" sz="1500" dirty="0"/>
          </a:p>
        </p:txBody>
      </p:sp>
      <p:sp>
        <p:nvSpPr>
          <p:cNvPr id="25" name="chip-met-21"/>
          <p:cNvSpPr/>
          <p:nvPr/>
        </p:nvSpPr>
        <p:spPr>
          <a:xfrm>
            <a:off x="10332720" y="2441448"/>
            <a:ext cx="910742" cy="286004"/>
          </a:xfrm>
          <a:prstGeom prst="roundRect">
            <a:avLst>
              <a:gd name="adj" fmla="val 50000"/>
            </a:avLst>
          </a:prstGeom>
          <a:solidFill>
            <a:schemeClr val="accent2"/>
          </a:solidFill>
          <a:ln/>
        </p:spPr>
      </p:sp>
      <p:pic>
        <p:nvPicPr>
          <p:cNvPr id="26" name="chip-icon-22" descr="已完成">    </p:cNvPr>
          <p:cNvPicPr>
            <a:picLocks noChangeAspect="1"/>
          </p:cNvPicPr>
          <p:nvPr/>
        </p:nvPicPr>
        <p:blipFill>
          <a:blip r:embed="rId5"/>
          <a:stretch>
            <a:fillRect/>
          </a:stretch>
        </p:blipFill>
        <p:spPr>
          <a:xfrm>
            <a:off x="10442448" y="2498649"/>
            <a:ext cx="171602" cy="171602"/>
          </a:xfrm>
          <a:prstGeom prst="rect">
            <a:avLst/>
          </a:prstGeom>
        </p:spPr>
      </p:pic>
      <p:sp>
        <p:nvSpPr>
          <p:cNvPr id="27" name="chip-text-23"/>
          <p:cNvSpPr txBox="1"/>
          <p:nvPr/>
        </p:nvSpPr>
        <p:spPr>
          <a:xfrm>
            <a:off x="10678058" y="2441448"/>
            <a:ext cx="556260" cy="286004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zh-TW" altLang="en-US" sz="1100" b="1" dirty="0">
                <a:solidFill>
                  <a:schemeClr val="bg1"/>
                </a:solidFill>
              </a:rPr>
              <a:t>已完成</a:t>
            </a:r>
            <a:endParaRPr lang="zh-TW" sz="1100" dirty="0"/>
          </a:p>
        </p:txBody>
      </p:sp>
      <p:sp>
        <p:nvSpPr>
          <p:cNvPr id="28" name="bar-24"/>
          <p:cNvSpPr/>
          <p:nvPr/>
        </p:nvSpPr>
        <p:spPr>
          <a:xfrm>
            <a:off x="8092440" y="2862072"/>
            <a:ext cx="2103120" cy="100584"/>
          </a:xfrm>
          <a:prstGeom prst="roundRect">
            <a:avLst>
              <a:gd name="adj" fmla="val 45455"/>
            </a:avLst>
          </a:prstGeom>
          <a:solidFill>
            <a:schemeClr val="bg2"/>
          </a:solidFill>
          <a:ln/>
        </p:spPr>
      </p:sp>
      <p:sp>
        <p:nvSpPr>
          <p:cNvPr id="29" name="bar-25"/>
          <p:cNvSpPr/>
          <p:nvPr/>
        </p:nvSpPr>
        <p:spPr>
          <a:xfrm>
            <a:off x="8092440" y="3044952"/>
            <a:ext cx="1472184" cy="100584"/>
          </a:xfrm>
          <a:prstGeom prst="roundRect">
            <a:avLst>
              <a:gd name="adj" fmla="val 45455"/>
            </a:avLst>
          </a:prstGeom>
          <a:solidFill>
            <a:schemeClr val="bg2"/>
          </a:solidFill>
          <a:ln/>
        </p:spPr>
      </p:sp>
      <p:sp>
        <p:nvSpPr>
          <p:cNvPr id="30" name="rule-26"/>
          <p:cNvSpPr/>
          <p:nvPr/>
        </p:nvSpPr>
        <p:spPr>
          <a:xfrm>
            <a:off x="8092440" y="3319272"/>
            <a:ext cx="3291840" cy="0"/>
          </a:xfrm>
          <a:prstGeom prst="line">
            <a:avLst/>
          </a:prstGeom>
          <a:noFill/>
          <a:ln w="12700">
            <a:solidFill>
              <a:schemeClr val="bg2"/>
            </a:solidFill>
            <a:prstDash val="solid"/>
          </a:ln>
        </p:spPr>
      </p:sp>
      <p:sp>
        <p:nvSpPr>
          <p:cNvPr id="31" name="text-27"/>
          <p:cNvSpPr txBox="1"/>
          <p:nvPr/>
        </p:nvSpPr>
        <p:spPr>
          <a:xfrm>
            <a:off x="8092440" y="3447288"/>
            <a:ext cx="2103120" cy="310896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buNone/>
            </a:pPr>
            <a:r>
              <a:rPr lang="zh-TW" altLang="en-US" sz="1500" b="1" dirty="0">
                <a:solidFill>
                  <a:schemeClr val="tx1"/>
                </a:solidFill>
              </a:rPr>
              <a:t>失敗案例的原因</a:t>
            </a:r>
            <a:endParaRPr lang="zh-TW" sz="1500" dirty="0"/>
          </a:p>
        </p:txBody>
      </p:sp>
      <p:sp>
        <p:nvSpPr>
          <p:cNvPr id="32" name="chip-partial-28"/>
          <p:cNvSpPr/>
          <p:nvPr/>
        </p:nvSpPr>
        <p:spPr>
          <a:xfrm>
            <a:off x="10332720" y="3465576"/>
            <a:ext cx="910742" cy="286004"/>
          </a:xfrm>
          <a:prstGeom prst="roundRect">
            <a:avLst>
              <a:gd name="adj" fmla="val 50000"/>
            </a:avLst>
          </a:prstGeom>
          <a:solidFill>
            <a:schemeClr val="accent3"/>
          </a:solidFill>
          <a:ln/>
        </p:spPr>
      </p:sp>
      <p:pic>
        <p:nvPicPr>
          <p:cNvPr id="33" name="chip-icon-29" descr="需補件">    </p:cNvPr>
          <p:cNvPicPr>
            <a:picLocks noChangeAspect="1"/>
          </p:cNvPicPr>
          <p:nvPr/>
        </p:nvPicPr>
        <p:blipFill>
          <a:blip r:embed="rId6"/>
          <a:stretch>
            <a:fillRect/>
          </a:stretch>
        </p:blipFill>
        <p:spPr>
          <a:xfrm>
            <a:off x="10442448" y="3522777"/>
            <a:ext cx="171602" cy="171602"/>
          </a:xfrm>
          <a:prstGeom prst="rect">
            <a:avLst/>
          </a:prstGeom>
        </p:spPr>
      </p:pic>
      <p:sp>
        <p:nvSpPr>
          <p:cNvPr id="34" name="chip-text-30"/>
          <p:cNvSpPr txBox="1"/>
          <p:nvPr/>
        </p:nvSpPr>
        <p:spPr>
          <a:xfrm>
            <a:off x="10678058" y="3465576"/>
            <a:ext cx="556260" cy="286004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zh-TW" altLang="en-US" sz="1100" b="1" dirty="0">
                <a:solidFill>
                  <a:schemeClr val="bg1"/>
                </a:solidFill>
              </a:rPr>
              <a:t>需補件</a:t>
            </a:r>
            <a:endParaRPr lang="zh-TW" sz="1100" dirty="0"/>
          </a:p>
        </p:txBody>
      </p:sp>
      <p:sp>
        <p:nvSpPr>
          <p:cNvPr id="35" name="bar-31"/>
          <p:cNvSpPr/>
          <p:nvPr/>
        </p:nvSpPr>
        <p:spPr>
          <a:xfrm>
            <a:off x="8092440" y="3886200"/>
            <a:ext cx="1554480" cy="100584"/>
          </a:xfrm>
          <a:prstGeom prst="roundRect">
            <a:avLst>
              <a:gd name="adj" fmla="val 45455"/>
            </a:avLst>
          </a:prstGeom>
          <a:solidFill>
            <a:schemeClr val="bg2"/>
          </a:solidFill>
          <a:ln/>
        </p:spPr>
      </p:sp>
      <p:sp>
        <p:nvSpPr>
          <p:cNvPr id="36" name="bar-32"/>
          <p:cNvSpPr/>
          <p:nvPr/>
        </p:nvSpPr>
        <p:spPr>
          <a:xfrm>
            <a:off x="8092440" y="4069080"/>
            <a:ext cx="1088136" cy="100584"/>
          </a:xfrm>
          <a:prstGeom prst="roundRect">
            <a:avLst>
              <a:gd name="adj" fmla="val 45455"/>
            </a:avLst>
          </a:prstGeom>
          <a:solidFill>
            <a:schemeClr val="bg2"/>
          </a:solidFill>
          <a:ln/>
        </p:spPr>
      </p:sp>
      <p:sp>
        <p:nvSpPr>
          <p:cNvPr id="37" name="rule-33"/>
          <p:cNvSpPr/>
          <p:nvPr/>
        </p:nvSpPr>
        <p:spPr>
          <a:xfrm>
            <a:off x="8092440" y="4343400"/>
            <a:ext cx="3291840" cy="0"/>
          </a:xfrm>
          <a:prstGeom prst="line">
            <a:avLst/>
          </a:prstGeom>
          <a:noFill/>
          <a:ln w="12700">
            <a:solidFill>
              <a:schemeClr val="bg2"/>
            </a:solidFill>
            <a:prstDash val="solid"/>
          </a:ln>
        </p:spPr>
      </p:sp>
      <p:sp>
        <p:nvSpPr>
          <p:cNvPr id="38" name="text-34"/>
          <p:cNvSpPr txBox="1"/>
          <p:nvPr/>
        </p:nvSpPr>
        <p:spPr>
          <a:xfrm>
            <a:off x="8092440" y="4471416"/>
            <a:ext cx="2103120" cy="310896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buNone/>
            </a:pPr>
            <a:r>
              <a:rPr lang="zh-TW" altLang="en-US" sz="1500" b="1" dirty="0">
                <a:solidFill>
                  <a:schemeClr val="tx1"/>
                </a:solidFill>
              </a:rPr>
              <a:t>附錄測試紀錄</a:t>
            </a:r>
            <a:endParaRPr lang="zh-TW" sz="1500" dirty="0"/>
          </a:p>
        </p:txBody>
      </p:sp>
      <p:sp>
        <p:nvSpPr>
          <p:cNvPr id="39" name="chip-unsure-35"/>
          <p:cNvSpPr/>
          <p:nvPr/>
        </p:nvSpPr>
        <p:spPr>
          <a:xfrm>
            <a:off x="10332720" y="4489704"/>
            <a:ext cx="910742" cy="286004"/>
          </a:xfrm>
          <a:prstGeom prst="roundRect">
            <a:avLst>
              <a:gd name="adj" fmla="val 50000"/>
            </a:avLst>
          </a:prstGeom>
          <a:solidFill>
            <a:schemeClr val="accent4"/>
          </a:solidFill>
          <a:ln/>
        </p:spPr>
      </p:sp>
      <p:pic>
        <p:nvPicPr>
          <p:cNvPr id="40" name="chip-icon-36" descr="待確認">    </p:cNvPr>
          <p:cNvPicPr>
            <a:picLocks noChangeAspect="1"/>
          </p:cNvPicPr>
          <p:nvPr/>
        </p:nvPicPr>
        <p:blipFill>
          <a:blip r:embed="rId7"/>
          <a:stretch>
            <a:fillRect/>
          </a:stretch>
        </p:blipFill>
        <p:spPr>
          <a:xfrm>
            <a:off x="10442448" y="4546905"/>
            <a:ext cx="171602" cy="171602"/>
          </a:xfrm>
          <a:prstGeom prst="rect">
            <a:avLst/>
          </a:prstGeom>
        </p:spPr>
      </p:pic>
      <p:sp>
        <p:nvSpPr>
          <p:cNvPr id="41" name="chip-text-37"/>
          <p:cNvSpPr txBox="1"/>
          <p:nvPr/>
        </p:nvSpPr>
        <p:spPr>
          <a:xfrm>
            <a:off x="10678058" y="4489704"/>
            <a:ext cx="556260" cy="286004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zh-TW" altLang="en-US" sz="1100" b="1" dirty="0">
                <a:solidFill>
                  <a:schemeClr val="bg1"/>
                </a:solidFill>
              </a:rPr>
              <a:t>待確認</a:t>
            </a:r>
            <a:endParaRPr lang="zh-TW" sz="1100" dirty="0"/>
          </a:p>
        </p:txBody>
      </p:sp>
      <p:sp>
        <p:nvSpPr>
          <p:cNvPr id="42" name="bar-38"/>
          <p:cNvSpPr/>
          <p:nvPr/>
        </p:nvSpPr>
        <p:spPr>
          <a:xfrm>
            <a:off x="8092440" y="4910328"/>
            <a:ext cx="1828800" cy="100584"/>
          </a:xfrm>
          <a:prstGeom prst="roundRect">
            <a:avLst>
              <a:gd name="adj" fmla="val 45455"/>
            </a:avLst>
          </a:prstGeom>
          <a:solidFill>
            <a:schemeClr val="bg2"/>
          </a:solidFill>
          <a:ln/>
        </p:spPr>
      </p:sp>
      <p:sp>
        <p:nvSpPr>
          <p:cNvPr id="43" name="bar-39"/>
          <p:cNvSpPr/>
          <p:nvPr/>
        </p:nvSpPr>
        <p:spPr>
          <a:xfrm>
            <a:off x="8092440" y="5093208"/>
            <a:ext cx="1280160" cy="100584"/>
          </a:xfrm>
          <a:prstGeom prst="roundRect">
            <a:avLst>
              <a:gd name="adj" fmla="val 45455"/>
            </a:avLst>
          </a:prstGeom>
          <a:solidFill>
            <a:schemeClr val="bg2"/>
          </a:solidFill>
          <a:ln/>
        </p:spPr>
      </p:sp>
    </p:spTree>
  </p:cSld>
  <p:clrMapOvr>
    <a:masterClrMapping/>
  </p:clrMapOvr>
</p:sld>
</file>

<file path=ppt/slides/slide2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2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ext 0"/>
          <p:cNvSpPr/>
          <p:nvPr>
            <p:ph idx="100" type="body" hasCustomPrompt="1"/>
          </p:nvPr>
        </p:nvSpPr>
        <p:spPr>
          <a:xfrm>
            <a:off x="548640" y="365760"/>
            <a:ext cx="8778240" cy="27432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algn="l" indent="0" marL="0">
              <a:buNone/>
            </a:pPr>
            <a:r>
              <a:rPr lang="zh-TW" altLang="en-US" sz="1300" b="1" dirty="0">
                <a:solidFill>
                  <a:schemeClr val="accent6"/>
                </a:solidFill>
              </a:rPr>
              <a:t>問題與使用情境</a:t>
            </a:r>
            <a:endParaRPr lang="zh-TW" sz="1300" dirty="0"/>
          </a:p>
        </p:txBody>
      </p:sp>
      <p:sp>
        <p:nvSpPr>
          <p:cNvPr id="3" name="Text 0"/>
          <p:cNvSpPr/>
          <p:nvPr>
            <p:ph idx="101" type="title" hasCustomPrompt="1"/>
          </p:nvPr>
        </p:nvSpPr>
        <p:spPr>
          <a:xfrm>
            <a:off x="548640" y="658368"/>
            <a:ext cx="11064240" cy="68580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algn="l" indent="0" marL="0">
              <a:buNone/>
            </a:pPr>
            <a:r>
              <a:rPr lang="zh-TW" altLang="en-US" sz="3000" b="1" dirty="0">
                <a:solidFill>
                  <a:schemeClr val="tx1"/>
                </a:solidFill>
              </a:rPr>
              <a:t>學生交作業前，常常不知道少了哪一段</a:t>
            </a:r>
            <a:endParaRPr lang="zh-TW" sz="3000" dirty="0"/>
          </a:p>
        </p:txBody>
      </p:sp>
      <p:sp>
        <p:nvSpPr>
          <p:cNvPr id="5" name="text-40"/>
          <p:cNvSpPr txBox="1"/>
          <p:nvPr/>
        </p:nvSpPr>
        <p:spPr>
          <a:xfrm>
            <a:off x="548640" y="1600200"/>
            <a:ext cx="4572000" cy="36576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buNone/>
            </a:pPr>
            <a:r>
              <a:rPr lang="zh-TW" altLang="en-US" sz="1800" b="1" dirty="0">
                <a:solidFill>
                  <a:schemeClr val="tx1"/>
                </a:solidFill>
              </a:rPr>
              <a:t>誰會用、怎麼用</a:t>
            </a:r>
            <a:endParaRPr lang="zh-TW" sz="1800" dirty="0"/>
          </a:p>
        </p:txBody>
      </p:sp>
      <p:sp>
        <p:nvSpPr>
          <p:cNvPr id="6" name="rule-41"/>
          <p:cNvSpPr/>
          <p:nvPr/>
        </p:nvSpPr>
        <p:spPr>
          <a:xfrm>
            <a:off x="868680" y="2788920"/>
            <a:ext cx="0" cy="548640"/>
          </a:xfrm>
          <a:prstGeom prst="line">
            <a:avLst/>
          </a:prstGeom>
          <a:noFill/>
          <a:ln w="25400">
            <a:solidFill>
              <a:schemeClr val="bg2"/>
            </a:solidFill>
            <a:prstDash val="solid"/>
          </a:ln>
        </p:spPr>
      </p:sp>
      <p:sp>
        <p:nvSpPr>
          <p:cNvPr id="7" name="icon-bg-42"/>
          <p:cNvSpPr/>
          <p:nvPr/>
        </p:nvSpPr>
        <p:spPr>
          <a:xfrm>
            <a:off x="548640" y="2148840"/>
            <a:ext cx="640080" cy="640080"/>
          </a:xfrm>
          <a:prstGeom prst="ellipse">
            <a:avLst/>
          </a:prstGeom>
          <a:solidFill>
            <a:schemeClr val="tx2"/>
          </a:solidFill>
          <a:ln/>
        </p:spPr>
      </p:sp>
      <p:pic>
        <p:nvPicPr>
          <p:cNvPr id="8" name="icon-43" descr="GraduationCap">    </p:cNvPr>
          <p:cNvPicPr>
            <a:picLocks noChangeAspect="1"/>
          </p:cNvPicPr>
          <p:nvPr/>
        </p:nvPicPr>
        <p:blipFill>
          <a:blip r:embed="rId1"/>
          <a:stretch>
            <a:fillRect/>
          </a:stretch>
        </p:blipFill>
        <p:spPr>
          <a:xfrm>
            <a:off x="702259" y="2302459"/>
            <a:ext cx="332842" cy="332842"/>
          </a:xfrm>
          <a:prstGeom prst="rect">
            <a:avLst/>
          </a:prstGeom>
        </p:spPr>
      </p:pic>
      <p:sp>
        <p:nvSpPr>
          <p:cNvPr id="9" name="text-44"/>
          <p:cNvSpPr txBox="1"/>
          <p:nvPr/>
        </p:nvSpPr>
        <p:spPr>
          <a:xfrm>
            <a:off x="1417320" y="2167128"/>
            <a:ext cx="4023360" cy="329184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buNone/>
            </a:pPr>
            <a:r>
              <a:rPr lang="zh-TW" altLang="en-US" sz="1800" b="1" dirty="0">
                <a:solidFill>
                  <a:schemeClr val="tx1"/>
                </a:solidFill>
              </a:rPr>
              <a:t>老師</a:t>
            </a:r>
            <a:endParaRPr lang="zh-TW" sz="1800" dirty="0"/>
          </a:p>
        </p:txBody>
      </p:sp>
      <p:sp>
        <p:nvSpPr>
          <p:cNvPr id="10" name="text-45"/>
          <p:cNvSpPr txBox="1"/>
          <p:nvPr/>
        </p:nvSpPr>
        <p:spPr>
          <a:xfrm>
            <a:off x="1417320" y="2514600"/>
            <a:ext cx="4023360" cy="64008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buNone/>
            </a:pPr>
            <a:r>
              <a:rPr lang="zh-TW" altLang="en-US" sz="1500" dirty="0">
                <a:solidFill>
                  <a:schemeClr val="accent6"/>
                </a:solidFill>
              </a:rPr>
              <a:t>提供範例與已確認的必做要求</a:t>
            </a:r>
            <a:endParaRPr lang="zh-TW" sz="1500" dirty="0"/>
          </a:p>
        </p:txBody>
      </p:sp>
      <p:sp>
        <p:nvSpPr>
          <p:cNvPr id="11" name="rule-46"/>
          <p:cNvSpPr/>
          <p:nvPr/>
        </p:nvSpPr>
        <p:spPr>
          <a:xfrm>
            <a:off x="868680" y="3977640"/>
            <a:ext cx="0" cy="548640"/>
          </a:xfrm>
          <a:prstGeom prst="line">
            <a:avLst/>
          </a:prstGeom>
          <a:noFill/>
          <a:ln w="25400">
            <a:solidFill>
              <a:schemeClr val="bg2"/>
            </a:solidFill>
            <a:prstDash val="solid"/>
          </a:ln>
        </p:spPr>
      </p:sp>
      <p:sp>
        <p:nvSpPr>
          <p:cNvPr id="12" name="icon-bg-47"/>
          <p:cNvSpPr/>
          <p:nvPr/>
        </p:nvSpPr>
        <p:spPr>
          <a:xfrm>
            <a:off x="548640" y="3337560"/>
            <a:ext cx="640080" cy="640080"/>
          </a:xfrm>
          <a:prstGeom prst="ellipse">
            <a:avLst/>
          </a:prstGeom>
          <a:solidFill>
            <a:schemeClr val="accent4"/>
          </a:solidFill>
          <a:ln/>
        </p:spPr>
      </p:sp>
      <p:pic>
        <p:nvPicPr>
          <p:cNvPr id="13" name="icon-48" descr="FileSearch">    </p:cNvPr>
          <p:cNvPicPr>
            <a:picLocks noChangeAspect="1"/>
          </p:cNvPicPr>
          <p:nvPr/>
        </p:nvPicPr>
        <p:blipFill>
          <a:blip r:embed="rId2"/>
          <a:stretch>
            <a:fillRect/>
          </a:stretch>
        </p:blipFill>
        <p:spPr>
          <a:xfrm>
            <a:off x="702259" y="3491179"/>
            <a:ext cx="332842" cy="332842"/>
          </a:xfrm>
          <a:prstGeom prst="rect">
            <a:avLst/>
          </a:prstGeom>
        </p:spPr>
      </p:pic>
      <p:sp>
        <p:nvSpPr>
          <p:cNvPr id="14" name="text-49"/>
          <p:cNvSpPr txBox="1"/>
          <p:nvPr/>
        </p:nvSpPr>
        <p:spPr>
          <a:xfrm>
            <a:off x="1417320" y="3355848"/>
            <a:ext cx="4023360" cy="329184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buNone/>
            </a:pPr>
            <a:r>
              <a:rPr lang="zh-TW" altLang="en-US" sz="1800" b="1" dirty="0">
                <a:solidFill>
                  <a:schemeClr val="tx1"/>
                </a:solidFill>
              </a:rPr>
              <a:t>學生</a:t>
            </a:r>
            <a:endParaRPr lang="zh-TW" sz="1800" dirty="0"/>
          </a:p>
        </p:txBody>
      </p:sp>
      <p:sp>
        <p:nvSpPr>
          <p:cNvPr id="15" name="text-50"/>
          <p:cNvSpPr txBox="1"/>
          <p:nvPr/>
        </p:nvSpPr>
        <p:spPr>
          <a:xfrm>
            <a:off x="1417320" y="3703320"/>
            <a:ext cx="4023360" cy="64008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buNone/>
            </a:pPr>
            <a:r>
              <a:rPr lang="zh-TW" altLang="en-US" sz="1500" dirty="0">
                <a:solidFill>
                  <a:schemeClr val="accent6"/>
                </a:solidFill>
              </a:rPr>
              <a:t>交報告前先貼上或上傳，自我檢查</a:t>
            </a:r>
            <a:endParaRPr lang="zh-TW" sz="1500" dirty="0"/>
          </a:p>
        </p:txBody>
      </p:sp>
      <p:sp>
        <p:nvSpPr>
          <p:cNvPr id="16" name="icon-bg-51"/>
          <p:cNvSpPr/>
          <p:nvPr/>
        </p:nvSpPr>
        <p:spPr>
          <a:xfrm>
            <a:off x="548640" y="4526280"/>
            <a:ext cx="640080" cy="640080"/>
          </a:xfrm>
          <a:prstGeom prst="ellipse">
            <a:avLst/>
          </a:prstGeom>
          <a:solidFill>
            <a:schemeClr val="tx2"/>
          </a:solidFill>
          <a:ln/>
        </p:spPr>
      </p:sp>
      <p:pic>
        <p:nvPicPr>
          <p:cNvPr id="17" name="icon-52" descr="ListChecks">    </p:cNvPr>
          <p:cNvPicPr>
            <a:picLocks noChangeAspect="1"/>
          </p:cNvPicPr>
          <p:nvPr/>
        </p:nvPicPr>
        <p:blipFill>
          <a:blip r:embed="rId3"/>
          <a:stretch>
            <a:fillRect/>
          </a:stretch>
        </p:blipFill>
        <p:spPr>
          <a:xfrm>
            <a:off x="702259" y="4679899"/>
            <a:ext cx="332842" cy="332842"/>
          </a:xfrm>
          <a:prstGeom prst="rect">
            <a:avLst/>
          </a:prstGeom>
        </p:spPr>
      </p:pic>
      <p:sp>
        <p:nvSpPr>
          <p:cNvPr id="18" name="text-53"/>
          <p:cNvSpPr txBox="1"/>
          <p:nvPr/>
        </p:nvSpPr>
        <p:spPr>
          <a:xfrm>
            <a:off x="1417320" y="4544568"/>
            <a:ext cx="4023360" cy="329184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buNone/>
            </a:pPr>
            <a:r>
              <a:rPr lang="zh-TW" altLang="en-US" sz="1800" b="1" dirty="0">
                <a:solidFill>
                  <a:schemeClr val="tx1"/>
                </a:solidFill>
              </a:rPr>
              <a:t>老師與學生</a:t>
            </a:r>
            <a:endParaRPr lang="zh-TW" sz="1800" dirty="0"/>
          </a:p>
        </p:txBody>
      </p:sp>
      <p:sp>
        <p:nvSpPr>
          <p:cNvPr id="19" name="text-54"/>
          <p:cNvSpPr txBox="1"/>
          <p:nvPr/>
        </p:nvSpPr>
        <p:spPr>
          <a:xfrm>
            <a:off x="1417320" y="4892040"/>
            <a:ext cx="4023360" cy="64008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buNone/>
            </a:pPr>
            <a:r>
              <a:rPr lang="zh-TW" altLang="en-US" sz="1500" dirty="0">
                <a:solidFill>
                  <a:schemeClr val="accent6"/>
                </a:solidFill>
              </a:rPr>
              <a:t>學生看補件建議，老師看有引用的待確認項</a:t>
            </a:r>
            <a:endParaRPr lang="zh-TW" sz="1500" dirty="0"/>
          </a:p>
        </p:txBody>
      </p:sp>
      <p:sp>
        <p:nvSpPr>
          <p:cNvPr id="20" name="text-55"/>
          <p:cNvSpPr txBox="1"/>
          <p:nvPr/>
        </p:nvSpPr>
        <p:spPr>
          <a:xfrm>
            <a:off x="6035040" y="1600200"/>
            <a:ext cx="5486400" cy="36576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buNone/>
            </a:pPr>
            <a:r>
              <a:rPr lang="zh-TW" altLang="en-US" sz="1800" b="1" dirty="0">
                <a:solidFill>
                  <a:schemeClr val="tx1"/>
                </a:solidFill>
              </a:rPr>
              <a:t>同樣「有寫」，判斷可能不同</a:t>
            </a:r>
            <a:endParaRPr lang="zh-TW" sz="1800" dirty="0"/>
          </a:p>
        </p:txBody>
      </p:sp>
      <p:sp>
        <p:nvSpPr>
          <p:cNvPr id="21" name="card-56"/>
          <p:cNvSpPr/>
          <p:nvPr/>
        </p:nvSpPr>
        <p:spPr>
          <a:xfrm>
            <a:off x="6035040" y="2103120"/>
            <a:ext cx="5605272" cy="1078992"/>
          </a:xfrm>
          <a:prstGeom prst="roundRect">
            <a:avLst>
              <a:gd name="adj" fmla="val 6780"/>
            </a:avLst>
          </a:prstGeom>
          <a:solidFill>
            <a:schemeClr val="bg1"/>
          </a:solidFill>
          <a:ln w="12700">
            <a:solidFill>
              <a:schemeClr val="bg2"/>
            </a:solidFill>
            <a:prstDash val="solid"/>
          </a:ln>
          <a:effectLst>
            <a:outerShdw sx="100000" sy="100000" kx="0" ky="0" algn="bl" rotWithShape="0" blurRad="127000" dist="25400" dir="5400000">
              <a:srgbClr val="1A2233">
                <a:alpha val="10000"/>
              </a:srgbClr>
            </a:outerShdw>
          </a:effectLst>
        </p:spPr>
      </p:sp>
      <p:sp>
        <p:nvSpPr>
          <p:cNvPr id="22" name="text-57"/>
          <p:cNvSpPr txBox="1"/>
          <p:nvPr/>
        </p:nvSpPr>
        <p:spPr>
          <a:xfrm>
            <a:off x="6263640" y="2267712"/>
            <a:ext cx="3931920" cy="45720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buNone/>
            </a:pPr>
            <a:r>
              <a:rPr lang="zh-TW" altLang="en-US" sz="1500" b="1" dirty="0">
                <a:solidFill>
                  <a:schemeClr val="tx1"/>
                </a:solidFill>
              </a:rPr>
              <a:t>「誰會用」寫成：擔心漏寫的南大同學</a:t>
            </a:r>
            <a:endParaRPr lang="zh-TW" sz="1500" dirty="0"/>
          </a:p>
        </p:txBody>
      </p:sp>
      <p:sp>
        <p:nvSpPr>
          <p:cNvPr id="23" name="text-58"/>
          <p:cNvSpPr txBox="1"/>
          <p:nvPr/>
        </p:nvSpPr>
        <p:spPr>
          <a:xfrm>
            <a:off x="6263640" y="2761488"/>
            <a:ext cx="3931920" cy="27432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buNone/>
            </a:pPr>
            <a:r>
              <a:rPr lang="zh-TW" altLang="en-US" sz="1300" dirty="0">
                <a:solidFill>
                  <a:schemeClr val="accent6"/>
                </a:solidFill>
              </a:rPr>
              <a:t>語意符合，標題不同不算缺交</a:t>
            </a:r>
            <a:endParaRPr lang="zh-TW" sz="1300" dirty="0"/>
          </a:p>
        </p:txBody>
      </p:sp>
      <p:sp>
        <p:nvSpPr>
          <p:cNvPr id="24" name="chip-met-59"/>
          <p:cNvSpPr/>
          <p:nvPr/>
        </p:nvSpPr>
        <p:spPr>
          <a:xfrm>
            <a:off x="10469880" y="2286000"/>
            <a:ext cx="1002182" cy="311404"/>
          </a:xfrm>
          <a:prstGeom prst="roundRect">
            <a:avLst>
              <a:gd name="adj" fmla="val 50000"/>
            </a:avLst>
          </a:prstGeom>
          <a:solidFill>
            <a:schemeClr val="accent2"/>
          </a:solidFill>
          <a:ln/>
        </p:spPr>
      </p:sp>
      <p:pic>
        <p:nvPicPr>
          <p:cNvPr id="25" name="chip-icon-60" descr="已完成">    </p:cNvPr>
          <p:cNvPicPr>
            <a:picLocks noChangeAspect="1"/>
          </p:cNvPicPr>
          <p:nvPr/>
        </p:nvPicPr>
        <p:blipFill>
          <a:blip r:embed="rId4"/>
          <a:stretch>
            <a:fillRect/>
          </a:stretch>
        </p:blipFill>
        <p:spPr>
          <a:xfrm>
            <a:off x="10579608" y="2348281"/>
            <a:ext cx="186842" cy="186842"/>
          </a:xfrm>
          <a:prstGeom prst="rect">
            <a:avLst/>
          </a:prstGeom>
        </p:spPr>
      </p:pic>
      <p:sp>
        <p:nvSpPr>
          <p:cNvPr id="26" name="chip-text-61"/>
          <p:cNvSpPr txBox="1"/>
          <p:nvPr/>
        </p:nvSpPr>
        <p:spPr>
          <a:xfrm>
            <a:off x="10830458" y="2286000"/>
            <a:ext cx="632460" cy="311404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zh-TW" altLang="en-US" sz="1300" b="1" dirty="0">
                <a:solidFill>
                  <a:schemeClr val="bg1"/>
                </a:solidFill>
              </a:rPr>
              <a:t>已完成</a:t>
            </a:r>
            <a:endParaRPr lang="zh-TW" sz="1300" dirty="0"/>
          </a:p>
        </p:txBody>
      </p:sp>
      <p:sp>
        <p:nvSpPr>
          <p:cNvPr id="27" name="card-62"/>
          <p:cNvSpPr/>
          <p:nvPr/>
        </p:nvSpPr>
        <p:spPr>
          <a:xfrm>
            <a:off x="6035040" y="3364992"/>
            <a:ext cx="5605272" cy="1078992"/>
          </a:xfrm>
          <a:prstGeom prst="roundRect">
            <a:avLst>
              <a:gd name="adj" fmla="val 6780"/>
            </a:avLst>
          </a:prstGeom>
          <a:solidFill>
            <a:schemeClr val="bg1"/>
          </a:solidFill>
          <a:ln w="12700">
            <a:solidFill>
              <a:schemeClr val="bg2"/>
            </a:solidFill>
            <a:prstDash val="solid"/>
          </a:ln>
          <a:effectLst>
            <a:outerShdw sx="100000" sy="100000" kx="0" ky="0" algn="bl" rotWithShape="0" blurRad="127000" dist="25400" dir="5400000">
              <a:srgbClr val="1A2233">
                <a:alpha val="10000"/>
              </a:srgbClr>
            </a:outerShdw>
          </a:effectLst>
        </p:spPr>
      </p:sp>
      <p:sp>
        <p:nvSpPr>
          <p:cNvPr id="28" name="text-63"/>
          <p:cNvSpPr txBox="1"/>
          <p:nvPr/>
        </p:nvSpPr>
        <p:spPr>
          <a:xfrm>
            <a:off x="6263640" y="3529584"/>
            <a:ext cx="3931920" cy="45720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buNone/>
            </a:pPr>
            <a:r>
              <a:rPr lang="zh-TW" altLang="en-US" sz="1500" b="1" dirty="0">
                <a:solidFill>
                  <a:schemeClr val="tx1"/>
                </a:solidFill>
              </a:rPr>
              <a:t>失敗案例只有「輸入」與「實際結果」</a:t>
            </a:r>
            <a:endParaRPr lang="zh-TW" sz="1500" dirty="0"/>
          </a:p>
        </p:txBody>
      </p:sp>
      <p:sp>
        <p:nvSpPr>
          <p:cNvPr id="29" name="text-64"/>
          <p:cNvSpPr txBox="1"/>
          <p:nvPr/>
        </p:nvSpPr>
        <p:spPr>
          <a:xfrm>
            <a:off x="6263640" y="4023360"/>
            <a:ext cx="3931920" cy="27432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buNone/>
            </a:pPr>
            <a:r>
              <a:rPr lang="zh-TW" altLang="en-US" sz="1300" dirty="0">
                <a:solidFill>
                  <a:schemeClr val="accent6"/>
                </a:solidFill>
              </a:rPr>
              <a:t>缺少失敗原因，提醒補上</a:t>
            </a:r>
            <a:endParaRPr lang="zh-TW" sz="1300" dirty="0"/>
          </a:p>
        </p:txBody>
      </p:sp>
      <p:sp>
        <p:nvSpPr>
          <p:cNvPr id="30" name="chip-partial-65"/>
          <p:cNvSpPr/>
          <p:nvPr/>
        </p:nvSpPr>
        <p:spPr>
          <a:xfrm>
            <a:off x="10469880" y="3547872"/>
            <a:ext cx="1002182" cy="311404"/>
          </a:xfrm>
          <a:prstGeom prst="roundRect">
            <a:avLst>
              <a:gd name="adj" fmla="val 50000"/>
            </a:avLst>
          </a:prstGeom>
          <a:solidFill>
            <a:schemeClr val="accent3"/>
          </a:solidFill>
          <a:ln/>
        </p:spPr>
      </p:sp>
      <p:pic>
        <p:nvPicPr>
          <p:cNvPr id="31" name="chip-icon-66" descr="需補件">    </p:cNvPr>
          <p:cNvPicPr>
            <a:picLocks noChangeAspect="1"/>
          </p:cNvPicPr>
          <p:nvPr/>
        </p:nvPicPr>
        <p:blipFill>
          <a:blip r:embed="rId5"/>
          <a:stretch>
            <a:fillRect/>
          </a:stretch>
        </p:blipFill>
        <p:spPr>
          <a:xfrm>
            <a:off x="10579608" y="3610153"/>
            <a:ext cx="186842" cy="186842"/>
          </a:xfrm>
          <a:prstGeom prst="rect">
            <a:avLst/>
          </a:prstGeom>
        </p:spPr>
      </p:pic>
      <p:sp>
        <p:nvSpPr>
          <p:cNvPr id="32" name="chip-text-67"/>
          <p:cNvSpPr txBox="1"/>
          <p:nvPr/>
        </p:nvSpPr>
        <p:spPr>
          <a:xfrm>
            <a:off x="10830458" y="3547872"/>
            <a:ext cx="632460" cy="311404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zh-TW" altLang="en-US" sz="1300" b="1" dirty="0">
                <a:solidFill>
                  <a:schemeClr val="bg1"/>
                </a:solidFill>
              </a:rPr>
              <a:t>需補件</a:t>
            </a:r>
            <a:endParaRPr lang="zh-TW" sz="1300" dirty="0"/>
          </a:p>
        </p:txBody>
      </p:sp>
      <p:sp>
        <p:nvSpPr>
          <p:cNvPr id="33" name="card-68"/>
          <p:cNvSpPr/>
          <p:nvPr/>
        </p:nvSpPr>
        <p:spPr>
          <a:xfrm>
            <a:off x="6035040" y="4626864"/>
            <a:ext cx="5605272" cy="1078992"/>
          </a:xfrm>
          <a:prstGeom prst="roundRect">
            <a:avLst>
              <a:gd name="adj" fmla="val 6780"/>
            </a:avLst>
          </a:prstGeom>
          <a:solidFill>
            <a:schemeClr val="bg1"/>
          </a:solidFill>
          <a:ln w="12700">
            <a:solidFill>
              <a:schemeClr val="bg2"/>
            </a:solidFill>
            <a:prstDash val="solid"/>
          </a:ln>
          <a:effectLst>
            <a:outerShdw sx="100000" sy="100000" kx="0" ky="0" algn="bl" rotWithShape="0" blurRad="127000" dist="25400" dir="5400000">
              <a:srgbClr val="1A2233">
                <a:alpha val="10000"/>
              </a:srgbClr>
            </a:outerShdw>
          </a:effectLst>
        </p:spPr>
      </p:sp>
      <p:sp>
        <p:nvSpPr>
          <p:cNvPr id="34" name="text-69"/>
          <p:cNvSpPr txBox="1"/>
          <p:nvPr/>
        </p:nvSpPr>
        <p:spPr>
          <a:xfrm>
            <a:off x="6263640" y="4791456"/>
            <a:ext cx="3931920" cy="45720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buNone/>
            </a:pPr>
            <a:r>
              <a:rPr lang="zh-TW" altLang="en-US" sz="1500" b="1" dirty="0">
                <a:solidFill>
                  <a:schemeClr val="tx1"/>
                </a:solidFill>
              </a:rPr>
              <a:t>寫「測試紀錄見附錄 A」，但讀不到附錄</a:t>
            </a:r>
            <a:endParaRPr lang="zh-TW" sz="1500" dirty="0"/>
          </a:p>
        </p:txBody>
      </p:sp>
      <p:sp>
        <p:nvSpPr>
          <p:cNvPr id="35" name="text-70"/>
          <p:cNvSpPr txBox="1"/>
          <p:nvPr/>
        </p:nvSpPr>
        <p:spPr>
          <a:xfrm>
            <a:off x="6263640" y="5285232"/>
            <a:ext cx="3931920" cy="27432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buNone/>
            </a:pPr>
            <a:r>
              <a:rPr lang="zh-TW" altLang="en-US" sz="1300" dirty="0">
                <a:solidFill>
                  <a:schemeClr val="accent6"/>
                </a:solidFill>
              </a:rPr>
              <a:t>無法確認，交由老師核對</a:t>
            </a:r>
            <a:endParaRPr lang="zh-TW" sz="1300" dirty="0"/>
          </a:p>
        </p:txBody>
      </p:sp>
      <p:sp>
        <p:nvSpPr>
          <p:cNvPr id="36" name="chip-unsure-71"/>
          <p:cNvSpPr/>
          <p:nvPr/>
        </p:nvSpPr>
        <p:spPr>
          <a:xfrm>
            <a:off x="10469880" y="4809744"/>
            <a:ext cx="1002182" cy="311404"/>
          </a:xfrm>
          <a:prstGeom prst="roundRect">
            <a:avLst>
              <a:gd name="adj" fmla="val 50000"/>
            </a:avLst>
          </a:prstGeom>
          <a:solidFill>
            <a:schemeClr val="accent4"/>
          </a:solidFill>
          <a:ln/>
        </p:spPr>
      </p:sp>
      <p:pic>
        <p:nvPicPr>
          <p:cNvPr id="37" name="chip-icon-72" descr="待確認">    </p:cNvPr>
          <p:cNvPicPr>
            <a:picLocks noChangeAspect="1"/>
          </p:cNvPicPr>
          <p:nvPr/>
        </p:nvPicPr>
        <p:blipFill>
          <a:blip r:embed="rId6"/>
          <a:stretch>
            <a:fillRect/>
          </a:stretch>
        </p:blipFill>
        <p:spPr>
          <a:xfrm>
            <a:off x="10579608" y="4872025"/>
            <a:ext cx="186842" cy="186842"/>
          </a:xfrm>
          <a:prstGeom prst="rect">
            <a:avLst/>
          </a:prstGeom>
        </p:spPr>
      </p:pic>
      <p:sp>
        <p:nvSpPr>
          <p:cNvPr id="38" name="chip-text-73"/>
          <p:cNvSpPr txBox="1"/>
          <p:nvPr/>
        </p:nvSpPr>
        <p:spPr>
          <a:xfrm>
            <a:off x="10830458" y="4809744"/>
            <a:ext cx="632460" cy="311404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zh-TW" altLang="en-US" sz="1300" b="1" dirty="0">
                <a:solidFill>
                  <a:schemeClr val="bg1"/>
                </a:solidFill>
              </a:rPr>
              <a:t>待確認</a:t>
            </a:r>
            <a:endParaRPr lang="zh-TW" sz="1300" dirty="0"/>
          </a:p>
        </p:txBody>
      </p:sp>
      <p:pic>
        <p:nvPicPr>
          <p:cNvPr id="39" name="icon-74" descr="Lightbulb">    </p:cNvPr>
          <p:cNvPicPr>
            <a:picLocks noChangeAspect="1"/>
          </p:cNvPicPr>
          <p:nvPr/>
        </p:nvPicPr>
        <p:blipFill>
          <a:blip r:embed="rId7"/>
          <a:stretch>
            <a:fillRect/>
          </a:stretch>
        </p:blipFill>
        <p:spPr>
          <a:xfrm>
            <a:off x="548640" y="5852160"/>
            <a:ext cx="310896" cy="310896"/>
          </a:xfrm>
          <a:prstGeom prst="rect">
            <a:avLst/>
          </a:prstGeom>
        </p:spPr>
      </p:pic>
      <p:sp>
        <p:nvSpPr>
          <p:cNvPr id="40" name="text-75"/>
          <p:cNvSpPr txBox="1"/>
          <p:nvPr/>
        </p:nvSpPr>
        <p:spPr>
          <a:xfrm>
            <a:off x="960120" y="5852160"/>
            <a:ext cx="10515600" cy="329184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zh-TW" altLang="en-US" sz="1600" b="1" dirty="0">
                <a:solidFill>
                  <a:schemeClr val="accent4"/>
                </a:solidFill>
              </a:rPr>
              <a:t>標題與用字都會變，關鍵字規則判不準，所以需要 LLM 判讀語意。</a:t>
            </a:r>
            <a:endParaRPr lang="zh-TW" sz="1600" dirty="0"/>
          </a:p>
        </p:txBody>
      </p:sp>
      <p:sp>
        <p:nvSpPr>
          <p:cNvPr id="25" name="Slide Number Placeholder 0"/>
          <p:cNvSpPr>
            <a:spLocks noGrp="1"/>
          </p:cNvSpPr>
          <p:nvPr>
            <p:ph type="sldNum" sz="quarter" idx="4294967295"/>
          </p:nvPr>
        </p:nvSpPr>
        <p:spPr>
          <a:xfrm>
            <a:off x="11091672" y="6400800"/>
            <a:ext cx="548640" cy="256032"/>
          </a:xfrm>
          <a:prstGeom prst="rect">
            <a:avLst/>
          </a:prstGeom>
          <a:extLst>
            <a:ext uri="{C572A759-6A51-4108-AA02-DFA0A04FC94B}">
              <ma14:wrappingTextBoxFlag xmlns:ma14="http://schemas.microsoft.com/office/mac/drawingml/2011/main" val="0"/>
            </a:ext>
          </a:extLst>
        </p:spPr>
        <p:txBody>
          <a:bodyPr/>
          <a:lstStyle>
            <a:lvl1pPr>
              <a:defRPr sz="1000">
                <a:solidFill>
                  <a:schemeClr val="accent6"/>
                </a:solidFill>
              </a:defRPr>
            </a:lvl1pPr>
          </a:lstStyle>
          <a:p>
            <a:pPr algn="r"/>
            <a:fld id="{F7021451-1387-4CA6-816F-3879F97B5CBC}" type="slidenum">
              <a:rPr b="0" lang="en-US"/>
              <a:t>2</a:t>
            </a:fld>
            <a:endParaRPr lang="en-US"/>
          </a:p>
        </p:txBody>
      </p:sp>
    </p:spTree>
  </p:cSld>
  <p:clrMapOvr>
    <a:masterClrMapping/>
  </p:clrMapOvr>
</p:sld>
</file>

<file path=ppt/slides/slide3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3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ext 0"/>
          <p:cNvSpPr/>
          <p:nvPr>
            <p:ph idx="100" type="body" hasCustomPrompt="1"/>
          </p:nvPr>
        </p:nvSpPr>
        <p:spPr>
          <a:xfrm>
            <a:off x="548640" y="365760"/>
            <a:ext cx="8778240" cy="27432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algn="l" indent="0" marL="0">
              <a:buNone/>
            </a:pPr>
            <a:r>
              <a:rPr lang="zh-TW" altLang="en-US" sz="1300" b="1" dirty="0">
                <a:solidFill>
                  <a:schemeClr val="accent6"/>
                </a:solidFill>
              </a:rPr>
              <a:t>WEEK 01–07 ＋ v0.8 進度</a:t>
            </a:r>
            <a:endParaRPr lang="zh-TW" sz="1300" dirty="0"/>
          </a:p>
        </p:txBody>
      </p:sp>
      <p:sp>
        <p:nvSpPr>
          <p:cNvPr id="3" name="Text 0"/>
          <p:cNvSpPr/>
          <p:nvPr>
            <p:ph idx="101" type="title" hasCustomPrompt="1"/>
          </p:nvPr>
        </p:nvSpPr>
        <p:spPr>
          <a:xfrm>
            <a:off x="548640" y="658368"/>
            <a:ext cx="11064240" cy="68580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algn="l" indent="0" marL="0">
              <a:buNone/>
            </a:pPr>
            <a:r>
              <a:rPr lang="zh-TW" altLang="en-US" sz="3000" b="1" dirty="0">
                <a:solidFill>
                  <a:schemeClr val="tx1"/>
                </a:solidFill>
              </a:rPr>
              <a:t>七週累積：三條路徑都能運作，但還沒接在一起</a:t>
            </a:r>
            <a:endParaRPr lang="zh-TW" sz="3000" dirty="0"/>
          </a:p>
        </p:txBody>
      </p:sp>
      <p:sp>
        <p:nvSpPr>
          <p:cNvPr id="5" name="timeline-76"/>
          <p:cNvSpPr/>
          <p:nvPr/>
        </p:nvSpPr>
        <p:spPr>
          <a:xfrm>
            <a:off x="1143000" y="2176272"/>
            <a:ext cx="9921240" cy="0"/>
          </a:xfrm>
          <a:prstGeom prst="line">
            <a:avLst/>
          </a:prstGeom>
          <a:noFill/>
          <a:ln w="38100">
            <a:solidFill>
              <a:schemeClr val="bg2"/>
            </a:solidFill>
            <a:prstDash val="solid"/>
          </a:ln>
        </p:spPr>
      </p:sp>
      <p:sp>
        <p:nvSpPr>
          <p:cNvPr id="6" name="node-77"/>
          <p:cNvSpPr/>
          <p:nvPr/>
        </p:nvSpPr>
        <p:spPr>
          <a:xfrm>
            <a:off x="987552" y="2020824"/>
            <a:ext cx="310896" cy="310896"/>
          </a:xfrm>
          <a:prstGeom prst="ellipse">
            <a:avLst/>
          </a:prstGeom>
          <a:solidFill>
            <a:schemeClr val="accent2"/>
          </a:solidFill>
          <a:ln w="19050">
            <a:solidFill>
              <a:schemeClr val="accent2"/>
            </a:solidFill>
            <a:prstDash val="solid"/>
          </a:ln>
        </p:spPr>
      </p:sp>
      <p:sp>
        <p:nvSpPr>
          <p:cNvPr id="7" name="text-78"/>
          <p:cNvSpPr txBox="1"/>
          <p:nvPr/>
        </p:nvSpPr>
        <p:spPr>
          <a:xfrm>
            <a:off x="365760" y="1554480"/>
            <a:ext cx="1554480" cy="310896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algn="ctr" indent="0" marL="0">
              <a:buNone/>
            </a:pPr>
            <a:r>
              <a:rPr lang="zh-TW" altLang="en-US" sz="1500" b="1" dirty="0">
                <a:solidFill>
                  <a:schemeClr val="tx1"/>
                </a:solidFill>
              </a:rPr>
              <a:t>W1–2</a:t>
            </a:r>
            <a:endParaRPr lang="zh-TW" sz="1500" dirty="0"/>
          </a:p>
        </p:txBody>
      </p:sp>
      <p:sp>
        <p:nvSpPr>
          <p:cNvPr id="8" name="text-79"/>
          <p:cNvSpPr txBox="1"/>
          <p:nvPr/>
        </p:nvSpPr>
        <p:spPr>
          <a:xfrm>
            <a:off x="365760" y="2487168"/>
            <a:ext cx="1554480" cy="566928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algn="ctr" indent="0" marL="0">
              <a:buNone/>
            </a:pPr>
            <a:r>
              <a:rPr lang="zh-TW" altLang="en-US" sz="1300" dirty="0">
                <a:solidFill>
                  <a:schemeClr val="tx1"/>
                </a:solidFill>
              </a:rPr>
              <a:t>題目、文字比對</a:t>
            </a:r>
            <a:endParaRPr lang="zh-TW" sz="1300" dirty="0"/>
          </a:p>
          <a:p>
            <a:pPr algn="ctr" indent="0" marL="0">
              <a:buNone/>
            </a:pPr>
            <a:r>
              <a:rPr lang="zh-TW" altLang="en-US" sz="1300" dirty="0">
                <a:solidFill>
                  <a:schemeClr val="tx1"/>
                </a:solidFill>
              </a:rPr>
              <a:t>與引用核對</a:t>
            </a:r>
            <a:endParaRPr lang="zh-TW" sz="1300" dirty="0"/>
          </a:p>
        </p:txBody>
      </p:sp>
      <p:sp>
        <p:nvSpPr>
          <p:cNvPr id="9" name="node-80"/>
          <p:cNvSpPr/>
          <p:nvPr/>
        </p:nvSpPr>
        <p:spPr>
          <a:xfrm>
            <a:off x="2641092" y="2020824"/>
            <a:ext cx="310896" cy="310896"/>
          </a:xfrm>
          <a:prstGeom prst="ellipse">
            <a:avLst/>
          </a:prstGeom>
          <a:solidFill>
            <a:schemeClr val="accent2"/>
          </a:solidFill>
          <a:ln w="19050">
            <a:solidFill>
              <a:schemeClr val="accent2"/>
            </a:solidFill>
            <a:prstDash val="solid"/>
          </a:ln>
        </p:spPr>
      </p:sp>
      <p:sp>
        <p:nvSpPr>
          <p:cNvPr id="10" name="text-81"/>
          <p:cNvSpPr txBox="1"/>
          <p:nvPr/>
        </p:nvSpPr>
        <p:spPr>
          <a:xfrm>
            <a:off x="2019300" y="1554480"/>
            <a:ext cx="1554480" cy="310896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algn="ctr" indent="0" marL="0">
              <a:buNone/>
            </a:pPr>
            <a:r>
              <a:rPr lang="zh-TW" altLang="en-US" sz="1500" b="1" dirty="0">
                <a:solidFill>
                  <a:schemeClr val="tx1"/>
                </a:solidFill>
              </a:rPr>
              <a:t>W3</a:t>
            </a:r>
            <a:endParaRPr lang="zh-TW" sz="1500" dirty="0"/>
          </a:p>
        </p:txBody>
      </p:sp>
      <p:sp>
        <p:nvSpPr>
          <p:cNvPr id="11" name="text-82"/>
          <p:cNvSpPr txBox="1"/>
          <p:nvPr/>
        </p:nvSpPr>
        <p:spPr>
          <a:xfrm>
            <a:off x="2019300" y="2487168"/>
            <a:ext cx="1554480" cy="566928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algn="ctr" indent="0" marL="0">
              <a:buNone/>
            </a:pPr>
            <a:r>
              <a:rPr lang="zh-TW" altLang="en-US" sz="1300" dirty="0">
                <a:solidFill>
                  <a:schemeClr val="tx1"/>
                </a:solidFill>
              </a:rPr>
              <a:t>來源檢索</a:t>
            </a:r>
            <a:endParaRPr lang="zh-TW" sz="1300" dirty="0"/>
          </a:p>
          <a:p>
            <a:pPr algn="ctr" indent="0" marL="0">
              <a:buNone/>
            </a:pPr>
            <a:r>
              <a:rPr lang="zh-TW" altLang="en-US" sz="1300" dirty="0">
                <a:solidFill>
                  <a:schemeClr val="tx1"/>
                </a:solidFill>
              </a:rPr>
              <a:t>與拒答 gate</a:t>
            </a:r>
            <a:endParaRPr lang="zh-TW" sz="1300" dirty="0"/>
          </a:p>
        </p:txBody>
      </p:sp>
      <p:sp>
        <p:nvSpPr>
          <p:cNvPr id="12" name="text-83"/>
          <p:cNvSpPr txBox="1"/>
          <p:nvPr/>
        </p:nvSpPr>
        <p:spPr>
          <a:xfrm>
            <a:off x="2019300" y="3090672"/>
            <a:ext cx="1554480" cy="45720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algn="ctr" indent="0" marL="0">
              <a:buNone/>
            </a:pPr>
            <a:r>
              <a:rPr lang="zh-TW" altLang="en-US" sz="1200" dirty="0">
                <a:solidFill>
                  <a:schemeClr val="accent3"/>
                </a:solidFill>
              </a:rPr>
              <a:t>缺教師費率原文</a:t>
            </a:r>
            <a:endParaRPr lang="zh-TW" sz="1200" dirty="0"/>
          </a:p>
        </p:txBody>
      </p:sp>
      <p:sp>
        <p:nvSpPr>
          <p:cNvPr id="13" name="node-84"/>
          <p:cNvSpPr/>
          <p:nvPr/>
        </p:nvSpPr>
        <p:spPr>
          <a:xfrm>
            <a:off x="4294632" y="2020824"/>
            <a:ext cx="310896" cy="310896"/>
          </a:xfrm>
          <a:prstGeom prst="ellipse">
            <a:avLst/>
          </a:prstGeom>
          <a:solidFill>
            <a:schemeClr val="accent2"/>
          </a:solidFill>
          <a:ln w="19050">
            <a:solidFill>
              <a:schemeClr val="accent2"/>
            </a:solidFill>
            <a:prstDash val="solid"/>
          </a:ln>
        </p:spPr>
      </p:sp>
      <p:sp>
        <p:nvSpPr>
          <p:cNvPr id="14" name="text-85"/>
          <p:cNvSpPr txBox="1"/>
          <p:nvPr/>
        </p:nvSpPr>
        <p:spPr>
          <a:xfrm>
            <a:off x="3672840" y="1554480"/>
            <a:ext cx="1554480" cy="310896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algn="ctr" indent="0" marL="0">
              <a:buNone/>
            </a:pPr>
            <a:r>
              <a:rPr lang="zh-TW" altLang="en-US" sz="1500" b="1" dirty="0">
                <a:solidFill>
                  <a:schemeClr val="tx1"/>
                </a:solidFill>
              </a:rPr>
              <a:t>W4</a:t>
            </a:r>
            <a:endParaRPr lang="zh-TW" sz="1500" dirty="0"/>
          </a:p>
        </p:txBody>
      </p:sp>
      <p:sp>
        <p:nvSpPr>
          <p:cNvPr id="15" name="text-86"/>
          <p:cNvSpPr txBox="1"/>
          <p:nvPr/>
        </p:nvSpPr>
        <p:spPr>
          <a:xfrm>
            <a:off x="3672840" y="2487168"/>
            <a:ext cx="1554480" cy="566928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algn="ctr" indent="0" marL="0">
              <a:buNone/>
            </a:pPr>
            <a:r>
              <a:rPr lang="zh-TW" altLang="en-US" sz="1300" dirty="0">
                <a:solidFill>
                  <a:schemeClr val="tx1"/>
                </a:solidFill>
              </a:rPr>
              <a:t>MCP 讀取</a:t>
            </a:r>
            <a:endParaRPr lang="zh-TW" sz="1300" dirty="0"/>
          </a:p>
          <a:p>
            <a:pPr algn="ctr" indent="0" marL="0">
              <a:buNone/>
            </a:pPr>
            <a:r>
              <a:rPr lang="zh-TW" altLang="en-US" sz="1300" dirty="0">
                <a:solidFill>
                  <a:schemeClr val="tx1"/>
                </a:solidFill>
              </a:rPr>
              <a:t>確認後才寫入</a:t>
            </a:r>
            <a:endParaRPr lang="zh-TW" sz="1300" dirty="0"/>
          </a:p>
        </p:txBody>
      </p:sp>
      <p:sp>
        <p:nvSpPr>
          <p:cNvPr id="16" name="text-87"/>
          <p:cNvSpPr txBox="1"/>
          <p:nvPr/>
        </p:nvSpPr>
        <p:spPr>
          <a:xfrm>
            <a:off x="3672840" y="3090672"/>
            <a:ext cx="1554480" cy="45720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algn="ctr" indent="0" marL="0">
              <a:buNone/>
            </a:pPr>
            <a:r>
              <a:rPr lang="zh-TW" altLang="en-US" sz="1200" dirty="0">
                <a:solidFill>
                  <a:schemeClr val="accent3"/>
                </a:solidFill>
              </a:rPr>
              <a:t>Gemini／ADC</a:t>
            </a:r>
            <a:endParaRPr lang="zh-TW" sz="1200" dirty="0"/>
          </a:p>
          <a:p>
            <a:pPr algn="ctr" indent="0" marL="0">
              <a:buNone/>
            </a:pPr>
            <a:r>
              <a:rPr lang="zh-TW" altLang="en-US" sz="1200" dirty="0">
                <a:solidFill>
                  <a:schemeClr val="accent3"/>
                </a:solidFill>
              </a:rPr>
              <a:t>未驗證</a:t>
            </a:r>
            <a:endParaRPr lang="zh-TW" sz="1200" dirty="0"/>
          </a:p>
        </p:txBody>
      </p:sp>
      <p:sp>
        <p:nvSpPr>
          <p:cNvPr id="17" name="node-88"/>
          <p:cNvSpPr/>
          <p:nvPr/>
        </p:nvSpPr>
        <p:spPr>
          <a:xfrm>
            <a:off x="5948172" y="2020824"/>
            <a:ext cx="310896" cy="310896"/>
          </a:xfrm>
          <a:prstGeom prst="ellipse">
            <a:avLst/>
          </a:prstGeom>
          <a:solidFill>
            <a:schemeClr val="accent2"/>
          </a:solidFill>
          <a:ln w="19050">
            <a:solidFill>
              <a:schemeClr val="accent2"/>
            </a:solidFill>
            <a:prstDash val="solid"/>
          </a:ln>
        </p:spPr>
      </p:sp>
      <p:sp>
        <p:nvSpPr>
          <p:cNvPr id="18" name="text-89"/>
          <p:cNvSpPr txBox="1"/>
          <p:nvPr/>
        </p:nvSpPr>
        <p:spPr>
          <a:xfrm>
            <a:off x="5326380" y="1554480"/>
            <a:ext cx="1554480" cy="310896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algn="ctr" indent="0" marL="0">
              <a:buNone/>
            </a:pPr>
            <a:r>
              <a:rPr lang="zh-TW" altLang="en-US" sz="1500" b="1" dirty="0">
                <a:solidFill>
                  <a:schemeClr val="tx1"/>
                </a:solidFill>
              </a:rPr>
              <a:t>W5</a:t>
            </a:r>
            <a:endParaRPr lang="zh-TW" sz="1500" dirty="0"/>
          </a:p>
        </p:txBody>
      </p:sp>
      <p:sp>
        <p:nvSpPr>
          <p:cNvPr id="19" name="text-90"/>
          <p:cNvSpPr txBox="1"/>
          <p:nvPr/>
        </p:nvSpPr>
        <p:spPr>
          <a:xfrm>
            <a:off x="5326380" y="2487168"/>
            <a:ext cx="1554480" cy="566928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algn="ctr" indent="0" marL="0">
              <a:buNone/>
            </a:pPr>
            <a:r>
              <a:rPr lang="zh-TW" altLang="en-US" sz="1300" dirty="0">
                <a:solidFill>
                  <a:schemeClr val="tx1"/>
                </a:solidFill>
              </a:rPr>
              <a:t>LangGraph</a:t>
            </a:r>
            <a:endParaRPr lang="zh-TW" sz="1300" dirty="0"/>
          </a:p>
          <a:p>
            <a:pPr algn="ctr" indent="0" marL="0">
              <a:buNone/>
            </a:pPr>
            <a:r>
              <a:rPr lang="zh-TW" altLang="en-US" sz="1300" dirty="0">
                <a:solidFill>
                  <a:schemeClr val="tx1"/>
                </a:solidFill>
              </a:rPr>
              <a:t>候選與比較</a:t>
            </a:r>
            <a:endParaRPr lang="zh-TW" sz="1300" dirty="0"/>
          </a:p>
        </p:txBody>
      </p:sp>
      <p:sp>
        <p:nvSpPr>
          <p:cNvPr id="20" name="text-91"/>
          <p:cNvSpPr txBox="1"/>
          <p:nvPr/>
        </p:nvSpPr>
        <p:spPr>
          <a:xfrm>
            <a:off x="5326380" y="3090672"/>
            <a:ext cx="1554480" cy="45720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algn="ctr" indent="0" marL="0">
              <a:buNone/>
            </a:pPr>
            <a:r>
              <a:rPr lang="zh-TW" altLang="en-US" sz="1200" dirty="0">
                <a:solidFill>
                  <a:schemeClr val="accent3"/>
                </a:solidFill>
              </a:rPr>
              <a:t>原版仍為預設</a:t>
            </a:r>
            <a:endParaRPr lang="zh-TW" sz="1200" dirty="0"/>
          </a:p>
        </p:txBody>
      </p:sp>
      <p:sp>
        <p:nvSpPr>
          <p:cNvPr id="21" name="node-92"/>
          <p:cNvSpPr/>
          <p:nvPr/>
        </p:nvSpPr>
        <p:spPr>
          <a:xfrm>
            <a:off x="7601712" y="2020824"/>
            <a:ext cx="310896" cy="310896"/>
          </a:xfrm>
          <a:prstGeom prst="ellipse">
            <a:avLst/>
          </a:prstGeom>
          <a:solidFill>
            <a:schemeClr val="bg1"/>
          </a:solidFill>
          <a:ln w="19050">
            <a:solidFill>
              <a:schemeClr val="accent6"/>
            </a:solidFill>
            <a:prstDash val="solid"/>
          </a:ln>
        </p:spPr>
      </p:sp>
      <p:sp>
        <p:nvSpPr>
          <p:cNvPr id="22" name="text-93"/>
          <p:cNvSpPr txBox="1"/>
          <p:nvPr/>
        </p:nvSpPr>
        <p:spPr>
          <a:xfrm>
            <a:off x="6979920" y="1554480"/>
            <a:ext cx="1554480" cy="310896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algn="ctr" indent="0" marL="0">
              <a:buNone/>
            </a:pPr>
            <a:r>
              <a:rPr lang="zh-TW" altLang="en-US" sz="1500" b="1" dirty="0">
                <a:solidFill>
                  <a:schemeClr val="accent6"/>
                </a:solidFill>
              </a:rPr>
              <a:t>W6</a:t>
            </a:r>
            <a:endParaRPr lang="zh-TW" sz="1500" dirty="0"/>
          </a:p>
        </p:txBody>
      </p:sp>
      <p:sp>
        <p:nvSpPr>
          <p:cNvPr id="23" name="text-94"/>
          <p:cNvSpPr txBox="1"/>
          <p:nvPr/>
        </p:nvSpPr>
        <p:spPr>
          <a:xfrm>
            <a:off x="6979920" y="2487168"/>
            <a:ext cx="1554480" cy="566928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algn="ctr" indent="0" marL="0">
              <a:buNone/>
            </a:pPr>
            <a:r>
              <a:rPr lang="zh-TW" altLang="en-US" sz="1300" dirty="0">
                <a:solidFill>
                  <a:schemeClr val="accent6"/>
                </a:solidFill>
              </a:rPr>
              <a:t>未提供</a:t>
            </a:r>
            <a:endParaRPr lang="zh-TW" sz="1300" dirty="0"/>
          </a:p>
          <a:p>
            <a:pPr algn="ctr" indent="0" marL="0">
              <a:buNone/>
            </a:pPr>
            <a:r>
              <a:rPr lang="zh-TW" altLang="en-US" sz="1300" dirty="0">
                <a:solidFill>
                  <a:schemeClr val="accent6"/>
                </a:solidFill>
              </a:rPr>
              <a:t>可核對材料</a:t>
            </a:r>
            <a:endParaRPr lang="zh-TW" sz="1300" dirty="0"/>
          </a:p>
        </p:txBody>
      </p:sp>
      <p:sp>
        <p:nvSpPr>
          <p:cNvPr id="24" name="text-95"/>
          <p:cNvSpPr txBox="1"/>
          <p:nvPr/>
        </p:nvSpPr>
        <p:spPr>
          <a:xfrm>
            <a:off x="6979920" y="3090672"/>
            <a:ext cx="1554480" cy="45720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algn="ctr" indent="0" marL="0">
              <a:buNone/>
            </a:pPr>
            <a:r>
              <a:rPr lang="zh-TW" altLang="en-US" sz="1200" dirty="0">
                <a:solidFill>
                  <a:schemeClr val="accent6"/>
                </a:solidFill>
              </a:rPr>
              <a:t>不列為完成</a:t>
            </a:r>
            <a:endParaRPr lang="zh-TW" sz="1200" dirty="0"/>
          </a:p>
        </p:txBody>
      </p:sp>
      <p:sp>
        <p:nvSpPr>
          <p:cNvPr id="25" name="node-96"/>
          <p:cNvSpPr/>
          <p:nvPr/>
        </p:nvSpPr>
        <p:spPr>
          <a:xfrm>
            <a:off x="9255252" y="2020824"/>
            <a:ext cx="310896" cy="310896"/>
          </a:xfrm>
          <a:prstGeom prst="ellipse">
            <a:avLst/>
          </a:prstGeom>
          <a:solidFill>
            <a:schemeClr val="accent2"/>
          </a:solidFill>
          <a:ln w="19050">
            <a:solidFill>
              <a:schemeClr val="accent2"/>
            </a:solidFill>
            <a:prstDash val="solid"/>
          </a:ln>
        </p:spPr>
      </p:sp>
      <p:sp>
        <p:nvSpPr>
          <p:cNvPr id="26" name="text-97"/>
          <p:cNvSpPr txBox="1"/>
          <p:nvPr/>
        </p:nvSpPr>
        <p:spPr>
          <a:xfrm>
            <a:off x="8633460" y="1554480"/>
            <a:ext cx="1554480" cy="310896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algn="ctr" indent="0" marL="0">
              <a:buNone/>
            </a:pPr>
            <a:r>
              <a:rPr lang="zh-TW" altLang="en-US" sz="1500" b="1" dirty="0">
                <a:solidFill>
                  <a:schemeClr val="tx1"/>
                </a:solidFill>
              </a:rPr>
              <a:t>W7</a:t>
            </a:r>
            <a:endParaRPr lang="zh-TW" sz="1500" dirty="0"/>
          </a:p>
        </p:txBody>
      </p:sp>
      <p:sp>
        <p:nvSpPr>
          <p:cNvPr id="27" name="text-98"/>
          <p:cNvSpPr txBox="1"/>
          <p:nvPr/>
        </p:nvSpPr>
        <p:spPr>
          <a:xfrm>
            <a:off x="8633460" y="2487168"/>
            <a:ext cx="1554480" cy="566928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algn="ctr" indent="0" marL="0">
              <a:buNone/>
            </a:pPr>
            <a:r>
              <a:rPr lang="zh-TW" altLang="en-US" sz="1300" dirty="0">
                <a:solidFill>
                  <a:schemeClr val="tx1"/>
                </a:solidFill>
              </a:rPr>
              <a:t>Session</a:t>
            </a:r>
            <a:endParaRPr lang="zh-TW" sz="1300" dirty="0"/>
          </a:p>
          <a:p>
            <a:pPr algn="ctr" indent="0" marL="0">
              <a:buNone/>
            </a:pPr>
            <a:r>
              <a:rPr lang="zh-TW" altLang="en-US" sz="1300" dirty="0">
                <a:solidFill>
                  <a:schemeClr val="tx1"/>
                </a:solidFill>
              </a:rPr>
              <a:t>清除與隔離</a:t>
            </a:r>
            <a:endParaRPr lang="zh-TW" sz="1300" dirty="0"/>
          </a:p>
        </p:txBody>
      </p:sp>
      <p:sp>
        <p:nvSpPr>
          <p:cNvPr id="28" name="text-99"/>
          <p:cNvSpPr txBox="1"/>
          <p:nvPr/>
        </p:nvSpPr>
        <p:spPr>
          <a:xfrm>
            <a:off x="8633460" y="3090672"/>
            <a:ext cx="1554480" cy="45720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algn="ctr" indent="0" marL="0">
              <a:buNone/>
            </a:pPr>
            <a:r>
              <a:rPr lang="zh-TW" altLang="en-US" sz="1200" dirty="0">
                <a:solidFill>
                  <a:schemeClr val="accent3"/>
                </a:solidFill>
              </a:rPr>
              <a:t>正式登入待做</a:t>
            </a:r>
            <a:endParaRPr lang="zh-TW" sz="1200" dirty="0"/>
          </a:p>
        </p:txBody>
      </p:sp>
      <p:sp>
        <p:nvSpPr>
          <p:cNvPr id="29" name="node-100"/>
          <p:cNvSpPr/>
          <p:nvPr/>
        </p:nvSpPr>
        <p:spPr>
          <a:xfrm>
            <a:off x="10853928" y="1965960"/>
            <a:ext cx="420624" cy="420624"/>
          </a:xfrm>
          <a:prstGeom prst="ellipse">
            <a:avLst/>
          </a:prstGeom>
          <a:solidFill>
            <a:schemeClr val="accent1"/>
          </a:solidFill>
          <a:ln w="25400">
            <a:solidFill>
              <a:schemeClr val="tx2"/>
            </a:solidFill>
            <a:prstDash val="solid"/>
          </a:ln>
        </p:spPr>
      </p:sp>
      <p:sp>
        <p:nvSpPr>
          <p:cNvPr id="30" name="text-101"/>
          <p:cNvSpPr txBox="1"/>
          <p:nvPr/>
        </p:nvSpPr>
        <p:spPr>
          <a:xfrm>
            <a:off x="10287000" y="1554480"/>
            <a:ext cx="1554480" cy="310896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algn="ctr" indent="0" marL="0">
              <a:buNone/>
            </a:pPr>
            <a:r>
              <a:rPr lang="zh-TW" altLang="en-US" sz="1500" b="1" dirty="0">
                <a:solidFill>
                  <a:schemeClr val="tx1"/>
                </a:solidFill>
              </a:rPr>
              <a:t>v0.8</a:t>
            </a:r>
            <a:endParaRPr lang="zh-TW" sz="1500" dirty="0"/>
          </a:p>
        </p:txBody>
      </p:sp>
      <p:sp>
        <p:nvSpPr>
          <p:cNvPr id="31" name="text-102"/>
          <p:cNvSpPr txBox="1"/>
          <p:nvPr/>
        </p:nvSpPr>
        <p:spPr>
          <a:xfrm>
            <a:off x="10287000" y="2487168"/>
            <a:ext cx="1554480" cy="566928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algn="ctr" indent="0" marL="0">
              <a:buNone/>
            </a:pPr>
            <a:r>
              <a:rPr lang="zh-TW" altLang="en-US" sz="1300" b="1" dirty="0">
                <a:solidFill>
                  <a:schemeClr val="tx1"/>
                </a:solidFill>
              </a:rPr>
              <a:t>PDF 預檢</a:t>
            </a:r>
            <a:endParaRPr lang="zh-TW" sz="1300" dirty="0"/>
          </a:p>
          <a:p>
            <a:pPr algn="ctr" indent="0" marL="0">
              <a:buNone/>
            </a:pPr>
            <a:r>
              <a:rPr lang="zh-TW" altLang="en-US" sz="1300" b="1" dirty="0">
                <a:solidFill>
                  <a:schemeClr val="tx1"/>
                </a:solidFill>
              </a:rPr>
              <a:t>與估分</a:t>
            </a:r>
            <a:endParaRPr lang="zh-TW" sz="1300" dirty="0"/>
          </a:p>
        </p:txBody>
      </p:sp>
      <p:sp>
        <p:nvSpPr>
          <p:cNvPr id="32" name="text-103"/>
          <p:cNvSpPr txBox="1"/>
          <p:nvPr/>
        </p:nvSpPr>
        <p:spPr>
          <a:xfrm>
            <a:off x="10287000" y="3090672"/>
            <a:ext cx="1554480" cy="45720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algn="ctr" indent="0" marL="0">
              <a:buNone/>
            </a:pPr>
            <a:r>
              <a:rPr lang="zh-TW" altLang="en-US" sz="1200" dirty="0">
                <a:solidFill>
                  <a:schemeClr val="accent3"/>
                </a:solidFill>
              </a:rPr>
              <a:t>live 結果待記錄</a:t>
            </a:r>
            <a:endParaRPr lang="zh-TW" sz="1200" dirty="0"/>
          </a:p>
        </p:txBody>
      </p:sp>
      <p:sp>
        <p:nvSpPr>
          <p:cNvPr id="33" name="card-104"/>
          <p:cNvSpPr/>
          <p:nvPr/>
        </p:nvSpPr>
        <p:spPr>
          <a:xfrm>
            <a:off x="548640" y="3794760"/>
            <a:ext cx="3520440" cy="1874520"/>
          </a:xfrm>
          <a:prstGeom prst="roundRect">
            <a:avLst>
              <a:gd name="adj" fmla="val 3902"/>
            </a:avLst>
          </a:prstGeom>
          <a:solidFill>
            <a:schemeClr val="bg1"/>
          </a:solidFill>
          <a:ln w="12700">
            <a:solidFill>
              <a:schemeClr val="bg2"/>
            </a:solidFill>
            <a:prstDash val="solid"/>
          </a:ln>
          <a:effectLst>
            <a:outerShdw sx="100000" sy="100000" kx="0" ky="0" algn="bl" rotWithShape="0" blurRad="127000" dist="25400" dir="5400000">
              <a:srgbClr val="1A2233">
                <a:alpha val="10000"/>
              </a:srgbClr>
            </a:outerShdw>
          </a:effectLst>
        </p:spPr>
      </p:sp>
      <p:sp>
        <p:nvSpPr>
          <p:cNvPr id="34" name="icon-bg-105"/>
          <p:cNvSpPr/>
          <p:nvPr/>
        </p:nvSpPr>
        <p:spPr>
          <a:xfrm>
            <a:off x="777240" y="4005072"/>
            <a:ext cx="512064" cy="512064"/>
          </a:xfrm>
          <a:prstGeom prst="ellipse">
            <a:avLst/>
          </a:prstGeom>
          <a:solidFill>
            <a:schemeClr val="tx2"/>
          </a:solidFill>
          <a:ln/>
        </p:spPr>
      </p:sp>
      <p:pic>
        <p:nvPicPr>
          <p:cNvPr id="35" name="icon-106" descr="MessageSquareText">    </p:cNvPr>
          <p:cNvPicPr>
            <a:picLocks noChangeAspect="1"/>
          </p:cNvPicPr>
          <p:nvPr/>
        </p:nvPicPr>
        <p:blipFill>
          <a:blip r:embed="rId1"/>
          <a:stretch>
            <a:fillRect/>
          </a:stretch>
        </p:blipFill>
        <p:spPr>
          <a:xfrm>
            <a:off x="900135" y="4127967"/>
            <a:ext cx="266273" cy="266273"/>
          </a:xfrm>
          <a:prstGeom prst="rect">
            <a:avLst/>
          </a:prstGeom>
        </p:spPr>
      </p:pic>
      <p:sp>
        <p:nvSpPr>
          <p:cNvPr id="36" name="text-107"/>
          <p:cNvSpPr txBox="1"/>
          <p:nvPr/>
        </p:nvSpPr>
        <p:spPr>
          <a:xfrm>
            <a:off x="1417320" y="4087368"/>
            <a:ext cx="2560320" cy="36576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buNone/>
            </a:pPr>
            <a:r>
              <a:rPr lang="zh-TW" altLang="en-US" sz="1700" b="1" dirty="0">
                <a:solidFill>
                  <a:schemeClr val="tx1"/>
                </a:solidFill>
              </a:rPr>
              <a:t>A　文字語意比對</a:t>
            </a:r>
            <a:endParaRPr lang="zh-TW" sz="1700" dirty="0"/>
          </a:p>
        </p:txBody>
      </p:sp>
      <p:sp>
        <p:nvSpPr>
          <p:cNvPr id="37" name="text-108"/>
          <p:cNvSpPr txBox="1"/>
          <p:nvPr/>
        </p:nvSpPr>
        <p:spPr>
          <a:xfrm>
            <a:off x="777240" y="4636008"/>
            <a:ext cx="3108960" cy="54864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buNone/>
            </a:pPr>
            <a:r>
              <a:rPr lang="zh-TW" altLang="en-US" sz="1300" dirty="0">
                <a:solidFill>
                  <a:schemeClr val="accent6"/>
                </a:solidFill>
              </a:rPr>
              <a:t>老師規格＋學生文字 → GPT 判讀是否符合，系統核對原文引用</a:t>
            </a:r>
            <a:endParaRPr lang="zh-TW" sz="1300" dirty="0"/>
          </a:p>
        </p:txBody>
      </p:sp>
      <p:sp>
        <p:nvSpPr>
          <p:cNvPr id="38" name="chip-pass-109"/>
          <p:cNvSpPr/>
          <p:nvPr/>
        </p:nvSpPr>
        <p:spPr>
          <a:xfrm>
            <a:off x="777240" y="5230368"/>
            <a:ext cx="1294790" cy="298704"/>
          </a:xfrm>
          <a:prstGeom prst="roundRect">
            <a:avLst>
              <a:gd name="adj" fmla="val 50000"/>
            </a:avLst>
          </a:prstGeom>
          <a:solidFill>
            <a:schemeClr val="accent2"/>
          </a:solidFill>
          <a:ln/>
        </p:spPr>
      </p:sp>
      <p:pic>
        <p:nvPicPr>
          <p:cNvPr id="39" name="chip-icon-110" descr="LIVE_PASS">    </p:cNvPr>
          <p:cNvPicPr>
            <a:picLocks noChangeAspect="1"/>
          </p:cNvPicPr>
          <p:nvPr/>
        </p:nvPicPr>
        <p:blipFill>
          <a:blip r:embed="rId2"/>
          <a:stretch>
            <a:fillRect/>
          </a:stretch>
        </p:blipFill>
        <p:spPr>
          <a:xfrm>
            <a:off x="886968" y="5290109"/>
            <a:ext cx="179222" cy="179222"/>
          </a:xfrm>
          <a:prstGeom prst="rect">
            <a:avLst/>
          </a:prstGeom>
        </p:spPr>
      </p:pic>
      <p:sp>
        <p:nvSpPr>
          <p:cNvPr id="40" name="chip-text-111"/>
          <p:cNvSpPr txBox="1"/>
          <p:nvPr/>
        </p:nvSpPr>
        <p:spPr>
          <a:xfrm>
            <a:off x="1130198" y="5230368"/>
            <a:ext cx="932688" cy="298704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zh-TW" altLang="en-US" sz="1200" b="1" dirty="0">
                <a:solidFill>
                  <a:schemeClr val="bg1"/>
                </a:solidFill>
              </a:rPr>
              <a:t>LIVE_PASS</a:t>
            </a:r>
            <a:endParaRPr lang="zh-TW" sz="1200" dirty="0"/>
          </a:p>
        </p:txBody>
      </p:sp>
      <p:sp>
        <p:nvSpPr>
          <p:cNvPr id="41" name="card-112"/>
          <p:cNvSpPr/>
          <p:nvPr/>
        </p:nvSpPr>
        <p:spPr>
          <a:xfrm>
            <a:off x="4343400" y="3794760"/>
            <a:ext cx="3520440" cy="1874520"/>
          </a:xfrm>
          <a:prstGeom prst="roundRect">
            <a:avLst>
              <a:gd name="adj" fmla="val 3902"/>
            </a:avLst>
          </a:prstGeom>
          <a:solidFill>
            <a:schemeClr val="bg1"/>
          </a:solidFill>
          <a:ln w="12700">
            <a:solidFill>
              <a:schemeClr val="bg2"/>
            </a:solidFill>
            <a:prstDash val="solid"/>
          </a:ln>
          <a:effectLst>
            <a:outerShdw sx="100000" sy="100000" kx="0" ky="0" algn="bl" rotWithShape="0" blurRad="127000" dist="25400" dir="5400000">
              <a:srgbClr val="1A2233">
                <a:alpha val="10000"/>
              </a:srgbClr>
            </a:outerShdw>
          </a:effectLst>
        </p:spPr>
      </p:sp>
      <p:sp>
        <p:nvSpPr>
          <p:cNvPr id="42" name="icon-bg-113"/>
          <p:cNvSpPr/>
          <p:nvPr/>
        </p:nvSpPr>
        <p:spPr>
          <a:xfrm>
            <a:off x="4572000" y="4005072"/>
            <a:ext cx="512064" cy="512064"/>
          </a:xfrm>
          <a:prstGeom prst="ellipse">
            <a:avLst/>
          </a:prstGeom>
          <a:solidFill>
            <a:schemeClr val="tx2"/>
          </a:solidFill>
          <a:ln/>
        </p:spPr>
      </p:sp>
      <p:pic>
        <p:nvPicPr>
          <p:cNvPr id="43" name="icon-114" descr="Wrench">    </p:cNvPr>
          <p:cNvPicPr>
            <a:picLocks noChangeAspect="1"/>
          </p:cNvPicPr>
          <p:nvPr/>
        </p:nvPicPr>
        <p:blipFill>
          <a:blip r:embed="rId3"/>
          <a:stretch>
            <a:fillRect/>
          </a:stretch>
        </p:blipFill>
        <p:spPr>
          <a:xfrm>
            <a:off x="4694895" y="4127967"/>
            <a:ext cx="266273" cy="266273"/>
          </a:xfrm>
          <a:prstGeom prst="rect">
            <a:avLst/>
          </a:prstGeom>
        </p:spPr>
      </p:pic>
      <p:sp>
        <p:nvSpPr>
          <p:cNvPr id="44" name="text-115"/>
          <p:cNvSpPr txBox="1"/>
          <p:nvPr/>
        </p:nvSpPr>
        <p:spPr>
          <a:xfrm>
            <a:off x="5212080" y="4087368"/>
            <a:ext cx="2560320" cy="36576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buNone/>
            </a:pPr>
            <a:r>
              <a:rPr lang="zh-TW" altLang="en-US" sz="1700" b="1" dirty="0">
                <a:solidFill>
                  <a:schemeClr val="tx1"/>
                </a:solidFill>
              </a:rPr>
              <a:t>B　補件工具流程</a:t>
            </a:r>
            <a:endParaRPr lang="zh-TW" sz="1700" dirty="0"/>
          </a:p>
        </p:txBody>
      </p:sp>
      <p:sp>
        <p:nvSpPr>
          <p:cNvPr id="45" name="text-116"/>
          <p:cNvSpPr txBox="1"/>
          <p:nvPr/>
        </p:nvSpPr>
        <p:spPr>
          <a:xfrm>
            <a:off x="4572000" y="4636008"/>
            <a:ext cx="3108960" cy="54864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buNone/>
            </a:pPr>
            <a:r>
              <a:rPr lang="zh-TW" altLang="en-US" sz="1300" dirty="0">
                <a:solidFill>
                  <a:schemeClr val="accent6"/>
                </a:solidFill>
              </a:rPr>
              <a:t>GPT 提出工具呼叫 → Host 驗證 → 使用者確認後寫入草稿</a:t>
            </a:r>
            <a:endParaRPr lang="zh-TW" sz="1300" dirty="0"/>
          </a:p>
        </p:txBody>
      </p:sp>
      <p:sp>
        <p:nvSpPr>
          <p:cNvPr id="46" name="chip-pass-117"/>
          <p:cNvSpPr/>
          <p:nvPr/>
        </p:nvSpPr>
        <p:spPr>
          <a:xfrm>
            <a:off x="4572000" y="5230368"/>
            <a:ext cx="1294790" cy="298704"/>
          </a:xfrm>
          <a:prstGeom prst="roundRect">
            <a:avLst>
              <a:gd name="adj" fmla="val 50000"/>
            </a:avLst>
          </a:prstGeom>
          <a:solidFill>
            <a:schemeClr val="accent2"/>
          </a:solidFill>
          <a:ln/>
        </p:spPr>
      </p:sp>
      <p:pic>
        <p:nvPicPr>
          <p:cNvPr id="47" name="chip-icon-118" descr="LIVE_PASS">    </p:cNvPr>
          <p:cNvPicPr>
            <a:picLocks noChangeAspect="1"/>
          </p:cNvPicPr>
          <p:nvPr/>
        </p:nvPicPr>
        <p:blipFill>
          <a:blip r:embed="rId4"/>
          <a:stretch>
            <a:fillRect/>
          </a:stretch>
        </p:blipFill>
        <p:spPr>
          <a:xfrm>
            <a:off x="4681728" y="5290109"/>
            <a:ext cx="179222" cy="179222"/>
          </a:xfrm>
          <a:prstGeom prst="rect">
            <a:avLst/>
          </a:prstGeom>
        </p:spPr>
      </p:pic>
      <p:sp>
        <p:nvSpPr>
          <p:cNvPr id="48" name="chip-text-119"/>
          <p:cNvSpPr txBox="1"/>
          <p:nvPr/>
        </p:nvSpPr>
        <p:spPr>
          <a:xfrm>
            <a:off x="4924958" y="5230368"/>
            <a:ext cx="932688" cy="298704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zh-TW" altLang="en-US" sz="1200" b="1" dirty="0">
                <a:solidFill>
                  <a:schemeClr val="bg1"/>
                </a:solidFill>
              </a:rPr>
              <a:t>LIVE_PASS</a:t>
            </a:r>
            <a:endParaRPr lang="zh-TW" sz="1200" dirty="0"/>
          </a:p>
        </p:txBody>
      </p:sp>
      <p:sp>
        <p:nvSpPr>
          <p:cNvPr id="49" name="card-120"/>
          <p:cNvSpPr/>
          <p:nvPr/>
        </p:nvSpPr>
        <p:spPr>
          <a:xfrm>
            <a:off x="8138160" y="3794760"/>
            <a:ext cx="3520440" cy="1874520"/>
          </a:xfrm>
          <a:prstGeom prst="roundRect">
            <a:avLst>
              <a:gd name="adj" fmla="val 3902"/>
            </a:avLst>
          </a:prstGeom>
          <a:solidFill>
            <a:schemeClr val="bg1"/>
          </a:solidFill>
          <a:ln w="25400">
            <a:solidFill>
              <a:schemeClr val="accent1"/>
            </a:solidFill>
            <a:prstDash val="solid"/>
          </a:ln>
          <a:effectLst>
            <a:outerShdw sx="100000" sy="100000" kx="0" ky="0" algn="bl" rotWithShape="0" blurRad="127000" dist="25400" dir="5400000">
              <a:srgbClr val="1A2233">
                <a:alpha val="10000"/>
              </a:srgbClr>
            </a:outerShdw>
          </a:effectLst>
        </p:spPr>
      </p:sp>
      <p:sp>
        <p:nvSpPr>
          <p:cNvPr id="50" name="icon-bg-121"/>
          <p:cNvSpPr/>
          <p:nvPr/>
        </p:nvSpPr>
        <p:spPr>
          <a:xfrm>
            <a:off x="8366760" y="4005072"/>
            <a:ext cx="512064" cy="512064"/>
          </a:xfrm>
          <a:prstGeom prst="ellipse">
            <a:avLst/>
          </a:prstGeom>
          <a:solidFill>
            <a:schemeClr val="accent3"/>
          </a:solidFill>
          <a:ln/>
        </p:spPr>
      </p:sp>
      <p:pic>
        <p:nvPicPr>
          <p:cNvPr id="51" name="icon-122" descr="FileText">    </p:cNvPr>
          <p:cNvPicPr>
            <a:picLocks noChangeAspect="1"/>
          </p:cNvPicPr>
          <p:nvPr/>
        </p:nvPicPr>
        <p:blipFill>
          <a:blip r:embed="rId5"/>
          <a:stretch>
            <a:fillRect/>
          </a:stretch>
        </p:blipFill>
        <p:spPr>
          <a:xfrm>
            <a:off x="8489655" y="4127967"/>
            <a:ext cx="266273" cy="266273"/>
          </a:xfrm>
          <a:prstGeom prst="rect">
            <a:avLst/>
          </a:prstGeom>
        </p:spPr>
      </p:pic>
      <p:sp>
        <p:nvSpPr>
          <p:cNvPr id="52" name="text-123"/>
          <p:cNvSpPr txBox="1"/>
          <p:nvPr/>
        </p:nvSpPr>
        <p:spPr>
          <a:xfrm>
            <a:off x="9006840" y="4087368"/>
            <a:ext cx="2560320" cy="36576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buNone/>
            </a:pPr>
            <a:r>
              <a:rPr lang="zh-TW" altLang="en-US" sz="1700" b="1" dirty="0">
                <a:solidFill>
                  <a:schemeClr val="tx1"/>
                </a:solidFill>
              </a:rPr>
              <a:t>C　PDF 預檢與估分</a:t>
            </a:r>
            <a:endParaRPr lang="zh-TW" sz="1700" dirty="0"/>
          </a:p>
        </p:txBody>
      </p:sp>
      <p:sp>
        <p:nvSpPr>
          <p:cNvPr id="53" name="text-124"/>
          <p:cNvSpPr txBox="1"/>
          <p:nvPr/>
        </p:nvSpPr>
        <p:spPr>
          <a:xfrm>
            <a:off x="8366760" y="4636008"/>
            <a:ext cx="3108960" cy="54864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buNone/>
            </a:pPr>
            <a:r>
              <a:rPr lang="zh-TW" altLang="en-US" sz="1300" dirty="0">
                <a:solidFill>
                  <a:schemeClr val="accent6"/>
                </a:solidFill>
              </a:rPr>
              <a:t>老師與學生 PDF 圖文比對，確認配分後才顯示估分區間</a:t>
            </a:r>
            <a:endParaRPr lang="zh-TW" sz="1300" dirty="0"/>
          </a:p>
        </p:txBody>
      </p:sp>
      <p:sp>
        <p:nvSpPr>
          <p:cNvPr id="54" name="chip-pending-125"/>
          <p:cNvSpPr/>
          <p:nvPr/>
        </p:nvSpPr>
        <p:spPr>
          <a:xfrm>
            <a:off x="8366760" y="5230368"/>
            <a:ext cx="1261262" cy="298704"/>
          </a:xfrm>
          <a:prstGeom prst="roundRect">
            <a:avLst>
              <a:gd name="adj" fmla="val 50000"/>
            </a:avLst>
          </a:prstGeom>
          <a:solidFill>
            <a:schemeClr val="accent3"/>
          </a:solidFill>
          <a:ln/>
        </p:spPr>
      </p:sp>
      <p:pic>
        <p:nvPicPr>
          <p:cNvPr id="55" name="chip-icon-126" descr="待真實驗證">    </p:cNvPr>
          <p:cNvPicPr>
            <a:picLocks noChangeAspect="1"/>
          </p:cNvPicPr>
          <p:nvPr/>
        </p:nvPicPr>
        <p:blipFill>
          <a:blip r:embed="rId6"/>
          <a:stretch>
            <a:fillRect/>
          </a:stretch>
        </p:blipFill>
        <p:spPr>
          <a:xfrm>
            <a:off x="8476488" y="5290109"/>
            <a:ext cx="179222" cy="179222"/>
          </a:xfrm>
          <a:prstGeom prst="rect">
            <a:avLst/>
          </a:prstGeom>
        </p:spPr>
      </p:pic>
      <p:sp>
        <p:nvSpPr>
          <p:cNvPr id="56" name="chip-text-127"/>
          <p:cNvSpPr txBox="1"/>
          <p:nvPr/>
        </p:nvSpPr>
        <p:spPr>
          <a:xfrm>
            <a:off x="8719718" y="5230368"/>
            <a:ext cx="899160" cy="298704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zh-TW" altLang="en-US" sz="1200" b="1" dirty="0">
                <a:solidFill>
                  <a:schemeClr val="bg1"/>
                </a:solidFill>
              </a:rPr>
              <a:t>待真實驗證</a:t>
            </a:r>
            <a:endParaRPr lang="zh-TW" sz="1200" dirty="0"/>
          </a:p>
        </p:txBody>
      </p:sp>
      <p:pic>
        <p:nvPicPr>
          <p:cNvPr id="57" name="icon-128" descr="Unlink">    </p:cNvPr>
          <p:cNvPicPr>
            <a:picLocks noChangeAspect="1"/>
          </p:cNvPicPr>
          <p:nvPr/>
        </p:nvPicPr>
        <p:blipFill>
          <a:blip r:embed="rId7"/>
          <a:stretch>
            <a:fillRect/>
          </a:stretch>
        </p:blipFill>
        <p:spPr>
          <a:xfrm>
            <a:off x="548640" y="5852160"/>
            <a:ext cx="292608" cy="292608"/>
          </a:xfrm>
          <a:prstGeom prst="rect">
            <a:avLst/>
          </a:prstGeom>
        </p:spPr>
      </p:pic>
      <p:sp>
        <p:nvSpPr>
          <p:cNvPr id="58" name="text-129"/>
          <p:cNvSpPr txBox="1"/>
          <p:nvPr/>
        </p:nvSpPr>
        <p:spPr>
          <a:xfrm>
            <a:off x="932688" y="5852160"/>
            <a:ext cx="10698480" cy="310896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zh-TW" altLang="en-US" sz="1500" b="1" dirty="0">
                <a:solidFill>
                  <a:schemeClr val="accent3"/>
                </a:solidFill>
              </a:rPr>
              <a:t>最大缺口：A、C 的判讀結果尚未接入 B 的草稿工具，B 目前讀的是預先撰寫的合成評閱快照。</a:t>
            </a:r>
            <a:endParaRPr lang="zh-TW" sz="1500" dirty="0"/>
          </a:p>
        </p:txBody>
      </p:sp>
      <p:sp>
        <p:nvSpPr>
          <p:cNvPr id="25" name="Slide Number Placeholder 0"/>
          <p:cNvSpPr>
            <a:spLocks noGrp="1"/>
          </p:cNvSpPr>
          <p:nvPr>
            <p:ph type="sldNum" sz="quarter" idx="4294967295"/>
          </p:nvPr>
        </p:nvSpPr>
        <p:spPr>
          <a:xfrm>
            <a:off x="11091672" y="6400800"/>
            <a:ext cx="548640" cy="256032"/>
          </a:xfrm>
          <a:prstGeom prst="rect">
            <a:avLst/>
          </a:prstGeom>
          <a:extLst>
            <a:ext uri="{C572A759-6A51-4108-AA02-DFA0A04FC94B}">
              <ma14:wrappingTextBoxFlag xmlns:ma14="http://schemas.microsoft.com/office/mac/drawingml/2011/main" val="0"/>
            </a:ext>
          </a:extLst>
        </p:spPr>
        <p:txBody>
          <a:bodyPr/>
          <a:lstStyle>
            <a:lvl1pPr>
              <a:defRPr sz="1000">
                <a:solidFill>
                  <a:schemeClr val="accent6"/>
                </a:solidFill>
              </a:defRPr>
            </a:lvl1pPr>
          </a:lstStyle>
          <a:p>
            <a:pPr algn="r"/>
            <a:fld id="{F7021451-1387-4CA6-816F-3879F97B5CBC}" type="slidenum">
              <a:rPr b="0" lang="en-US"/>
              <a:t>3</a:t>
            </a:fld>
            <a:endParaRPr lang="en-US"/>
          </a:p>
        </p:txBody>
      </p:sp>
    </p:spTree>
  </p:cSld>
  <p:clrMapOvr>
    <a:masterClrMapping/>
  </p:clrMapOvr>
</p:sld>
</file>

<file path=ppt/slides/slide4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4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ext 0"/>
          <p:cNvSpPr/>
          <p:nvPr>
            <p:ph idx="100" type="body" hasCustomPrompt="1"/>
          </p:nvPr>
        </p:nvSpPr>
        <p:spPr>
          <a:xfrm>
            <a:off x="548640" y="365760"/>
            <a:ext cx="8778240" cy="27432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algn="l" indent="0" marL="0">
              <a:buNone/>
            </a:pPr>
            <a:r>
              <a:rPr lang="zh-TW" altLang="en-US" sz="1300" b="1" dirty="0">
                <a:solidFill>
                  <a:schemeClr val="accent6"/>
                </a:solidFill>
              </a:rPr>
              <a:t>設計理由與責任邊界</a:t>
            </a:r>
            <a:endParaRPr lang="zh-TW" sz="1300" dirty="0"/>
          </a:p>
        </p:txBody>
      </p:sp>
      <p:sp>
        <p:nvSpPr>
          <p:cNvPr id="3" name="Text 0"/>
          <p:cNvSpPr/>
          <p:nvPr>
            <p:ph idx="101" type="title" hasCustomPrompt="1"/>
          </p:nvPr>
        </p:nvSpPr>
        <p:spPr>
          <a:xfrm>
            <a:off x="548640" y="658368"/>
            <a:ext cx="11064240" cy="68580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algn="l" indent="0" marL="0">
              <a:buNone/>
            </a:pPr>
            <a:r>
              <a:rPr lang="zh-TW" altLang="en-US" sz="3000" b="1" dirty="0">
                <a:solidFill>
                  <a:schemeClr val="tx1"/>
                </a:solidFill>
              </a:rPr>
              <a:t>LLM 判讀語意，程式負責把關</a:t>
            </a:r>
            <a:endParaRPr lang="zh-TW" sz="3000" dirty="0"/>
          </a:p>
        </p:txBody>
      </p:sp>
      <p:sp>
        <p:nvSpPr>
          <p:cNvPr id="5" name="card-130"/>
          <p:cNvSpPr/>
          <p:nvPr/>
        </p:nvSpPr>
        <p:spPr>
          <a:xfrm>
            <a:off x="548640" y="1600200"/>
            <a:ext cx="5394960" cy="3474720"/>
          </a:xfrm>
          <a:prstGeom prst="roundRect">
            <a:avLst>
              <a:gd name="adj" fmla="val 2105"/>
            </a:avLst>
          </a:prstGeom>
          <a:solidFill>
            <a:schemeClr val="bg1"/>
          </a:solidFill>
          <a:ln w="12700">
            <a:solidFill>
              <a:schemeClr val="bg2"/>
            </a:solidFill>
            <a:prstDash val="solid"/>
          </a:ln>
          <a:effectLst>
            <a:outerShdw sx="100000" sy="100000" kx="0" ky="0" algn="bl" rotWithShape="0" blurRad="127000" dist="25400" dir="5400000">
              <a:srgbClr val="1A2233">
                <a:alpha val="10000"/>
              </a:srgbClr>
            </a:outerShdw>
          </a:effectLst>
        </p:spPr>
      </p:sp>
      <p:sp>
        <p:nvSpPr>
          <p:cNvPr id="6" name="icon-bg-131"/>
          <p:cNvSpPr/>
          <p:nvPr/>
        </p:nvSpPr>
        <p:spPr>
          <a:xfrm>
            <a:off x="868680" y="1874520"/>
            <a:ext cx="640080" cy="640080"/>
          </a:xfrm>
          <a:prstGeom prst="ellipse">
            <a:avLst/>
          </a:prstGeom>
          <a:solidFill>
            <a:schemeClr val="accent4"/>
          </a:solidFill>
          <a:ln/>
        </p:spPr>
      </p:sp>
      <p:pic>
        <p:nvPicPr>
          <p:cNvPr id="7" name="icon-132" descr="Brain">    </p:cNvPr>
          <p:cNvPicPr>
            <a:picLocks noChangeAspect="1"/>
          </p:cNvPicPr>
          <p:nvPr/>
        </p:nvPicPr>
        <p:blipFill>
          <a:blip r:embed="rId1"/>
          <a:stretch>
            <a:fillRect/>
          </a:stretch>
        </p:blipFill>
        <p:spPr>
          <a:xfrm>
            <a:off x="1022299" y="2028139"/>
            <a:ext cx="332842" cy="332842"/>
          </a:xfrm>
          <a:prstGeom prst="rect">
            <a:avLst/>
          </a:prstGeom>
        </p:spPr>
      </p:pic>
      <p:sp>
        <p:nvSpPr>
          <p:cNvPr id="8" name="text-133"/>
          <p:cNvSpPr txBox="1"/>
          <p:nvPr/>
        </p:nvSpPr>
        <p:spPr>
          <a:xfrm>
            <a:off x="1691640" y="1883664"/>
            <a:ext cx="3657600" cy="384048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buNone/>
            </a:pPr>
            <a:r>
              <a:rPr lang="zh-TW" altLang="en-US" sz="2100" b="1" dirty="0">
                <a:solidFill>
                  <a:schemeClr val="accent4"/>
                </a:solidFill>
              </a:rPr>
              <a:t>交給模型</a:t>
            </a:r>
            <a:endParaRPr lang="zh-TW" sz="2100" dirty="0"/>
          </a:p>
        </p:txBody>
      </p:sp>
      <p:sp>
        <p:nvSpPr>
          <p:cNvPr id="9" name="text-134"/>
          <p:cNvSpPr txBox="1"/>
          <p:nvPr/>
        </p:nvSpPr>
        <p:spPr>
          <a:xfrm>
            <a:off x="1691640" y="2267712"/>
            <a:ext cx="3657600" cy="27432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buNone/>
            </a:pPr>
            <a:r>
              <a:rPr lang="zh-TW" altLang="en-US" sz="1300" dirty="0">
                <a:solidFill>
                  <a:schemeClr val="accent6"/>
                </a:solidFill>
              </a:rPr>
              <a:t>需要理解語意的判斷</a:t>
            </a:r>
            <a:endParaRPr lang="zh-TW" sz="1300" dirty="0"/>
          </a:p>
        </p:txBody>
      </p:sp>
      <p:sp>
        <p:nvSpPr>
          <p:cNvPr id="10" name="bullets-135"/>
          <p:cNvSpPr txBox="1"/>
          <p:nvPr/>
        </p:nvSpPr>
        <p:spPr>
          <a:xfrm>
            <a:off x="868680" y="2834640"/>
            <a:ext cx="4846320" cy="210312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marL="228600" indent="-228600">
              <a:spcAft>
                <a:spcPts val="1600"/>
              </a:spcAft>
              <a:buSzPct val="100000"/>
              <a:buChar char="•"/>
            </a:pPr>
            <a:r>
              <a:rPr lang="zh-TW" altLang="en-US" sz="1700" dirty="0">
                <a:solidFill>
                  <a:schemeClr val="tx1"/>
                </a:solidFill>
              </a:rPr>
              <a:t>理解換句話說：標題不同，內容是否仍符合</a:t>
            </a:r>
            <a:endParaRPr lang="zh-TW" sz="1700" dirty="0"/>
          </a:p>
          <a:p>
            <a:pPr marL="228600" indent="-228600">
              <a:spcAft>
                <a:spcPts val="1600"/>
              </a:spcAft>
              <a:buSzPct val="100000"/>
              <a:buChar char="•"/>
            </a:pPr>
            <a:r>
              <a:rPr lang="zh-TW" altLang="en-US" sz="1700" dirty="0">
                <a:solidFill>
                  <a:schemeClr val="tx1"/>
                </a:solidFill>
              </a:rPr>
              <a:t>判斷充分性：有寫，但是否寫完整</a:t>
            </a:r>
            <a:endParaRPr lang="zh-TW" sz="1700" dirty="0"/>
          </a:p>
          <a:p>
            <a:pPr marL="228600" indent="-228600">
              <a:spcAft>
                <a:spcPts val="1600"/>
              </a:spcAft>
              <a:buSzPct val="100000"/>
              <a:buChar char="•"/>
            </a:pPr>
            <a:r>
              <a:rPr lang="zh-TW" altLang="en-US" sz="1700" dirty="0">
                <a:solidFill>
                  <a:schemeClr val="tx1"/>
                </a:solidFill>
              </a:rPr>
              <a:t>讀 PDF 文字與圖片，選出證據行號</a:t>
            </a:r>
            <a:endParaRPr lang="zh-TW" sz="1700" dirty="0"/>
          </a:p>
          <a:p>
            <a:pPr marL="228600" indent="-228600">
              <a:spcAft>
                <a:spcPts val="1600"/>
              </a:spcAft>
              <a:buSzPct val="100000"/>
              <a:buChar char="•"/>
            </a:pPr>
            <a:r>
              <a:rPr lang="zh-TW" altLang="en-US" sz="1700" dirty="0">
                <a:solidFill>
                  <a:schemeClr val="tx1"/>
                </a:solidFill>
              </a:rPr>
              <a:t>提出工具呼叫與修改建議</a:t>
            </a:r>
            <a:endParaRPr lang="zh-TW" sz="1700" dirty="0"/>
          </a:p>
        </p:txBody>
      </p:sp>
      <p:sp>
        <p:nvSpPr>
          <p:cNvPr id="11" name="card-136"/>
          <p:cNvSpPr/>
          <p:nvPr/>
        </p:nvSpPr>
        <p:spPr>
          <a:xfrm>
            <a:off x="6245352" y="1600200"/>
            <a:ext cx="5394960" cy="3474720"/>
          </a:xfrm>
          <a:prstGeom prst="roundRect">
            <a:avLst>
              <a:gd name="adj" fmla="val 2105"/>
            </a:avLst>
          </a:prstGeom>
          <a:solidFill>
            <a:schemeClr val="bg1"/>
          </a:solidFill>
          <a:ln w="12700">
            <a:solidFill>
              <a:schemeClr val="bg2"/>
            </a:solidFill>
            <a:prstDash val="solid"/>
          </a:ln>
          <a:effectLst>
            <a:outerShdw sx="100000" sy="100000" kx="0" ky="0" algn="bl" rotWithShape="0" blurRad="127000" dist="25400" dir="5400000">
              <a:srgbClr val="1A2233">
                <a:alpha val="10000"/>
              </a:srgbClr>
            </a:outerShdw>
          </a:effectLst>
        </p:spPr>
      </p:sp>
      <p:sp>
        <p:nvSpPr>
          <p:cNvPr id="12" name="icon-bg-137"/>
          <p:cNvSpPr/>
          <p:nvPr/>
        </p:nvSpPr>
        <p:spPr>
          <a:xfrm>
            <a:off x="6565392" y="1874520"/>
            <a:ext cx="640080" cy="640080"/>
          </a:xfrm>
          <a:prstGeom prst="ellipse">
            <a:avLst/>
          </a:prstGeom>
          <a:solidFill>
            <a:schemeClr val="tx2"/>
          </a:solidFill>
          <a:ln/>
        </p:spPr>
      </p:sp>
      <p:pic>
        <p:nvPicPr>
          <p:cNvPr id="13" name="icon-138" descr="ShieldCheck">    </p:cNvPr>
          <p:cNvPicPr>
            <a:picLocks noChangeAspect="1"/>
          </p:cNvPicPr>
          <p:nvPr/>
        </p:nvPicPr>
        <p:blipFill>
          <a:blip r:embed="rId2"/>
          <a:stretch>
            <a:fillRect/>
          </a:stretch>
        </p:blipFill>
        <p:spPr>
          <a:xfrm>
            <a:off x="6719011" y="2028139"/>
            <a:ext cx="332842" cy="332842"/>
          </a:xfrm>
          <a:prstGeom prst="rect">
            <a:avLst/>
          </a:prstGeom>
        </p:spPr>
      </p:pic>
      <p:sp>
        <p:nvSpPr>
          <p:cNvPr id="14" name="text-139"/>
          <p:cNvSpPr txBox="1"/>
          <p:nvPr/>
        </p:nvSpPr>
        <p:spPr>
          <a:xfrm>
            <a:off x="7388352" y="1883664"/>
            <a:ext cx="3657600" cy="384048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buNone/>
            </a:pPr>
            <a:r>
              <a:rPr lang="zh-TW" altLang="en-US" sz="2100" b="1" dirty="0">
                <a:solidFill>
                  <a:schemeClr val="tx2"/>
                </a:solidFill>
              </a:rPr>
              <a:t>交給程式</a:t>
            </a:r>
            <a:endParaRPr lang="zh-TW" sz="2100" dirty="0"/>
          </a:p>
        </p:txBody>
      </p:sp>
      <p:sp>
        <p:nvSpPr>
          <p:cNvPr id="15" name="text-140"/>
          <p:cNvSpPr txBox="1"/>
          <p:nvPr/>
        </p:nvSpPr>
        <p:spPr>
          <a:xfrm>
            <a:off x="7388352" y="2267712"/>
            <a:ext cx="3657600" cy="27432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buNone/>
            </a:pPr>
            <a:r>
              <a:rPr lang="zh-TW" altLang="en-US" sz="1300" dirty="0">
                <a:solidFill>
                  <a:schemeClr val="accent6"/>
                </a:solidFill>
              </a:rPr>
              <a:t>可以明確驗證的規則</a:t>
            </a:r>
            <a:endParaRPr lang="zh-TW" sz="1300" dirty="0"/>
          </a:p>
        </p:txBody>
      </p:sp>
      <p:sp>
        <p:nvSpPr>
          <p:cNvPr id="16" name="bullets-141"/>
          <p:cNvSpPr txBox="1"/>
          <p:nvPr/>
        </p:nvSpPr>
        <p:spPr>
          <a:xfrm>
            <a:off x="6565392" y="2834640"/>
            <a:ext cx="4846320" cy="210312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marL="228600" indent="-228600">
              <a:spcAft>
                <a:spcPts val="1600"/>
              </a:spcAft>
              <a:buSzPct val="100000"/>
              <a:buChar char="•"/>
            </a:pPr>
            <a:r>
              <a:rPr lang="zh-TW" altLang="en-US" sz="1700" dirty="0">
                <a:solidFill>
                  <a:schemeClr val="tx1"/>
                </a:solidFill>
              </a:rPr>
              <a:t>欄位、版本、要求覆蓋與大小限制</a:t>
            </a:r>
            <a:endParaRPr lang="zh-TW" sz="1700" dirty="0"/>
          </a:p>
          <a:p>
            <a:pPr marL="228600" indent="-228600">
              <a:spcAft>
                <a:spcPts val="1600"/>
              </a:spcAft>
              <a:buSzPct val="100000"/>
              <a:buChar char="•"/>
            </a:pPr>
            <a:r>
              <a:rPr lang="zh-TW" altLang="en-US" sz="1700" dirty="0">
                <a:solidFill>
                  <a:schemeClr val="tx1"/>
                </a:solidFill>
              </a:rPr>
              <a:t>原文引用、頁碼與來源 hash 核對</a:t>
            </a:r>
            <a:endParaRPr lang="zh-TW" sz="1700" dirty="0"/>
          </a:p>
          <a:p>
            <a:pPr marL="228600" indent="-228600">
              <a:spcAft>
                <a:spcPts val="1600"/>
              </a:spcAft>
              <a:buSzPct val="100000"/>
              <a:buChar char="•"/>
            </a:pPr>
            <a:r>
              <a:rPr lang="zh-TW" altLang="en-US" sz="1700" dirty="0">
                <a:solidFill>
                  <a:schemeClr val="tx1"/>
                </a:solidFill>
              </a:rPr>
              <a:t>權限、人工確認與 Session 隔離</a:t>
            </a:r>
            <a:endParaRPr lang="zh-TW" sz="1700" dirty="0"/>
          </a:p>
          <a:p>
            <a:pPr marL="228600" indent="-228600">
              <a:spcAft>
                <a:spcPts val="1600"/>
              </a:spcAft>
              <a:buSzPct val="100000"/>
              <a:buChar char="•"/>
            </a:pPr>
            <a:r>
              <a:rPr lang="zh-TW" altLang="en-US" sz="1700" dirty="0">
                <a:solidFill>
                  <a:schemeClr val="tx1"/>
                </a:solidFill>
              </a:rPr>
              <a:t>SQLite 交易、同 ID 冪等、配分加總</a:t>
            </a:r>
            <a:endParaRPr lang="zh-TW" sz="1700" dirty="0"/>
          </a:p>
        </p:txBody>
      </p:sp>
      <p:sp>
        <p:nvSpPr>
          <p:cNvPr id="17" name="card-142"/>
          <p:cNvSpPr/>
          <p:nvPr/>
        </p:nvSpPr>
        <p:spPr>
          <a:xfrm>
            <a:off x="548640" y="5349240"/>
            <a:ext cx="11091672" cy="822960"/>
          </a:xfrm>
          <a:prstGeom prst="roundRect">
            <a:avLst>
              <a:gd name="adj" fmla="val 8889"/>
            </a:avLst>
          </a:prstGeom>
          <a:solidFill>
            <a:schemeClr val="bg2"/>
          </a:solidFill>
          <a:ln/>
        </p:spPr>
      </p:sp>
      <p:pic>
        <p:nvPicPr>
          <p:cNvPr id="18" name="icon-143" descr="Quote">    </p:cNvPr>
          <p:cNvPicPr>
            <a:picLocks noChangeAspect="1"/>
          </p:cNvPicPr>
          <p:nvPr/>
        </p:nvPicPr>
        <p:blipFill>
          <a:blip r:embed="rId3"/>
          <a:stretch>
            <a:fillRect/>
          </a:stretch>
        </p:blipFill>
        <p:spPr>
          <a:xfrm>
            <a:off x="822960" y="5559552"/>
            <a:ext cx="402336" cy="402336"/>
          </a:xfrm>
          <a:prstGeom prst="rect">
            <a:avLst/>
          </a:prstGeom>
        </p:spPr>
      </p:pic>
      <p:sp>
        <p:nvSpPr>
          <p:cNvPr id="19" name="text-144"/>
          <p:cNvSpPr txBox="1"/>
          <p:nvPr/>
        </p:nvSpPr>
        <p:spPr>
          <a:xfrm>
            <a:off x="1417320" y="5349240"/>
            <a:ext cx="9966960" cy="82296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zh-TW" altLang="en-US" sz="1700" b="1" dirty="0">
                <a:solidFill>
                  <a:schemeClr val="tx2"/>
                </a:solidFill>
              </a:rPr>
              <a:t>單次比對不需要 Agent；「查詢後提案、確認後執行、再回填結果」才需要受控的工具流程。</a:t>
            </a:r>
            <a:endParaRPr lang="zh-TW" sz="1700" dirty="0"/>
          </a:p>
        </p:txBody>
      </p:sp>
      <p:sp>
        <p:nvSpPr>
          <p:cNvPr id="25" name="Slide Number Placeholder 0"/>
          <p:cNvSpPr>
            <a:spLocks noGrp="1"/>
          </p:cNvSpPr>
          <p:nvPr>
            <p:ph type="sldNum" sz="quarter" idx="4294967295"/>
          </p:nvPr>
        </p:nvSpPr>
        <p:spPr>
          <a:xfrm>
            <a:off x="11091672" y="6400800"/>
            <a:ext cx="548640" cy="256032"/>
          </a:xfrm>
          <a:prstGeom prst="rect">
            <a:avLst/>
          </a:prstGeom>
          <a:extLst>
            <a:ext uri="{C572A759-6A51-4108-AA02-DFA0A04FC94B}">
              <ma14:wrappingTextBoxFlag xmlns:ma14="http://schemas.microsoft.com/office/mac/drawingml/2011/main" val="0"/>
            </a:ext>
          </a:extLst>
        </p:spPr>
        <p:txBody>
          <a:bodyPr/>
          <a:lstStyle>
            <a:lvl1pPr>
              <a:defRPr sz="1000">
                <a:solidFill>
                  <a:schemeClr val="accent6"/>
                </a:solidFill>
              </a:defRPr>
            </a:lvl1pPr>
          </a:lstStyle>
          <a:p>
            <a:pPr algn="r"/>
            <a:fld id="{F7021451-1387-4CA6-816F-3879F97B5CBC}" type="slidenum">
              <a:rPr b="0" lang="en-US"/>
              <a:t>4</a:t>
            </a:fld>
            <a:endParaRPr lang="en-US"/>
          </a:p>
        </p:txBody>
      </p:sp>
    </p:spTree>
  </p:cSld>
  <p:clrMapOvr>
    <a:masterClrMapping/>
  </p:clrMapOvr>
</p:sld>
</file>

<file path=ppt/slides/slide5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5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ext 0"/>
          <p:cNvSpPr/>
          <p:nvPr>
            <p:ph idx="100" type="body" hasCustomPrompt="1"/>
          </p:nvPr>
        </p:nvSpPr>
        <p:spPr>
          <a:xfrm>
            <a:off x="548640" y="365760"/>
            <a:ext cx="8778240" cy="27432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algn="l" indent="0" marL="0">
              <a:buNone/>
            </a:pPr>
            <a:r>
              <a:rPr lang="zh-TW" altLang="en-US" sz="1300" b="1" dirty="0">
                <a:solidFill>
                  <a:schemeClr val="accent6"/>
                </a:solidFill>
              </a:rPr>
              <a:t>系統架構</a:t>
            </a:r>
            <a:endParaRPr lang="zh-TW" sz="1300" dirty="0"/>
          </a:p>
        </p:txBody>
      </p:sp>
      <p:sp>
        <p:nvSpPr>
          <p:cNvPr id="3" name="Text 0"/>
          <p:cNvSpPr/>
          <p:nvPr>
            <p:ph idx="101" type="title" hasCustomPrompt="1"/>
          </p:nvPr>
        </p:nvSpPr>
        <p:spPr>
          <a:xfrm>
            <a:off x="548640" y="658368"/>
            <a:ext cx="11064240" cy="68580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algn="l" indent="0" marL="0">
              <a:buNone/>
            </a:pPr>
            <a:r>
              <a:rPr lang="zh-TW" altLang="en-US" sz="3000" b="1" dirty="0">
                <a:solidFill>
                  <a:schemeClr val="tx1"/>
                </a:solidFill>
              </a:rPr>
              <a:t>模型只提出動作，Host 決定能不能執行</a:t>
            </a:r>
            <a:endParaRPr lang="zh-TW" sz="3000" dirty="0"/>
          </a:p>
        </p:txBody>
      </p:sp>
      <p:sp>
        <p:nvSpPr>
          <p:cNvPr id="5" name="card-145"/>
          <p:cNvSpPr/>
          <p:nvPr/>
        </p:nvSpPr>
        <p:spPr>
          <a:xfrm>
            <a:off x="548640" y="1783080"/>
            <a:ext cx="2514600" cy="1463040"/>
          </a:xfrm>
          <a:prstGeom prst="roundRect">
            <a:avLst>
              <a:gd name="adj" fmla="val 5000"/>
            </a:avLst>
          </a:prstGeom>
          <a:solidFill>
            <a:schemeClr val="bg1"/>
          </a:solidFill>
          <a:ln w="12700">
            <a:solidFill>
              <a:schemeClr val="bg2"/>
            </a:solidFill>
            <a:prstDash val="solid"/>
          </a:ln>
          <a:effectLst>
            <a:outerShdw sx="100000" sy="100000" kx="0" ky="0" algn="bl" rotWithShape="0" blurRad="127000" dist="25400" dir="5400000">
              <a:srgbClr val="1A2233">
                <a:alpha val="10000"/>
              </a:srgbClr>
            </a:outerShdw>
          </a:effectLst>
        </p:spPr>
      </p:sp>
      <p:sp>
        <p:nvSpPr>
          <p:cNvPr id="6" name="icon-bg-146"/>
          <p:cNvSpPr/>
          <p:nvPr/>
        </p:nvSpPr>
        <p:spPr>
          <a:xfrm>
            <a:off x="777240" y="1965960"/>
            <a:ext cx="457200" cy="457200"/>
          </a:xfrm>
          <a:prstGeom prst="ellipse">
            <a:avLst/>
          </a:prstGeom>
          <a:solidFill>
            <a:schemeClr val="accent6"/>
          </a:solidFill>
          <a:ln/>
        </p:spPr>
      </p:sp>
      <p:pic>
        <p:nvPicPr>
          <p:cNvPr id="7" name="icon-147" descr="Monitor">    </p:cNvPr>
          <p:cNvPicPr>
            <a:picLocks noChangeAspect="1"/>
          </p:cNvPicPr>
          <p:nvPr/>
        </p:nvPicPr>
        <p:blipFill>
          <a:blip r:embed="rId1"/>
          <a:stretch>
            <a:fillRect/>
          </a:stretch>
        </p:blipFill>
        <p:spPr>
          <a:xfrm>
            <a:off x="886968" y="2075688"/>
            <a:ext cx="237744" cy="237744"/>
          </a:xfrm>
          <a:prstGeom prst="rect">
            <a:avLst/>
          </a:prstGeom>
        </p:spPr>
      </p:pic>
      <p:sp>
        <p:nvSpPr>
          <p:cNvPr id="8" name="text-148"/>
          <p:cNvSpPr txBox="1"/>
          <p:nvPr/>
        </p:nvSpPr>
        <p:spPr>
          <a:xfrm>
            <a:off x="777240" y="2514600"/>
            <a:ext cx="2194560" cy="310896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buNone/>
            </a:pPr>
            <a:r>
              <a:rPr lang="zh-TW" altLang="en-US" sz="1600" b="1" dirty="0">
                <a:solidFill>
                  <a:schemeClr val="tx1"/>
                </a:solidFill>
              </a:rPr>
              <a:t>瀏覽器 /week7</a:t>
            </a:r>
            <a:endParaRPr lang="zh-TW" sz="1600" dirty="0"/>
          </a:p>
        </p:txBody>
      </p:sp>
      <p:sp>
        <p:nvSpPr>
          <p:cNvPr id="9" name="text-149"/>
          <p:cNvSpPr txBox="1"/>
          <p:nvPr/>
        </p:nvSpPr>
        <p:spPr>
          <a:xfrm>
            <a:off x="777240" y="2807208"/>
            <a:ext cx="2194560" cy="384048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buNone/>
            </a:pPr>
            <a:r>
              <a:rPr lang="zh-TW" altLang="en-US" sz="1100" dirty="0">
                <a:solidFill>
                  <a:schemeClr val="accent6"/>
                </a:solidFill>
              </a:rPr>
              <a:t>PDF 預檢 · 補件工具</a:t>
            </a:r>
            <a:endParaRPr lang="zh-TW" sz="1100" dirty="0"/>
          </a:p>
          <a:p>
            <a:pPr indent="0" marL="0">
              <a:buNone/>
            </a:pPr>
            <a:r>
              <a:rPr lang="zh-TW" altLang="en-US" sz="1100" dirty="0">
                <a:solidFill>
                  <a:schemeClr val="accent6"/>
                </a:solidFill>
              </a:rPr>
              <a:t>文字語意比對</a:t>
            </a:r>
            <a:endParaRPr lang="zh-TW" sz="1100" dirty="0"/>
          </a:p>
        </p:txBody>
      </p:sp>
      <p:sp>
        <p:nvSpPr>
          <p:cNvPr id="10" name="host-box"/>
          <p:cNvSpPr/>
          <p:nvPr/>
        </p:nvSpPr>
        <p:spPr>
          <a:xfrm>
            <a:off x="3931920" y="1645920"/>
            <a:ext cx="4206240" cy="1783080"/>
          </a:xfrm>
          <a:prstGeom prst="roundRect">
            <a:avLst>
              <a:gd name="adj" fmla="val 5128"/>
            </a:avLst>
          </a:prstGeom>
          <a:solidFill>
            <a:schemeClr val="tx2"/>
          </a:solidFill>
          <a:ln/>
          <a:effectLst>
            <a:outerShdw sx="100000" sy="100000" kx="0" ky="0" algn="bl" rotWithShape="0" blurRad="127000" dist="25400" dir="5400000">
              <a:srgbClr val="1A2233">
                <a:alpha val="15000"/>
              </a:srgbClr>
            </a:outerShdw>
          </a:effectLst>
        </p:spPr>
      </p:sp>
      <p:pic>
        <p:nvPicPr>
          <p:cNvPr id="11" name="icon-150" descr="ShieldCheck">    </p:cNvPr>
          <p:cNvPicPr>
            <a:picLocks noChangeAspect="1"/>
          </p:cNvPicPr>
          <p:nvPr/>
        </p:nvPicPr>
        <p:blipFill>
          <a:blip r:embed="rId2"/>
          <a:stretch>
            <a:fillRect/>
          </a:stretch>
        </p:blipFill>
        <p:spPr>
          <a:xfrm>
            <a:off x="4206240" y="1874520"/>
            <a:ext cx="384048" cy="384048"/>
          </a:xfrm>
          <a:prstGeom prst="rect">
            <a:avLst/>
          </a:prstGeom>
        </p:spPr>
      </p:pic>
      <p:sp>
        <p:nvSpPr>
          <p:cNvPr id="12" name="text-151"/>
          <p:cNvSpPr txBox="1"/>
          <p:nvPr/>
        </p:nvSpPr>
        <p:spPr>
          <a:xfrm>
            <a:off x="4709160" y="1874520"/>
            <a:ext cx="3291840" cy="38404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zh-TW" altLang="en-US" sz="1900" b="1" dirty="0">
                <a:solidFill>
                  <a:schemeClr val="bg1"/>
                </a:solidFill>
              </a:rPr>
              <a:t>FastAPI ＋ Host 守門</a:t>
            </a:r>
            <a:endParaRPr lang="zh-TW" sz="1900" dirty="0"/>
          </a:p>
        </p:txBody>
      </p:sp>
      <p:sp>
        <p:nvSpPr>
          <p:cNvPr id="13" name="host-items"/>
          <p:cNvSpPr txBox="1"/>
          <p:nvPr/>
        </p:nvSpPr>
        <p:spPr>
          <a:xfrm>
            <a:off x="4206240" y="2395728"/>
            <a:ext cx="3749040" cy="91440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spcAft>
                <a:spcPts val="400"/>
              </a:spcAft>
              <a:buNone/>
            </a:pPr>
            <a:r>
              <a:rPr lang="zh-TW" altLang="en-US" sz="1400" dirty="0">
                <a:solidFill>
                  <a:schemeClr val="bg2"/>
                </a:solidFill>
              </a:rPr>
              <a:t>Cookie／Session 身分驗證</a:t>
            </a:r>
            <a:endParaRPr lang="zh-TW" sz="1400" dirty="0"/>
          </a:p>
          <a:p>
            <a:pPr indent="0" marL="0">
              <a:spcAft>
                <a:spcPts val="400"/>
              </a:spcAft>
              <a:buNone/>
            </a:pPr>
            <a:r>
              <a:rPr lang="zh-TW" altLang="en-US" sz="1400" dirty="0">
                <a:solidFill>
                  <a:schemeClr val="bg2"/>
                </a:solidFill>
              </a:rPr>
              <a:t>工具參數與允許序列驗證</a:t>
            </a:r>
            <a:endParaRPr lang="zh-TW" sz="1400" dirty="0"/>
          </a:p>
          <a:p>
            <a:pPr indent="0" marL="0">
              <a:spcAft>
                <a:spcPts val="400"/>
              </a:spcAft>
              <a:buNone/>
            </a:pPr>
            <a:r>
              <a:rPr lang="zh-TW" altLang="en-US" sz="1400" dirty="0">
                <a:solidFill>
                  <a:schemeClr val="bg2"/>
                </a:solidFill>
              </a:rPr>
              <a:t>引用、頁碼、配分與摘要核對</a:t>
            </a:r>
            <a:endParaRPr lang="zh-TW" sz="1400" dirty="0"/>
          </a:p>
        </p:txBody>
      </p:sp>
      <p:sp>
        <p:nvSpPr>
          <p:cNvPr id="14" name="card-152"/>
          <p:cNvSpPr/>
          <p:nvPr/>
        </p:nvSpPr>
        <p:spPr>
          <a:xfrm>
            <a:off x="9006840" y="1783080"/>
            <a:ext cx="2633472" cy="1463040"/>
          </a:xfrm>
          <a:prstGeom prst="roundRect">
            <a:avLst>
              <a:gd name="adj" fmla="val 5000"/>
            </a:avLst>
          </a:prstGeom>
          <a:solidFill>
            <a:schemeClr val="bg1"/>
          </a:solidFill>
          <a:ln w="12700">
            <a:solidFill>
              <a:schemeClr val="bg2"/>
            </a:solidFill>
            <a:prstDash val="solid"/>
          </a:ln>
          <a:effectLst>
            <a:outerShdw sx="100000" sy="100000" kx="0" ky="0" algn="bl" rotWithShape="0" blurRad="127000" dist="25400" dir="5400000">
              <a:srgbClr val="1A2233">
                <a:alpha val="10000"/>
              </a:srgbClr>
            </a:outerShdw>
          </a:effectLst>
        </p:spPr>
      </p:sp>
      <p:sp>
        <p:nvSpPr>
          <p:cNvPr id="15" name="icon-bg-153"/>
          <p:cNvSpPr/>
          <p:nvPr/>
        </p:nvSpPr>
        <p:spPr>
          <a:xfrm>
            <a:off x="9235440" y="1965960"/>
            <a:ext cx="457200" cy="457200"/>
          </a:xfrm>
          <a:prstGeom prst="ellipse">
            <a:avLst/>
          </a:prstGeom>
          <a:solidFill>
            <a:schemeClr val="accent4"/>
          </a:solidFill>
          <a:ln/>
        </p:spPr>
      </p:sp>
      <p:pic>
        <p:nvPicPr>
          <p:cNvPr id="16" name="icon-154" descr="Bot">    </p:cNvPr>
          <p:cNvPicPr>
            <a:picLocks noChangeAspect="1"/>
          </p:cNvPicPr>
          <p:nvPr/>
        </p:nvPicPr>
        <p:blipFill>
          <a:blip r:embed="rId3"/>
          <a:stretch>
            <a:fillRect/>
          </a:stretch>
        </p:blipFill>
        <p:spPr>
          <a:xfrm>
            <a:off x="9345168" y="2075688"/>
            <a:ext cx="237744" cy="237744"/>
          </a:xfrm>
          <a:prstGeom prst="rect">
            <a:avLst/>
          </a:prstGeom>
        </p:spPr>
      </p:pic>
      <p:sp>
        <p:nvSpPr>
          <p:cNvPr id="17" name="text-155"/>
          <p:cNvSpPr txBox="1"/>
          <p:nvPr/>
        </p:nvSpPr>
        <p:spPr>
          <a:xfrm>
            <a:off x="9235440" y="2514600"/>
            <a:ext cx="2286000" cy="310896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buNone/>
            </a:pPr>
            <a:r>
              <a:rPr lang="zh-TW" altLang="en-US" sz="1600" b="1" dirty="0">
                <a:solidFill>
                  <a:schemeClr val="tx1"/>
                </a:solidFill>
              </a:rPr>
              <a:t>OpenAI GPT</a:t>
            </a:r>
            <a:endParaRPr lang="zh-TW" sz="1600" dirty="0"/>
          </a:p>
        </p:txBody>
      </p:sp>
      <p:sp>
        <p:nvSpPr>
          <p:cNvPr id="18" name="text-156"/>
          <p:cNvSpPr txBox="1"/>
          <p:nvPr/>
        </p:nvSpPr>
        <p:spPr>
          <a:xfrm>
            <a:off x="9235440" y="2807208"/>
            <a:ext cx="2377440" cy="41148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buNone/>
            </a:pPr>
            <a:r>
              <a:rPr lang="zh-TW" altLang="en-US" sz="1100" dirty="0">
                <a:solidFill>
                  <a:schemeClr val="accent6"/>
                </a:solidFill>
              </a:rPr>
              <a:t>工具／文字：gpt-4.1-mini</a:t>
            </a:r>
            <a:endParaRPr lang="zh-TW" sz="1100" dirty="0"/>
          </a:p>
          <a:p>
            <a:pPr indent="0" marL="0">
              <a:buNone/>
            </a:pPr>
            <a:r>
              <a:rPr lang="zh-TW" altLang="en-US" sz="1100" dirty="0">
                <a:solidFill>
                  <a:schemeClr val="accent6"/>
                </a:solidFill>
              </a:rPr>
              <a:t>PDF 圖文：gpt-5.4</a:t>
            </a:r>
            <a:endParaRPr lang="zh-TW" sz="1100" dirty="0"/>
          </a:p>
        </p:txBody>
      </p:sp>
      <p:sp>
        <p:nvSpPr>
          <p:cNvPr id="19" name="arrow-157"/>
          <p:cNvSpPr/>
          <p:nvPr/>
        </p:nvSpPr>
        <p:spPr>
          <a:xfrm>
            <a:off x="3108960" y="2514600"/>
            <a:ext cx="777240" cy="0"/>
          </a:xfrm>
          <a:prstGeom prst="line">
            <a:avLst/>
          </a:prstGeom>
          <a:noFill/>
          <a:ln w="22225">
            <a:solidFill>
              <a:schemeClr val="accent6"/>
            </a:solidFill>
            <a:prstDash val="solid"/>
            <a:headEnd type="triangle"/>
            <a:tailEnd type="triangle"/>
          </a:ln>
        </p:spPr>
      </p:sp>
      <p:sp>
        <p:nvSpPr>
          <p:cNvPr id="20" name="arrow-158"/>
          <p:cNvSpPr/>
          <p:nvPr/>
        </p:nvSpPr>
        <p:spPr>
          <a:xfrm>
            <a:off x="8183880" y="2240280"/>
            <a:ext cx="777240" cy="0"/>
          </a:xfrm>
          <a:prstGeom prst="line">
            <a:avLst/>
          </a:prstGeom>
          <a:noFill/>
          <a:ln w="22225">
            <a:solidFill>
              <a:schemeClr val="accent4"/>
            </a:solidFill>
            <a:prstDash val="solid"/>
            <a:tailEnd type="triangle"/>
          </a:ln>
        </p:spPr>
      </p:sp>
      <p:sp>
        <p:nvSpPr>
          <p:cNvPr id="21" name="arrow-159"/>
          <p:cNvSpPr/>
          <p:nvPr/>
        </p:nvSpPr>
        <p:spPr>
          <a:xfrm flipH="1">
            <a:off x="8183880" y="2834640"/>
            <a:ext cx="777240" cy="0"/>
          </a:xfrm>
          <a:prstGeom prst="line">
            <a:avLst/>
          </a:prstGeom>
          <a:noFill/>
          <a:ln w="22225">
            <a:solidFill>
              <a:schemeClr val="accent4"/>
            </a:solidFill>
            <a:prstDash val="solid"/>
            <a:tailEnd type="triangle"/>
          </a:ln>
        </p:spPr>
      </p:sp>
      <p:sp>
        <p:nvSpPr>
          <p:cNvPr id="22" name="text-160"/>
          <p:cNvSpPr txBox="1"/>
          <p:nvPr/>
        </p:nvSpPr>
        <p:spPr>
          <a:xfrm>
            <a:off x="8183880" y="1920240"/>
            <a:ext cx="777240" cy="256032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algn="ctr" indent="0" marL="0">
              <a:buNone/>
            </a:pPr>
            <a:r>
              <a:rPr lang="zh-TW" altLang="en-US" sz="1100" dirty="0">
                <a:solidFill>
                  <a:schemeClr val="accent4"/>
                </a:solidFill>
              </a:rPr>
              <a:t>context</a:t>
            </a:r>
            <a:endParaRPr lang="zh-TW" sz="1100" dirty="0"/>
          </a:p>
        </p:txBody>
      </p:sp>
      <p:sp>
        <p:nvSpPr>
          <p:cNvPr id="23" name="text-161"/>
          <p:cNvSpPr txBox="1"/>
          <p:nvPr/>
        </p:nvSpPr>
        <p:spPr>
          <a:xfrm>
            <a:off x="8183880" y="2907792"/>
            <a:ext cx="777240" cy="256032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algn="ctr" indent="0" marL="0">
              <a:buNone/>
            </a:pPr>
            <a:r>
              <a:rPr lang="zh-TW" altLang="en-US" sz="1100" dirty="0">
                <a:solidFill>
                  <a:schemeClr val="accent4"/>
                </a:solidFill>
              </a:rPr>
              <a:t>提出 call</a:t>
            </a:r>
            <a:endParaRPr lang="zh-TW" sz="1100" dirty="0"/>
          </a:p>
        </p:txBody>
      </p:sp>
      <p:sp>
        <p:nvSpPr>
          <p:cNvPr id="24" name="bus-stem"/>
          <p:cNvSpPr/>
          <p:nvPr/>
        </p:nvSpPr>
        <p:spPr>
          <a:xfrm>
            <a:off x="6035040" y="3429000"/>
            <a:ext cx="0" cy="365760"/>
          </a:xfrm>
          <a:prstGeom prst="line">
            <a:avLst/>
          </a:prstGeom>
          <a:noFill/>
          <a:ln w="22225">
            <a:solidFill>
              <a:schemeClr val="accent6"/>
            </a:solidFill>
            <a:prstDash val="solid"/>
          </a:ln>
        </p:spPr>
      </p:sp>
      <p:sp>
        <p:nvSpPr>
          <p:cNvPr id="25" name="bus"/>
          <p:cNvSpPr/>
          <p:nvPr/>
        </p:nvSpPr>
        <p:spPr>
          <a:xfrm>
            <a:off x="1851660" y="3794760"/>
            <a:ext cx="8485632" cy="0"/>
          </a:xfrm>
          <a:prstGeom prst="line">
            <a:avLst/>
          </a:prstGeom>
          <a:noFill/>
          <a:ln w="22225">
            <a:solidFill>
              <a:schemeClr val="accent6"/>
            </a:solidFill>
            <a:prstDash val="solid"/>
          </a:ln>
        </p:spPr>
      </p:sp>
      <p:sp>
        <p:nvSpPr>
          <p:cNvPr id="26" name="arrow-162"/>
          <p:cNvSpPr/>
          <p:nvPr/>
        </p:nvSpPr>
        <p:spPr>
          <a:xfrm>
            <a:off x="1851660" y="3794760"/>
            <a:ext cx="0" cy="320040"/>
          </a:xfrm>
          <a:prstGeom prst="line">
            <a:avLst/>
          </a:prstGeom>
          <a:noFill/>
          <a:ln w="22225">
            <a:solidFill>
              <a:schemeClr val="accent6"/>
            </a:solidFill>
            <a:prstDash val="solid"/>
            <a:tailEnd type="triangle"/>
          </a:ln>
        </p:spPr>
      </p:sp>
      <p:sp>
        <p:nvSpPr>
          <p:cNvPr id="27" name="card-163"/>
          <p:cNvSpPr/>
          <p:nvPr/>
        </p:nvSpPr>
        <p:spPr>
          <a:xfrm>
            <a:off x="548640" y="4160520"/>
            <a:ext cx="2606040" cy="1234440"/>
          </a:xfrm>
          <a:prstGeom prst="roundRect">
            <a:avLst>
              <a:gd name="adj" fmla="val 5926"/>
            </a:avLst>
          </a:prstGeom>
          <a:solidFill>
            <a:schemeClr val="bg2"/>
          </a:solidFill>
          <a:ln/>
        </p:spPr>
      </p:sp>
      <p:pic>
        <p:nvPicPr>
          <p:cNvPr id="28" name="icon-164" descr="FileSearch">    </p:cNvPr>
          <p:cNvPicPr>
            <a:picLocks noChangeAspect="1"/>
          </p:cNvPicPr>
          <p:nvPr/>
        </p:nvPicPr>
        <p:blipFill>
          <a:blip r:embed="rId4"/>
          <a:stretch>
            <a:fillRect/>
          </a:stretch>
        </p:blipFill>
        <p:spPr>
          <a:xfrm>
            <a:off x="777240" y="4343400"/>
            <a:ext cx="329184" cy="329184"/>
          </a:xfrm>
          <a:prstGeom prst="rect">
            <a:avLst/>
          </a:prstGeom>
        </p:spPr>
      </p:pic>
      <p:sp>
        <p:nvSpPr>
          <p:cNvPr id="29" name="text-165"/>
          <p:cNvSpPr txBox="1"/>
          <p:nvPr/>
        </p:nvSpPr>
        <p:spPr>
          <a:xfrm>
            <a:off x="1234440" y="4343400"/>
            <a:ext cx="1828800" cy="329184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zh-TW" altLang="en-US" sz="1500" b="1" dirty="0">
                <a:solidFill>
                  <a:schemeClr val="tx1"/>
                </a:solidFill>
              </a:rPr>
              <a:t>來源與 RAG gate</a:t>
            </a:r>
            <a:endParaRPr lang="zh-TW" sz="1500" dirty="0"/>
          </a:p>
        </p:txBody>
      </p:sp>
      <p:sp>
        <p:nvSpPr>
          <p:cNvPr id="30" name="text-166"/>
          <p:cNvSpPr txBox="1"/>
          <p:nvPr/>
        </p:nvSpPr>
        <p:spPr>
          <a:xfrm>
            <a:off x="777240" y="4800600"/>
            <a:ext cx="2240280" cy="45720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buNone/>
            </a:pPr>
            <a:r>
              <a:rPr lang="zh-TW" altLang="en-US" sz="1200" dirty="0">
                <a:solidFill>
                  <a:schemeClr val="accent6"/>
                </a:solidFill>
              </a:rPr>
              <a:t>T1–T3／S1–S3 版本與 hash</a:t>
            </a:r>
            <a:endParaRPr lang="zh-TW" sz="1200" dirty="0"/>
          </a:p>
        </p:txBody>
      </p:sp>
      <p:sp>
        <p:nvSpPr>
          <p:cNvPr id="31" name="arrow-167"/>
          <p:cNvSpPr/>
          <p:nvPr/>
        </p:nvSpPr>
        <p:spPr>
          <a:xfrm>
            <a:off x="4680204" y="3794760"/>
            <a:ext cx="0" cy="320040"/>
          </a:xfrm>
          <a:prstGeom prst="line">
            <a:avLst/>
          </a:prstGeom>
          <a:noFill/>
          <a:ln w="22225">
            <a:solidFill>
              <a:schemeClr val="accent6"/>
            </a:solidFill>
            <a:prstDash val="solid"/>
            <a:tailEnd type="triangle"/>
          </a:ln>
        </p:spPr>
      </p:sp>
      <p:sp>
        <p:nvSpPr>
          <p:cNvPr id="32" name="card-168"/>
          <p:cNvSpPr/>
          <p:nvPr/>
        </p:nvSpPr>
        <p:spPr>
          <a:xfrm>
            <a:off x="3377184" y="4160520"/>
            <a:ext cx="2606040" cy="1234440"/>
          </a:xfrm>
          <a:prstGeom prst="roundRect">
            <a:avLst>
              <a:gd name="adj" fmla="val 5926"/>
            </a:avLst>
          </a:prstGeom>
          <a:solidFill>
            <a:schemeClr val="bg2"/>
          </a:solidFill>
          <a:ln/>
        </p:spPr>
      </p:sp>
      <p:pic>
        <p:nvPicPr>
          <p:cNvPr id="33" name="icon-169" descr="Server">    </p:cNvPr>
          <p:cNvPicPr>
            <a:picLocks noChangeAspect="1"/>
          </p:cNvPicPr>
          <p:nvPr/>
        </p:nvPicPr>
        <p:blipFill>
          <a:blip r:embed="rId5"/>
          <a:stretch>
            <a:fillRect/>
          </a:stretch>
        </p:blipFill>
        <p:spPr>
          <a:xfrm>
            <a:off x="3605784" y="4343400"/>
            <a:ext cx="329184" cy="329184"/>
          </a:xfrm>
          <a:prstGeom prst="rect">
            <a:avLst/>
          </a:prstGeom>
        </p:spPr>
      </p:pic>
      <p:sp>
        <p:nvSpPr>
          <p:cNvPr id="34" name="text-170"/>
          <p:cNvSpPr txBox="1"/>
          <p:nvPr/>
        </p:nvSpPr>
        <p:spPr>
          <a:xfrm>
            <a:off x="4062984" y="4343400"/>
            <a:ext cx="1828800" cy="329184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zh-TW" altLang="en-US" sz="1500" b="1" dirty="0">
                <a:solidFill>
                  <a:schemeClr val="tx1"/>
                </a:solidFill>
              </a:rPr>
              <a:t>MCP stdio 唯讀</a:t>
            </a:r>
            <a:endParaRPr lang="zh-TW" sz="1500" dirty="0"/>
          </a:p>
        </p:txBody>
      </p:sp>
      <p:sp>
        <p:nvSpPr>
          <p:cNvPr id="35" name="text-171"/>
          <p:cNvSpPr txBox="1"/>
          <p:nvPr/>
        </p:nvSpPr>
        <p:spPr>
          <a:xfrm>
            <a:off x="3605784" y="4800600"/>
            <a:ext cx="2240280" cy="45720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buNone/>
            </a:pPr>
            <a:r>
              <a:rPr lang="zh-TW" altLang="en-US" sz="1200" dirty="0">
                <a:solidFill>
                  <a:schemeClr val="accent6"/>
                </a:solidFill>
              </a:rPr>
              <a:t>既有合成評閱快照</a:t>
            </a:r>
            <a:endParaRPr lang="zh-TW" sz="1200" dirty="0"/>
          </a:p>
        </p:txBody>
      </p:sp>
      <p:sp>
        <p:nvSpPr>
          <p:cNvPr id="36" name="arrow-172"/>
          <p:cNvSpPr/>
          <p:nvPr/>
        </p:nvSpPr>
        <p:spPr>
          <a:xfrm>
            <a:off x="7508748" y="3794760"/>
            <a:ext cx="0" cy="320040"/>
          </a:xfrm>
          <a:prstGeom prst="line">
            <a:avLst/>
          </a:prstGeom>
          <a:noFill/>
          <a:ln w="22225">
            <a:solidFill>
              <a:schemeClr val="accent6"/>
            </a:solidFill>
            <a:prstDash val="solid"/>
            <a:tailEnd type="triangle"/>
          </a:ln>
        </p:spPr>
      </p:sp>
      <p:sp>
        <p:nvSpPr>
          <p:cNvPr id="37" name="card-173"/>
          <p:cNvSpPr/>
          <p:nvPr/>
        </p:nvSpPr>
        <p:spPr>
          <a:xfrm>
            <a:off x="6205728" y="4160520"/>
            <a:ext cx="2606040" cy="1234440"/>
          </a:xfrm>
          <a:prstGeom prst="roundRect">
            <a:avLst>
              <a:gd name="adj" fmla="val 5926"/>
            </a:avLst>
          </a:prstGeom>
          <a:solidFill>
            <a:schemeClr val="bg2"/>
          </a:solidFill>
          <a:ln/>
        </p:spPr>
      </p:sp>
      <p:pic>
        <p:nvPicPr>
          <p:cNvPr id="38" name="icon-174" descr="Database">    </p:cNvPr>
          <p:cNvPicPr>
            <a:picLocks noChangeAspect="1"/>
          </p:cNvPicPr>
          <p:nvPr/>
        </p:nvPicPr>
        <p:blipFill>
          <a:blip r:embed="rId6"/>
          <a:stretch>
            <a:fillRect/>
          </a:stretch>
        </p:blipFill>
        <p:spPr>
          <a:xfrm>
            <a:off x="6434328" y="4343400"/>
            <a:ext cx="329184" cy="329184"/>
          </a:xfrm>
          <a:prstGeom prst="rect">
            <a:avLst/>
          </a:prstGeom>
        </p:spPr>
      </p:pic>
      <p:sp>
        <p:nvSpPr>
          <p:cNvPr id="39" name="text-175"/>
          <p:cNvSpPr txBox="1"/>
          <p:nvPr/>
        </p:nvSpPr>
        <p:spPr>
          <a:xfrm>
            <a:off x="6891528" y="4343400"/>
            <a:ext cx="1828800" cy="329184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zh-TW" altLang="en-US" sz="1500" b="1" dirty="0">
                <a:solidFill>
                  <a:schemeClr val="tx1"/>
                </a:solidFill>
              </a:rPr>
              <a:t>SQLite</a:t>
            </a:r>
            <a:endParaRPr lang="zh-TW" sz="1500" dirty="0"/>
          </a:p>
        </p:txBody>
      </p:sp>
      <p:sp>
        <p:nvSpPr>
          <p:cNvPr id="40" name="text-176"/>
          <p:cNvSpPr txBox="1"/>
          <p:nvPr/>
        </p:nvSpPr>
        <p:spPr>
          <a:xfrm>
            <a:off x="6434328" y="4800600"/>
            <a:ext cx="2240280" cy="45720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buNone/>
            </a:pPr>
            <a:r>
              <a:rPr lang="zh-TW" altLang="en-US" sz="1200" dirty="0">
                <a:solidFill>
                  <a:schemeClr val="accent6"/>
                </a:solidFill>
              </a:rPr>
              <a:t>草稿、收據、稽核（確認後寫）</a:t>
            </a:r>
            <a:endParaRPr lang="zh-TW" sz="1200" dirty="0"/>
          </a:p>
        </p:txBody>
      </p:sp>
      <p:sp>
        <p:nvSpPr>
          <p:cNvPr id="41" name="arrow-177"/>
          <p:cNvSpPr/>
          <p:nvPr/>
        </p:nvSpPr>
        <p:spPr>
          <a:xfrm>
            <a:off x="10337292" y="3794760"/>
            <a:ext cx="0" cy="320040"/>
          </a:xfrm>
          <a:prstGeom prst="line">
            <a:avLst/>
          </a:prstGeom>
          <a:noFill/>
          <a:ln w="22225">
            <a:solidFill>
              <a:schemeClr val="accent6"/>
            </a:solidFill>
            <a:prstDash val="solid"/>
            <a:tailEnd type="triangle"/>
          </a:ln>
        </p:spPr>
      </p:sp>
      <p:sp>
        <p:nvSpPr>
          <p:cNvPr id="42" name="card-178"/>
          <p:cNvSpPr/>
          <p:nvPr/>
        </p:nvSpPr>
        <p:spPr>
          <a:xfrm>
            <a:off x="9034272" y="4160520"/>
            <a:ext cx="2606040" cy="1234440"/>
          </a:xfrm>
          <a:prstGeom prst="roundRect">
            <a:avLst>
              <a:gd name="adj" fmla="val 5926"/>
            </a:avLst>
          </a:prstGeom>
          <a:solidFill>
            <a:schemeClr val="bg2"/>
          </a:solidFill>
          <a:ln/>
        </p:spPr>
      </p:sp>
      <p:pic>
        <p:nvPicPr>
          <p:cNvPr id="43" name="icon-179" descr="History">    </p:cNvPr>
          <p:cNvPicPr>
            <a:picLocks noChangeAspect="1"/>
          </p:cNvPicPr>
          <p:nvPr/>
        </p:nvPicPr>
        <p:blipFill>
          <a:blip r:embed="rId7"/>
          <a:stretch>
            <a:fillRect/>
          </a:stretch>
        </p:blipFill>
        <p:spPr>
          <a:xfrm>
            <a:off x="9262872" y="4343400"/>
            <a:ext cx="329184" cy="329184"/>
          </a:xfrm>
          <a:prstGeom prst="rect">
            <a:avLst/>
          </a:prstGeom>
        </p:spPr>
      </p:pic>
      <p:sp>
        <p:nvSpPr>
          <p:cNvPr id="44" name="text-180"/>
          <p:cNvSpPr txBox="1"/>
          <p:nvPr/>
        </p:nvSpPr>
        <p:spPr>
          <a:xfrm>
            <a:off x="9720072" y="4343400"/>
            <a:ext cx="1828800" cy="329184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zh-TW" altLang="en-US" sz="1500" b="1" dirty="0">
                <a:solidFill>
                  <a:schemeClr val="tx1"/>
                </a:solidFill>
              </a:rPr>
              <a:t>Session 記憶</a:t>
            </a:r>
            <a:endParaRPr lang="zh-TW" sz="1500" dirty="0"/>
          </a:p>
        </p:txBody>
      </p:sp>
      <p:sp>
        <p:nvSpPr>
          <p:cNvPr id="45" name="text-181"/>
          <p:cNvSpPr txBox="1"/>
          <p:nvPr/>
        </p:nvSpPr>
        <p:spPr>
          <a:xfrm>
            <a:off x="9262872" y="4800600"/>
            <a:ext cx="2240280" cy="45720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buNone/>
            </a:pPr>
            <a:r>
              <a:rPr lang="zh-TW" altLang="en-US" sz="1200" dirty="0">
                <a:solidFill>
                  <a:schemeClr val="accent6"/>
                </a:solidFill>
              </a:rPr>
              <a:t>只留最近一筆成功摘要</a:t>
            </a:r>
            <a:endParaRPr lang="zh-TW" sz="1200" dirty="0"/>
          </a:p>
        </p:txBody>
      </p:sp>
      <p:pic>
        <p:nvPicPr>
          <p:cNvPr id="46" name="icon-182" descr="RotateCcw">    </p:cNvPr>
          <p:cNvPicPr>
            <a:picLocks noChangeAspect="1"/>
          </p:cNvPicPr>
          <p:nvPr/>
        </p:nvPicPr>
        <p:blipFill>
          <a:blip r:embed="rId8"/>
          <a:stretch>
            <a:fillRect/>
          </a:stretch>
        </p:blipFill>
        <p:spPr>
          <a:xfrm>
            <a:off x="548640" y="5715000"/>
            <a:ext cx="274320" cy="274320"/>
          </a:xfrm>
          <a:prstGeom prst="rect">
            <a:avLst/>
          </a:prstGeom>
        </p:spPr>
      </p:pic>
      <p:sp>
        <p:nvSpPr>
          <p:cNvPr id="47" name="text-183"/>
          <p:cNvSpPr txBox="1"/>
          <p:nvPr/>
        </p:nvSpPr>
        <p:spPr>
          <a:xfrm>
            <a:off x="914400" y="5687568"/>
            <a:ext cx="5120640" cy="329184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zh-TW" altLang="en-US" sz="1400" dirty="0">
                <a:solidFill>
                  <a:schemeClr val="tx1"/>
                </a:solidFill>
              </a:rPr>
              <a:t>工具結果回填模型後，Host 再核對摘要才回傳 UI。</a:t>
            </a:r>
            <a:endParaRPr lang="zh-TW" sz="1400" dirty="0"/>
          </a:p>
        </p:txBody>
      </p:sp>
      <p:pic>
        <p:nvPicPr>
          <p:cNvPr id="48" name="icon-184" descr="Lock">    </p:cNvPr>
          <p:cNvPicPr>
            <a:picLocks noChangeAspect="1"/>
          </p:cNvPicPr>
          <p:nvPr/>
        </p:nvPicPr>
        <p:blipFill>
          <a:blip r:embed="rId9"/>
          <a:stretch>
            <a:fillRect/>
          </a:stretch>
        </p:blipFill>
        <p:spPr>
          <a:xfrm>
            <a:off x="6245352" y="5715000"/>
            <a:ext cx="274320" cy="274320"/>
          </a:xfrm>
          <a:prstGeom prst="rect">
            <a:avLst/>
          </a:prstGeom>
        </p:spPr>
      </p:pic>
      <p:sp>
        <p:nvSpPr>
          <p:cNvPr id="49" name="text-185"/>
          <p:cNvSpPr txBox="1"/>
          <p:nvPr/>
        </p:nvSpPr>
        <p:spPr>
          <a:xfrm>
            <a:off x="6611112" y="5687568"/>
            <a:ext cx="5029200" cy="329184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zh-TW" altLang="en-US" sz="1400" dirty="0">
                <a:solidFill>
                  <a:schemeClr val="tx1"/>
                </a:solidFill>
              </a:rPr>
              <a:t>Session 記憶只提供背景，不能授權寫入。</a:t>
            </a:r>
            <a:endParaRPr lang="zh-TW" sz="1400" dirty="0"/>
          </a:p>
        </p:txBody>
      </p:sp>
      <p:sp>
        <p:nvSpPr>
          <p:cNvPr id="25" name="Slide Number Placeholder 0"/>
          <p:cNvSpPr>
            <a:spLocks noGrp="1"/>
          </p:cNvSpPr>
          <p:nvPr>
            <p:ph type="sldNum" sz="quarter" idx="4294967295"/>
          </p:nvPr>
        </p:nvSpPr>
        <p:spPr>
          <a:xfrm>
            <a:off x="11091672" y="6400800"/>
            <a:ext cx="548640" cy="256032"/>
          </a:xfrm>
          <a:prstGeom prst="rect">
            <a:avLst/>
          </a:prstGeom>
          <a:extLst>
            <a:ext uri="{C572A759-6A51-4108-AA02-DFA0A04FC94B}">
              <ma14:wrappingTextBoxFlag xmlns:ma14="http://schemas.microsoft.com/office/mac/drawingml/2011/main" val="0"/>
            </a:ext>
          </a:extLst>
        </p:spPr>
        <p:txBody>
          <a:bodyPr/>
          <a:lstStyle>
            <a:lvl1pPr>
              <a:defRPr sz="1000">
                <a:solidFill>
                  <a:schemeClr val="accent6"/>
                </a:solidFill>
              </a:defRPr>
            </a:lvl1pPr>
          </a:lstStyle>
          <a:p>
            <a:pPr algn="r"/>
            <a:fld id="{F7021451-1387-4CA6-816F-3879F97B5CBC}" type="slidenum">
              <a:rPr b="0" lang="en-US"/>
              <a:t>5</a:t>
            </a:fld>
            <a:endParaRPr lang="en-US"/>
          </a:p>
        </p:txBody>
      </p:sp>
    </p:spTree>
  </p:cSld>
  <p:clrMapOvr>
    <a:masterClrMapping/>
  </p:clrMapOvr>
</p:sld>
</file>

<file path=ppt/slides/slide6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6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ext 0"/>
          <p:cNvSpPr/>
          <p:nvPr>
            <p:ph idx="100" type="body" hasCustomPrompt="1"/>
          </p:nvPr>
        </p:nvSpPr>
        <p:spPr>
          <a:xfrm>
            <a:off x="548640" y="365760"/>
            <a:ext cx="8778240" cy="27432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algn="l" indent="0" marL="0">
              <a:buNone/>
            </a:pPr>
            <a:r>
              <a:rPr lang="zh-TW" altLang="en-US" sz="1300" b="1" dirty="0">
                <a:solidFill>
                  <a:schemeClr val="accent6"/>
                </a:solidFill>
              </a:rPr>
              <a:t>工具介面與停止條件</a:t>
            </a:r>
            <a:endParaRPr lang="zh-TW" sz="1300" dirty="0"/>
          </a:p>
        </p:txBody>
      </p:sp>
      <p:sp>
        <p:nvSpPr>
          <p:cNvPr id="3" name="Text 0"/>
          <p:cNvSpPr/>
          <p:nvPr>
            <p:ph idx="101" type="title" hasCustomPrompt="1"/>
          </p:nvPr>
        </p:nvSpPr>
        <p:spPr>
          <a:xfrm>
            <a:off x="548640" y="658368"/>
            <a:ext cx="11064240" cy="68580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algn="l" indent="0" marL="0">
              <a:buNone/>
            </a:pPr>
            <a:r>
              <a:rPr lang="zh-TW" altLang="en-US" sz="3000" b="1" dirty="0">
                <a:solidFill>
                  <a:schemeClr val="tx1"/>
                </a:solidFill>
              </a:rPr>
              <a:t>兩個工具都有可驗證的輸入、輸出與停止點</a:t>
            </a:r>
            <a:endParaRPr lang="zh-TW" sz="3000" dirty="0"/>
          </a:p>
        </p:txBody>
      </p:sp>
      <p:sp>
        <p:nvSpPr>
          <p:cNvPr id="5" name="card-186"/>
          <p:cNvSpPr/>
          <p:nvPr/>
        </p:nvSpPr>
        <p:spPr>
          <a:xfrm>
            <a:off x="548640" y="1600200"/>
            <a:ext cx="5394960" cy="2788920"/>
          </a:xfrm>
          <a:prstGeom prst="roundRect">
            <a:avLst>
              <a:gd name="adj" fmla="val 2623"/>
            </a:avLst>
          </a:prstGeom>
          <a:solidFill>
            <a:schemeClr val="bg1"/>
          </a:solidFill>
          <a:ln w="12700">
            <a:solidFill>
              <a:schemeClr val="bg2"/>
            </a:solidFill>
            <a:prstDash val="solid"/>
          </a:ln>
          <a:effectLst>
            <a:outerShdw sx="100000" sy="100000" kx="0" ky="0" algn="bl" rotWithShape="0" blurRad="127000" dist="25400" dir="5400000">
              <a:srgbClr val="1A2233">
                <a:alpha val="10000"/>
              </a:srgbClr>
            </a:outerShdw>
          </a:effectLst>
        </p:spPr>
      </p:sp>
      <p:sp>
        <p:nvSpPr>
          <p:cNvPr id="6" name="icon-bg-187"/>
          <p:cNvSpPr/>
          <p:nvPr/>
        </p:nvSpPr>
        <p:spPr>
          <a:xfrm>
            <a:off x="822960" y="1810512"/>
            <a:ext cx="512064" cy="512064"/>
          </a:xfrm>
          <a:prstGeom prst="ellipse">
            <a:avLst/>
          </a:prstGeom>
          <a:solidFill>
            <a:schemeClr val="accent4"/>
          </a:solidFill>
          <a:ln/>
        </p:spPr>
      </p:sp>
      <p:pic>
        <p:nvPicPr>
          <p:cNvPr id="7" name="icon-188" descr="FileSearch">    </p:cNvPr>
          <p:cNvPicPr>
            <a:picLocks noChangeAspect="1"/>
          </p:cNvPicPr>
          <p:nvPr/>
        </p:nvPicPr>
        <p:blipFill>
          <a:blip r:embed="rId1"/>
          <a:stretch>
            <a:fillRect/>
          </a:stretch>
        </p:blipFill>
        <p:spPr>
          <a:xfrm>
            <a:off x="945855" y="1933407"/>
            <a:ext cx="266273" cy="266273"/>
          </a:xfrm>
          <a:prstGeom prst="rect">
            <a:avLst/>
          </a:prstGeom>
        </p:spPr>
      </p:pic>
      <p:sp>
        <p:nvSpPr>
          <p:cNvPr id="8" name="text-189"/>
          <p:cNvSpPr txBox="1"/>
          <p:nvPr/>
        </p:nvSpPr>
        <p:spPr>
          <a:xfrm>
            <a:off x="1481328" y="1828800"/>
            <a:ext cx="2926080" cy="45720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zh-TW" altLang="en-US" sz="1800" b="1" dirty="0">
                <a:solidFill>
                  <a:schemeClr val="tx1"/>
                </a:solidFill>
              </a:rPr>
              <a:t>get_submission_review</a:t>
            </a:r>
            <a:endParaRPr lang="zh-TW" sz="1800" dirty="0"/>
          </a:p>
        </p:txBody>
      </p:sp>
      <p:sp>
        <p:nvSpPr>
          <p:cNvPr id="9" name="tag-190"/>
          <p:cNvSpPr/>
          <p:nvPr/>
        </p:nvSpPr>
        <p:spPr>
          <a:xfrm>
            <a:off x="4596384" y="1920240"/>
            <a:ext cx="1072896" cy="262128"/>
          </a:xfrm>
          <a:prstGeom prst="roundRect">
            <a:avLst>
              <a:gd name="adj" fmla="val 50000"/>
            </a:avLst>
          </a:prstGeom>
          <a:solidFill>
            <a:schemeClr val="bg1"/>
          </a:solidFill>
          <a:ln w="12700">
            <a:solidFill>
              <a:schemeClr val="accent4"/>
            </a:solidFill>
            <a:prstDash val="solid"/>
          </a:ln>
        </p:spPr>
      </p:sp>
      <p:sp>
        <p:nvSpPr>
          <p:cNvPr id="10" name="tag-text-191"/>
          <p:cNvSpPr txBox="1"/>
          <p:nvPr/>
        </p:nvSpPr>
        <p:spPr>
          <a:xfrm>
            <a:off x="4596384" y="1920240"/>
            <a:ext cx="1072896" cy="26212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zh-TW" altLang="en-US" sz="1200" b="1" dirty="0">
                <a:solidFill>
                  <a:schemeClr val="accent4"/>
                </a:solidFill>
              </a:rPr>
              <a:t>唯讀 · MCP</a:t>
            </a:r>
            <a:endParaRPr lang="zh-TW" sz="1200" dirty="0"/>
          </a:p>
        </p:txBody>
      </p:sp>
      <p:sp>
        <p:nvSpPr>
          <p:cNvPr id="11" name="text-192"/>
          <p:cNvSpPr txBox="1"/>
          <p:nvPr/>
        </p:nvSpPr>
        <p:spPr>
          <a:xfrm>
            <a:off x="822960" y="2606040"/>
            <a:ext cx="640080" cy="329184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zh-TW" altLang="en-US" sz="1400" b="1" dirty="0">
                <a:solidFill>
                  <a:schemeClr val="accent4"/>
                </a:solidFill>
              </a:rPr>
              <a:t>輸入</a:t>
            </a:r>
            <a:endParaRPr lang="zh-TW" sz="1400" dirty="0"/>
          </a:p>
        </p:txBody>
      </p:sp>
      <p:sp>
        <p:nvSpPr>
          <p:cNvPr id="12" name="text-193"/>
          <p:cNvSpPr txBox="1"/>
          <p:nvPr/>
        </p:nvSpPr>
        <p:spPr>
          <a:xfrm>
            <a:off x="1481328" y="2606040"/>
            <a:ext cx="4206240" cy="329184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zh-TW" altLang="en-US" sz="1400" dirty="0">
                <a:solidFill>
                  <a:schemeClr val="tx1"/>
                </a:solidFill>
              </a:rPr>
              <a:t>作業 ID、提交 ID、版本</a:t>
            </a:r>
            <a:endParaRPr lang="zh-TW" sz="1400" dirty="0"/>
          </a:p>
        </p:txBody>
      </p:sp>
      <p:sp>
        <p:nvSpPr>
          <p:cNvPr id="13" name="text-194"/>
          <p:cNvSpPr txBox="1"/>
          <p:nvPr/>
        </p:nvSpPr>
        <p:spPr>
          <a:xfrm>
            <a:off x="822960" y="3026664"/>
            <a:ext cx="640080" cy="329184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zh-TW" altLang="en-US" sz="1400" b="1" dirty="0">
                <a:solidFill>
                  <a:schemeClr val="accent4"/>
                </a:solidFill>
              </a:rPr>
              <a:t>輸出</a:t>
            </a:r>
            <a:endParaRPr lang="zh-TW" sz="1400" dirty="0"/>
          </a:p>
        </p:txBody>
      </p:sp>
      <p:sp>
        <p:nvSpPr>
          <p:cNvPr id="14" name="text-195"/>
          <p:cNvSpPr txBox="1"/>
          <p:nvPr/>
        </p:nvSpPr>
        <p:spPr>
          <a:xfrm>
            <a:off x="1481328" y="3026664"/>
            <a:ext cx="4206240" cy="329184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zh-TW" altLang="en-US" sz="1400" dirty="0">
                <a:solidFill>
                  <a:schemeClr val="tx1"/>
                </a:solidFill>
              </a:rPr>
              <a:t>缺漏、待確認項、引用與 hash</a:t>
            </a:r>
            <a:endParaRPr lang="zh-TW" sz="1400" dirty="0"/>
          </a:p>
        </p:txBody>
      </p:sp>
      <p:sp>
        <p:nvSpPr>
          <p:cNvPr id="15" name="text-196"/>
          <p:cNvSpPr txBox="1"/>
          <p:nvPr/>
        </p:nvSpPr>
        <p:spPr>
          <a:xfrm>
            <a:off x="822960" y="3447288"/>
            <a:ext cx="640080" cy="329184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zh-TW" altLang="en-US" sz="1400" b="1" dirty="0">
                <a:solidFill>
                  <a:schemeClr val="accent4"/>
                </a:solidFill>
              </a:rPr>
              <a:t>驗證</a:t>
            </a:r>
            <a:endParaRPr lang="zh-TW" sz="1400" dirty="0"/>
          </a:p>
        </p:txBody>
      </p:sp>
      <p:sp>
        <p:nvSpPr>
          <p:cNvPr id="16" name="text-197"/>
          <p:cNvSpPr txBox="1"/>
          <p:nvPr/>
        </p:nvSpPr>
        <p:spPr>
          <a:xfrm>
            <a:off x="1481328" y="3447288"/>
            <a:ext cx="4206240" cy="329184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zh-TW" altLang="en-US" sz="1400" dirty="0">
                <a:solidFill>
                  <a:schemeClr val="tx1"/>
                </a:solidFill>
              </a:rPr>
              <a:t>目標一致、來源有效、完整覆蓋</a:t>
            </a:r>
            <a:endParaRPr lang="zh-TW" sz="1400" dirty="0"/>
          </a:p>
        </p:txBody>
      </p:sp>
      <p:sp>
        <p:nvSpPr>
          <p:cNvPr id="17" name="text-198"/>
          <p:cNvSpPr txBox="1"/>
          <p:nvPr/>
        </p:nvSpPr>
        <p:spPr>
          <a:xfrm>
            <a:off x="822960" y="3867912"/>
            <a:ext cx="640080" cy="329184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zh-TW" altLang="en-US" sz="1400" b="1" dirty="0">
                <a:solidFill>
                  <a:schemeClr val="accent4"/>
                </a:solidFill>
              </a:rPr>
              <a:t>傳輸</a:t>
            </a:r>
            <a:endParaRPr lang="zh-TW" sz="1400" dirty="0"/>
          </a:p>
        </p:txBody>
      </p:sp>
      <p:sp>
        <p:nvSpPr>
          <p:cNvPr id="18" name="text-199"/>
          <p:cNvSpPr txBox="1"/>
          <p:nvPr/>
        </p:nvSpPr>
        <p:spPr>
          <a:xfrm>
            <a:off x="1481328" y="3867912"/>
            <a:ext cx="4206240" cy="329184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zh-TW" altLang="en-US" sz="1400" dirty="0">
                <a:solidFill>
                  <a:schemeClr val="tx1"/>
                </a:solidFill>
              </a:rPr>
              <a:t>MCP stdio，只能讀</a:t>
            </a:r>
            <a:endParaRPr lang="zh-TW" sz="1400" dirty="0"/>
          </a:p>
        </p:txBody>
      </p:sp>
      <p:sp>
        <p:nvSpPr>
          <p:cNvPr id="19" name="card-200"/>
          <p:cNvSpPr/>
          <p:nvPr/>
        </p:nvSpPr>
        <p:spPr>
          <a:xfrm>
            <a:off x="6245352" y="1600200"/>
            <a:ext cx="5394960" cy="2788920"/>
          </a:xfrm>
          <a:prstGeom prst="roundRect">
            <a:avLst>
              <a:gd name="adj" fmla="val 2623"/>
            </a:avLst>
          </a:prstGeom>
          <a:solidFill>
            <a:schemeClr val="bg1"/>
          </a:solidFill>
          <a:ln w="12700">
            <a:solidFill>
              <a:schemeClr val="bg2"/>
            </a:solidFill>
            <a:prstDash val="solid"/>
          </a:ln>
          <a:effectLst>
            <a:outerShdw sx="100000" sy="100000" kx="0" ky="0" algn="bl" rotWithShape="0" blurRad="127000" dist="25400" dir="5400000">
              <a:srgbClr val="1A2233">
                <a:alpha val="10000"/>
              </a:srgbClr>
            </a:outerShdw>
          </a:effectLst>
        </p:spPr>
      </p:sp>
      <p:sp>
        <p:nvSpPr>
          <p:cNvPr id="20" name="icon-bg-201"/>
          <p:cNvSpPr/>
          <p:nvPr/>
        </p:nvSpPr>
        <p:spPr>
          <a:xfrm>
            <a:off x="6519672" y="1810512"/>
            <a:ext cx="512064" cy="512064"/>
          </a:xfrm>
          <a:prstGeom prst="ellipse">
            <a:avLst/>
          </a:prstGeom>
          <a:solidFill>
            <a:schemeClr val="accent3"/>
          </a:solidFill>
          <a:ln/>
        </p:spPr>
      </p:sp>
      <p:pic>
        <p:nvPicPr>
          <p:cNvPr id="21" name="icon-202" descr="FilePen">    </p:cNvPr>
          <p:cNvPicPr>
            <a:picLocks noChangeAspect="1"/>
          </p:cNvPicPr>
          <p:nvPr/>
        </p:nvPicPr>
        <p:blipFill>
          <a:blip r:embed="rId2"/>
          <a:stretch>
            <a:fillRect/>
          </a:stretch>
        </p:blipFill>
        <p:spPr>
          <a:xfrm>
            <a:off x="6642567" y="1933407"/>
            <a:ext cx="266273" cy="266273"/>
          </a:xfrm>
          <a:prstGeom prst="rect">
            <a:avLst/>
          </a:prstGeom>
        </p:spPr>
      </p:pic>
      <p:sp>
        <p:nvSpPr>
          <p:cNvPr id="22" name="text-203"/>
          <p:cNvSpPr txBox="1"/>
          <p:nvPr/>
        </p:nvSpPr>
        <p:spPr>
          <a:xfrm>
            <a:off x="7178040" y="1828800"/>
            <a:ext cx="2926080" cy="45720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zh-TW" altLang="en-US" sz="1800" b="1" dirty="0">
                <a:solidFill>
                  <a:schemeClr val="tx1"/>
                </a:solidFill>
              </a:rPr>
              <a:t>create_revision_draft</a:t>
            </a:r>
            <a:endParaRPr lang="zh-TW" sz="1800" dirty="0"/>
          </a:p>
        </p:txBody>
      </p:sp>
      <p:sp>
        <p:nvSpPr>
          <p:cNvPr id="23" name="tag-204"/>
          <p:cNvSpPr/>
          <p:nvPr/>
        </p:nvSpPr>
        <p:spPr>
          <a:xfrm>
            <a:off x="10101072" y="1920240"/>
            <a:ext cx="1264920" cy="262128"/>
          </a:xfrm>
          <a:prstGeom prst="roundRect">
            <a:avLst>
              <a:gd name="adj" fmla="val 50000"/>
            </a:avLst>
          </a:prstGeom>
          <a:solidFill>
            <a:schemeClr val="bg1"/>
          </a:solidFill>
          <a:ln w="12700">
            <a:solidFill>
              <a:schemeClr val="accent3"/>
            </a:solidFill>
            <a:prstDash val="solid"/>
          </a:ln>
        </p:spPr>
      </p:sp>
      <p:sp>
        <p:nvSpPr>
          <p:cNvPr id="24" name="tag-text-205"/>
          <p:cNvSpPr txBox="1"/>
          <p:nvPr/>
        </p:nvSpPr>
        <p:spPr>
          <a:xfrm>
            <a:off x="10101072" y="1920240"/>
            <a:ext cx="1264920" cy="26212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zh-TW" altLang="en-US" sz="1200" b="1" dirty="0">
                <a:solidFill>
                  <a:schemeClr val="accent3"/>
                </a:solidFill>
              </a:rPr>
              <a:t>寫入 · 需確認</a:t>
            </a:r>
            <a:endParaRPr lang="zh-TW" sz="1200" dirty="0"/>
          </a:p>
        </p:txBody>
      </p:sp>
      <p:sp>
        <p:nvSpPr>
          <p:cNvPr id="25" name="text-206"/>
          <p:cNvSpPr txBox="1"/>
          <p:nvPr/>
        </p:nvSpPr>
        <p:spPr>
          <a:xfrm>
            <a:off x="6519672" y="2606040"/>
            <a:ext cx="640080" cy="329184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zh-TW" altLang="en-US" sz="1400" b="1" dirty="0">
                <a:solidFill>
                  <a:schemeClr val="accent3"/>
                </a:solidFill>
              </a:rPr>
              <a:t>輸入</a:t>
            </a:r>
            <a:endParaRPr lang="zh-TW" sz="1400" dirty="0"/>
          </a:p>
        </p:txBody>
      </p:sp>
      <p:sp>
        <p:nvSpPr>
          <p:cNvPr id="26" name="text-207"/>
          <p:cNvSpPr txBox="1"/>
          <p:nvPr/>
        </p:nvSpPr>
        <p:spPr>
          <a:xfrm>
            <a:off x="7178040" y="2606040"/>
            <a:ext cx="4206240" cy="329184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zh-TW" altLang="en-US" sz="1400" dirty="0">
                <a:solidFill>
                  <a:schemeClr val="tx1"/>
                </a:solidFill>
              </a:rPr>
              <a:t>相同目標＋requirement_ids</a:t>
            </a:r>
            <a:endParaRPr lang="zh-TW" sz="1400" dirty="0"/>
          </a:p>
        </p:txBody>
      </p:sp>
      <p:sp>
        <p:nvSpPr>
          <p:cNvPr id="27" name="text-208"/>
          <p:cNvSpPr txBox="1"/>
          <p:nvPr/>
        </p:nvSpPr>
        <p:spPr>
          <a:xfrm>
            <a:off x="6519672" y="3026664"/>
            <a:ext cx="640080" cy="329184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zh-TW" altLang="en-US" sz="1400" b="1" dirty="0">
                <a:solidFill>
                  <a:schemeClr val="accent3"/>
                </a:solidFill>
              </a:rPr>
              <a:t>輸出</a:t>
            </a:r>
            <a:endParaRPr lang="zh-TW" sz="1400" dirty="0"/>
          </a:p>
        </p:txBody>
      </p:sp>
      <p:sp>
        <p:nvSpPr>
          <p:cNvPr id="28" name="text-209"/>
          <p:cNvSpPr txBox="1"/>
          <p:nvPr/>
        </p:nvSpPr>
        <p:spPr>
          <a:xfrm>
            <a:off x="7178040" y="3026664"/>
            <a:ext cx="4206240" cy="329184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zh-TW" altLang="en-US" sz="1400" dirty="0">
                <a:solidFill>
                  <a:schemeClr val="tx1"/>
                </a:solidFill>
              </a:rPr>
              <a:t>draft_id、request_id、收據</a:t>
            </a:r>
            <a:endParaRPr lang="zh-TW" sz="1400" dirty="0"/>
          </a:p>
        </p:txBody>
      </p:sp>
      <p:sp>
        <p:nvSpPr>
          <p:cNvPr id="29" name="text-210"/>
          <p:cNvSpPr txBox="1"/>
          <p:nvPr/>
        </p:nvSpPr>
        <p:spPr>
          <a:xfrm>
            <a:off x="6519672" y="3447288"/>
            <a:ext cx="640080" cy="329184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zh-TW" altLang="en-US" sz="1400" b="1" dirty="0">
                <a:solidFill>
                  <a:schemeClr val="accent3"/>
                </a:solidFill>
              </a:rPr>
              <a:t>驗證</a:t>
            </a:r>
            <a:endParaRPr lang="zh-TW" sz="1400" dirty="0"/>
          </a:p>
        </p:txBody>
      </p:sp>
      <p:sp>
        <p:nvSpPr>
          <p:cNvPr id="30" name="text-211"/>
          <p:cNvSpPr txBox="1"/>
          <p:nvPr/>
        </p:nvSpPr>
        <p:spPr>
          <a:xfrm>
            <a:off x="7178040" y="3447288"/>
            <a:ext cx="4206240" cy="329184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zh-TW" altLang="en-US" sz="1400" dirty="0">
                <a:solidFill>
                  <a:schemeClr val="tx1"/>
                </a:solidFill>
              </a:rPr>
              <a:t>項目一致、來源未變、使用者確認</a:t>
            </a:r>
            <a:endParaRPr lang="zh-TW" sz="1400" dirty="0"/>
          </a:p>
        </p:txBody>
      </p:sp>
      <p:sp>
        <p:nvSpPr>
          <p:cNvPr id="31" name="text-212"/>
          <p:cNvSpPr txBox="1"/>
          <p:nvPr/>
        </p:nvSpPr>
        <p:spPr>
          <a:xfrm>
            <a:off x="6519672" y="3867912"/>
            <a:ext cx="640080" cy="329184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zh-TW" altLang="en-US" sz="1400" b="1" dirty="0">
                <a:solidFill>
                  <a:schemeClr val="accent3"/>
                </a:solidFill>
              </a:rPr>
              <a:t>寫入</a:t>
            </a:r>
            <a:endParaRPr lang="zh-TW" sz="1400" dirty="0"/>
          </a:p>
        </p:txBody>
      </p:sp>
      <p:sp>
        <p:nvSpPr>
          <p:cNvPr id="32" name="text-213"/>
          <p:cNvSpPr txBox="1"/>
          <p:nvPr/>
        </p:nvSpPr>
        <p:spPr>
          <a:xfrm>
            <a:off x="7178040" y="3867912"/>
            <a:ext cx="4206240" cy="329184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zh-TW" altLang="en-US" sz="1400" dirty="0">
                <a:solidFill>
                  <a:schemeClr val="tx1"/>
                </a:solidFill>
              </a:rPr>
              <a:t>本機 SQLite，同 run ID 只寫一次</a:t>
            </a:r>
            <a:endParaRPr lang="zh-TW" sz="1400" dirty="0"/>
          </a:p>
        </p:txBody>
      </p:sp>
      <p:sp>
        <p:nvSpPr>
          <p:cNvPr id="33" name="card-214"/>
          <p:cNvSpPr/>
          <p:nvPr/>
        </p:nvSpPr>
        <p:spPr>
          <a:xfrm>
            <a:off x="548640" y="4663440"/>
            <a:ext cx="3520440" cy="1005840"/>
          </a:xfrm>
          <a:prstGeom prst="roundRect">
            <a:avLst>
              <a:gd name="adj" fmla="val 7273"/>
            </a:avLst>
          </a:prstGeom>
          <a:solidFill>
            <a:schemeClr val="bg2"/>
          </a:solidFill>
          <a:ln/>
        </p:spPr>
      </p:sp>
      <p:sp>
        <p:nvSpPr>
          <p:cNvPr id="34" name="stat-215"/>
          <p:cNvSpPr txBox="1"/>
          <p:nvPr/>
        </p:nvSpPr>
        <p:spPr>
          <a:xfrm>
            <a:off x="822960" y="4663440"/>
            <a:ext cx="1737360" cy="100584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zh-TW" altLang="en-US" sz="4000" b="1" dirty="0">
                <a:solidFill>
                  <a:schemeClr val="tx2"/>
                </a:solidFill>
              </a:rPr>
              <a:t>3</a:t>
            </a:r>
            <a:pPr indent="0" marL="0">
              <a:buNone/>
            </a:pPr>
            <a:r>
              <a:rPr lang="zh-TW" altLang="en-US" sz="1800" b="1" dirty="0">
                <a:solidFill>
                  <a:schemeClr val="tx2"/>
                </a:solidFill>
              </a:rPr>
              <a:t> 輪</a:t>
            </a:r>
            <a:endParaRPr lang="zh-TW" sz="4000" dirty="0"/>
          </a:p>
        </p:txBody>
      </p:sp>
      <p:sp>
        <p:nvSpPr>
          <p:cNvPr id="35" name="text-216"/>
          <p:cNvSpPr txBox="1"/>
          <p:nvPr/>
        </p:nvSpPr>
        <p:spPr>
          <a:xfrm>
            <a:off x="2514600" y="4663440"/>
            <a:ext cx="1463040" cy="100584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zh-TW" altLang="en-US" sz="1500" dirty="0">
                <a:solidFill>
                  <a:schemeClr val="accent6"/>
                </a:solidFill>
              </a:rPr>
              <a:t>模型呼叫上限</a:t>
            </a:r>
            <a:endParaRPr lang="zh-TW" sz="1500" dirty="0"/>
          </a:p>
        </p:txBody>
      </p:sp>
      <p:sp>
        <p:nvSpPr>
          <p:cNvPr id="36" name="card-217"/>
          <p:cNvSpPr/>
          <p:nvPr/>
        </p:nvSpPr>
        <p:spPr>
          <a:xfrm>
            <a:off x="4334256" y="4663440"/>
            <a:ext cx="3520440" cy="1005840"/>
          </a:xfrm>
          <a:prstGeom prst="roundRect">
            <a:avLst>
              <a:gd name="adj" fmla="val 7273"/>
            </a:avLst>
          </a:prstGeom>
          <a:solidFill>
            <a:schemeClr val="bg2"/>
          </a:solidFill>
          <a:ln/>
        </p:spPr>
      </p:sp>
      <p:sp>
        <p:nvSpPr>
          <p:cNvPr id="37" name="stat-218"/>
          <p:cNvSpPr txBox="1"/>
          <p:nvPr/>
        </p:nvSpPr>
        <p:spPr>
          <a:xfrm>
            <a:off x="4608576" y="4663440"/>
            <a:ext cx="1737360" cy="100584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zh-TW" altLang="en-US" sz="4000" b="1" dirty="0">
                <a:solidFill>
                  <a:schemeClr val="tx2"/>
                </a:solidFill>
              </a:rPr>
              <a:t>2</a:t>
            </a:r>
            <a:pPr indent="0" marL="0">
              <a:buNone/>
            </a:pPr>
            <a:r>
              <a:rPr lang="zh-TW" altLang="en-US" sz="1800" b="1" dirty="0">
                <a:solidFill>
                  <a:schemeClr val="tx2"/>
                </a:solidFill>
              </a:rPr>
              <a:t> 次</a:t>
            </a:r>
            <a:endParaRPr lang="zh-TW" sz="4000" dirty="0"/>
          </a:p>
        </p:txBody>
      </p:sp>
      <p:sp>
        <p:nvSpPr>
          <p:cNvPr id="38" name="text-219"/>
          <p:cNvSpPr txBox="1"/>
          <p:nvPr/>
        </p:nvSpPr>
        <p:spPr>
          <a:xfrm>
            <a:off x="6300216" y="4663440"/>
            <a:ext cx="1463040" cy="100584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zh-TW" altLang="en-US" sz="1500" dirty="0">
                <a:solidFill>
                  <a:schemeClr val="accent6"/>
                </a:solidFill>
              </a:rPr>
              <a:t>可重試錯誤上限</a:t>
            </a:r>
            <a:endParaRPr lang="zh-TW" sz="1500" dirty="0"/>
          </a:p>
        </p:txBody>
      </p:sp>
      <p:sp>
        <p:nvSpPr>
          <p:cNvPr id="39" name="card-220"/>
          <p:cNvSpPr/>
          <p:nvPr/>
        </p:nvSpPr>
        <p:spPr>
          <a:xfrm>
            <a:off x="8119872" y="4663440"/>
            <a:ext cx="3520440" cy="1005840"/>
          </a:xfrm>
          <a:prstGeom prst="roundRect">
            <a:avLst>
              <a:gd name="adj" fmla="val 7273"/>
            </a:avLst>
          </a:prstGeom>
          <a:solidFill>
            <a:schemeClr val="bg2"/>
          </a:solidFill>
          <a:ln/>
        </p:spPr>
      </p:sp>
      <p:sp>
        <p:nvSpPr>
          <p:cNvPr id="40" name="stat-221"/>
          <p:cNvSpPr txBox="1"/>
          <p:nvPr/>
        </p:nvSpPr>
        <p:spPr>
          <a:xfrm>
            <a:off x="8394192" y="4663440"/>
            <a:ext cx="1737360" cy="100584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zh-TW" altLang="en-US" sz="4000" b="1" dirty="0">
                <a:solidFill>
                  <a:schemeClr val="tx2"/>
                </a:solidFill>
              </a:rPr>
              <a:t>10</a:t>
            </a:r>
            <a:pPr indent="0" marL="0">
              <a:buNone/>
            </a:pPr>
            <a:r>
              <a:rPr lang="zh-TW" altLang="en-US" sz="1800" b="1" dirty="0">
                <a:solidFill>
                  <a:schemeClr val="tx2"/>
                </a:solidFill>
              </a:rPr>
              <a:t> 分鐘</a:t>
            </a:r>
            <a:endParaRPr lang="zh-TW" sz="4000" dirty="0"/>
          </a:p>
        </p:txBody>
      </p:sp>
      <p:sp>
        <p:nvSpPr>
          <p:cNvPr id="41" name="text-222"/>
          <p:cNvSpPr txBox="1"/>
          <p:nvPr/>
        </p:nvSpPr>
        <p:spPr>
          <a:xfrm>
            <a:off x="10085832" y="4663440"/>
            <a:ext cx="1463040" cy="100584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zh-TW" altLang="en-US" sz="1500" dirty="0">
                <a:solidFill>
                  <a:schemeClr val="accent6"/>
                </a:solidFill>
              </a:rPr>
              <a:t>提案確認期限</a:t>
            </a:r>
            <a:endParaRPr lang="zh-TW" sz="1500" dirty="0"/>
          </a:p>
        </p:txBody>
      </p:sp>
      <p:pic>
        <p:nvPicPr>
          <p:cNvPr id="42" name="icon-223" descr="OctagonX">    </p:cNvPr>
          <p:cNvPicPr>
            <a:picLocks noChangeAspect="1"/>
          </p:cNvPicPr>
          <p:nvPr/>
        </p:nvPicPr>
        <p:blipFill>
          <a:blip r:embed="rId3"/>
          <a:stretch>
            <a:fillRect/>
          </a:stretch>
        </p:blipFill>
        <p:spPr>
          <a:xfrm>
            <a:off x="548640" y="5888736"/>
            <a:ext cx="292608" cy="292608"/>
          </a:xfrm>
          <a:prstGeom prst="rect">
            <a:avLst/>
          </a:prstGeom>
        </p:spPr>
      </p:pic>
      <p:sp>
        <p:nvSpPr>
          <p:cNvPr id="43" name="text-224"/>
          <p:cNvSpPr txBox="1"/>
          <p:nvPr/>
        </p:nvSpPr>
        <p:spPr>
          <a:xfrm>
            <a:off x="932688" y="5870448"/>
            <a:ext cx="10698480" cy="329184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zh-TW" altLang="en-US" sz="1500" b="1" dirty="0">
                <a:solidFill>
                  <a:schemeClr val="tx1"/>
                </a:solidFill>
              </a:rPr>
              <a:t>非法參數、工具順序不符、引用不足或無權限 → 立即停止、不寫入，疑義交給老師。</a:t>
            </a:r>
            <a:endParaRPr lang="zh-TW" sz="1500" dirty="0"/>
          </a:p>
        </p:txBody>
      </p:sp>
      <p:sp>
        <p:nvSpPr>
          <p:cNvPr id="25" name="Slide Number Placeholder 0"/>
          <p:cNvSpPr>
            <a:spLocks noGrp="1"/>
          </p:cNvSpPr>
          <p:nvPr>
            <p:ph type="sldNum" sz="quarter" idx="4294967295"/>
          </p:nvPr>
        </p:nvSpPr>
        <p:spPr>
          <a:xfrm>
            <a:off x="11091672" y="6400800"/>
            <a:ext cx="548640" cy="256032"/>
          </a:xfrm>
          <a:prstGeom prst="rect">
            <a:avLst/>
          </a:prstGeom>
          <a:extLst>
            <a:ext uri="{C572A759-6A51-4108-AA02-DFA0A04FC94B}">
              <ma14:wrappingTextBoxFlag xmlns:ma14="http://schemas.microsoft.com/office/mac/drawingml/2011/main" val="0"/>
            </a:ext>
          </a:extLst>
        </p:spPr>
        <p:txBody>
          <a:bodyPr/>
          <a:lstStyle>
            <a:lvl1pPr>
              <a:defRPr sz="1000">
                <a:solidFill>
                  <a:schemeClr val="accent6"/>
                </a:solidFill>
              </a:defRPr>
            </a:lvl1pPr>
          </a:lstStyle>
          <a:p>
            <a:pPr algn="r"/>
            <a:fld id="{F7021451-1387-4CA6-816F-3879F97B5CBC}" type="slidenum">
              <a:rPr b="0" lang="en-US"/>
              <a:t>6</a:t>
            </a:fld>
            <a:endParaRPr lang="en-US"/>
          </a:p>
        </p:txBody>
      </p:sp>
    </p:spTree>
  </p:cSld>
  <p:clrMapOvr>
    <a:masterClrMapping/>
  </p:clrMapOvr>
</p:sld>
</file>

<file path=ppt/slides/slide7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7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ext 0"/>
          <p:cNvSpPr/>
          <p:nvPr>
            <p:ph idx="100" type="body" hasCustomPrompt="1"/>
          </p:nvPr>
        </p:nvSpPr>
        <p:spPr>
          <a:xfrm>
            <a:off x="548640" y="365760"/>
            <a:ext cx="8778240" cy="27432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algn="l" indent="0" marL="0">
              <a:buNone/>
            </a:pPr>
            <a:r>
              <a:rPr lang="zh-TW" altLang="en-US" sz="1300" b="1" dirty="0">
                <a:solidFill>
                  <a:schemeClr val="accent6"/>
                </a:solidFill>
              </a:rPr>
              <a:t>WEEK 07 · 路線 C：Session 記憶</a:t>
            </a:r>
            <a:endParaRPr lang="zh-TW" sz="1300" dirty="0"/>
          </a:p>
        </p:txBody>
      </p:sp>
      <p:sp>
        <p:nvSpPr>
          <p:cNvPr id="3" name="Text 0"/>
          <p:cNvSpPr/>
          <p:nvPr>
            <p:ph idx="101" type="title" hasCustomPrompt="1"/>
          </p:nvPr>
        </p:nvSpPr>
        <p:spPr>
          <a:xfrm>
            <a:off x="548640" y="658368"/>
            <a:ext cx="11064240" cy="68580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algn="l" indent="0" marL="0">
              <a:buNone/>
            </a:pPr>
            <a:r>
              <a:rPr lang="zh-TW" altLang="en-US" sz="3000" b="1" dirty="0">
                <a:solidFill>
                  <a:schemeClr val="tx1"/>
                </a:solidFill>
              </a:rPr>
              <a:t>清除對話後，舊摘要不再進入模型</a:t>
            </a:r>
            <a:endParaRPr lang="zh-TW" sz="3000" dirty="0"/>
          </a:p>
        </p:txBody>
      </p:sp>
      <p:sp>
        <p:nvSpPr>
          <p:cNvPr id="5" name="card-225"/>
          <p:cNvSpPr/>
          <p:nvPr/>
        </p:nvSpPr>
        <p:spPr>
          <a:xfrm>
            <a:off x="548640" y="1600200"/>
            <a:ext cx="3337560" cy="914400"/>
          </a:xfrm>
          <a:prstGeom prst="roundRect">
            <a:avLst>
              <a:gd name="adj" fmla="val 8000"/>
            </a:avLst>
          </a:prstGeom>
          <a:solidFill>
            <a:schemeClr val="bg1"/>
          </a:solidFill>
          <a:ln w="12700">
            <a:solidFill>
              <a:schemeClr val="bg2"/>
            </a:solidFill>
            <a:prstDash val="solid"/>
          </a:ln>
          <a:effectLst>
            <a:outerShdw sx="100000" sy="100000" kx="0" ky="0" algn="bl" rotWithShape="0" blurRad="127000" dist="25400" dir="5400000">
              <a:srgbClr val="1A2233">
                <a:alpha val="10000"/>
              </a:srgbClr>
            </a:outerShdw>
          </a:effectLst>
        </p:spPr>
      </p:sp>
      <p:sp>
        <p:nvSpPr>
          <p:cNvPr id="6" name="text-226"/>
          <p:cNvSpPr txBox="1"/>
          <p:nvPr/>
        </p:nvSpPr>
        <p:spPr>
          <a:xfrm>
            <a:off x="777240" y="1691640"/>
            <a:ext cx="2926080" cy="347472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buNone/>
            </a:pPr>
            <a:r>
              <a:rPr lang="zh-TW" altLang="en-US" sz="1600" b="1" dirty="0">
                <a:solidFill>
                  <a:schemeClr val="tx1"/>
                </a:solidFill>
              </a:rPr>
              <a:t>成功報告</a:t>
            </a:r>
            <a:endParaRPr lang="zh-TW" sz="1600" dirty="0"/>
          </a:p>
        </p:txBody>
      </p:sp>
      <p:sp>
        <p:nvSpPr>
          <p:cNvPr id="7" name="text-227"/>
          <p:cNvSpPr txBox="1"/>
          <p:nvPr/>
        </p:nvSpPr>
        <p:spPr>
          <a:xfrm>
            <a:off x="777240" y="2057400"/>
            <a:ext cx="2971800" cy="36576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buNone/>
            </a:pPr>
            <a:r>
              <a:rPr lang="zh-TW" altLang="en-US" sz="1200" dirty="0">
                <a:solidFill>
                  <a:schemeClr val="accent6"/>
                </a:solidFill>
              </a:rPr>
              <a:t>摘要通過 Host 核對</a:t>
            </a:r>
            <a:endParaRPr lang="zh-TW" sz="1200" dirty="0"/>
          </a:p>
        </p:txBody>
      </p:sp>
      <p:sp>
        <p:nvSpPr>
          <p:cNvPr id="8" name="arrow-228"/>
          <p:cNvSpPr/>
          <p:nvPr/>
        </p:nvSpPr>
        <p:spPr>
          <a:xfrm>
            <a:off x="3931920" y="2057400"/>
            <a:ext cx="448056" cy="0"/>
          </a:xfrm>
          <a:prstGeom prst="line">
            <a:avLst/>
          </a:prstGeom>
          <a:noFill/>
          <a:ln w="22225">
            <a:solidFill>
              <a:schemeClr val="accent6"/>
            </a:solidFill>
            <a:prstDash val="solid"/>
            <a:tailEnd type="triangle"/>
          </a:ln>
        </p:spPr>
      </p:sp>
      <p:sp>
        <p:nvSpPr>
          <p:cNvPr id="9" name="memory-box"/>
          <p:cNvSpPr/>
          <p:nvPr/>
        </p:nvSpPr>
        <p:spPr>
          <a:xfrm>
            <a:off x="4425696" y="1600200"/>
            <a:ext cx="3337560" cy="914400"/>
          </a:xfrm>
          <a:prstGeom prst="roundRect">
            <a:avLst>
              <a:gd name="adj" fmla="val 8000"/>
            </a:avLst>
          </a:prstGeom>
          <a:solidFill>
            <a:schemeClr val="tx2"/>
          </a:solidFill>
          <a:ln/>
        </p:spPr>
      </p:sp>
      <p:sp>
        <p:nvSpPr>
          <p:cNvPr id="10" name="text-229"/>
          <p:cNvSpPr txBox="1"/>
          <p:nvPr/>
        </p:nvSpPr>
        <p:spPr>
          <a:xfrm>
            <a:off x="4654296" y="1691640"/>
            <a:ext cx="2926080" cy="347472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buNone/>
            </a:pPr>
            <a:r>
              <a:rPr lang="zh-TW" altLang="en-US" sz="1600" b="1" dirty="0">
                <a:solidFill>
                  <a:schemeClr val="bg1"/>
                </a:solidFill>
              </a:rPr>
              <a:t>本 Session 最近一筆摘要</a:t>
            </a:r>
            <a:endParaRPr lang="zh-TW" sz="1600" dirty="0"/>
          </a:p>
        </p:txBody>
      </p:sp>
      <p:sp>
        <p:nvSpPr>
          <p:cNvPr id="11" name="text-230"/>
          <p:cNvSpPr txBox="1"/>
          <p:nvPr/>
        </p:nvSpPr>
        <p:spPr>
          <a:xfrm>
            <a:off x="4654296" y="2057400"/>
            <a:ext cx="2971800" cy="36576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buNone/>
            </a:pPr>
            <a:r>
              <a:rPr lang="zh-TW" altLang="en-US" sz="1200" dirty="0">
                <a:solidFill>
                  <a:schemeClr val="bg2"/>
                </a:solidFill>
              </a:rPr>
              <a:t>≤ 4,096 bytes，不含原文與先前同意</a:t>
            </a:r>
            <a:endParaRPr lang="zh-TW" sz="1200" dirty="0"/>
          </a:p>
        </p:txBody>
      </p:sp>
      <p:sp>
        <p:nvSpPr>
          <p:cNvPr id="12" name="arrow-231"/>
          <p:cNvSpPr/>
          <p:nvPr/>
        </p:nvSpPr>
        <p:spPr>
          <a:xfrm>
            <a:off x="7808976" y="2057400"/>
            <a:ext cx="448056" cy="0"/>
          </a:xfrm>
          <a:prstGeom prst="line">
            <a:avLst/>
          </a:prstGeom>
          <a:noFill/>
          <a:ln w="22225">
            <a:solidFill>
              <a:schemeClr val="accent6"/>
            </a:solidFill>
            <a:prstDash val="solid"/>
            <a:tailEnd type="triangle"/>
          </a:ln>
        </p:spPr>
      </p:sp>
      <p:sp>
        <p:nvSpPr>
          <p:cNvPr id="13" name="card-232"/>
          <p:cNvSpPr/>
          <p:nvPr/>
        </p:nvSpPr>
        <p:spPr>
          <a:xfrm>
            <a:off x="8302752" y="1600200"/>
            <a:ext cx="3337560" cy="914400"/>
          </a:xfrm>
          <a:prstGeom prst="roundRect">
            <a:avLst>
              <a:gd name="adj" fmla="val 8000"/>
            </a:avLst>
          </a:prstGeom>
          <a:solidFill>
            <a:schemeClr val="bg1"/>
          </a:solidFill>
          <a:ln w="12700">
            <a:solidFill>
              <a:schemeClr val="bg2"/>
            </a:solidFill>
            <a:prstDash val="solid"/>
          </a:ln>
          <a:effectLst>
            <a:outerShdw sx="100000" sy="100000" kx="0" ky="0" algn="bl" rotWithShape="0" blurRad="127000" dist="25400" dir="5400000">
              <a:srgbClr val="1A2233">
                <a:alpha val="10000"/>
              </a:srgbClr>
            </a:outerShdw>
          </a:effectLst>
        </p:spPr>
      </p:sp>
      <p:sp>
        <p:nvSpPr>
          <p:cNvPr id="14" name="text-233"/>
          <p:cNvSpPr txBox="1"/>
          <p:nvPr/>
        </p:nvSpPr>
        <p:spPr>
          <a:xfrm>
            <a:off x="8531352" y="1691640"/>
            <a:ext cx="2926080" cy="347472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buNone/>
            </a:pPr>
            <a:r>
              <a:rPr lang="zh-TW" altLang="en-US" sz="1600" b="1" dirty="0">
                <a:solidFill>
                  <a:schemeClr val="tx1"/>
                </a:solidFill>
              </a:rPr>
              <a:t>下次模型 context</a:t>
            </a:r>
            <a:endParaRPr lang="zh-TW" sz="1600" dirty="0"/>
          </a:p>
        </p:txBody>
      </p:sp>
      <p:sp>
        <p:nvSpPr>
          <p:cNvPr id="15" name="text-234"/>
          <p:cNvSpPr txBox="1"/>
          <p:nvPr/>
        </p:nvSpPr>
        <p:spPr>
          <a:xfrm>
            <a:off x="8531352" y="2057400"/>
            <a:ext cx="2971800" cy="36576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buNone/>
            </a:pPr>
            <a:r>
              <a:rPr lang="zh-TW" altLang="en-US" sz="1200" dirty="0">
                <a:solidFill>
                  <a:schemeClr val="accent6"/>
                </a:solidFill>
              </a:rPr>
              <a:t>先核對 owner 與來源版本</a:t>
            </a:r>
            <a:endParaRPr lang="zh-TW" sz="1200" dirty="0"/>
          </a:p>
        </p:txBody>
      </p:sp>
      <p:sp>
        <p:nvSpPr>
          <p:cNvPr id="16" name="text-235"/>
          <p:cNvSpPr txBox="1"/>
          <p:nvPr/>
        </p:nvSpPr>
        <p:spPr>
          <a:xfrm>
            <a:off x="548640" y="2834640"/>
            <a:ext cx="5303520" cy="347472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buNone/>
            </a:pPr>
            <a:r>
              <a:rPr lang="zh-TW" altLang="en-US" sz="1700" b="1" dirty="0">
                <a:solidFill>
                  <a:schemeClr val="tx1"/>
                </a:solidFill>
              </a:rPr>
              <a:t>三種情況會切斷記憶</a:t>
            </a:r>
            <a:endParaRPr lang="zh-TW" sz="1700" dirty="0"/>
          </a:p>
        </p:txBody>
      </p:sp>
      <p:sp>
        <p:nvSpPr>
          <p:cNvPr id="17" name="icon-bg-236"/>
          <p:cNvSpPr/>
          <p:nvPr/>
        </p:nvSpPr>
        <p:spPr>
          <a:xfrm>
            <a:off x="548640" y="3310128"/>
            <a:ext cx="402336" cy="402336"/>
          </a:xfrm>
          <a:prstGeom prst="ellipse">
            <a:avLst/>
          </a:prstGeom>
          <a:solidFill>
            <a:schemeClr val="accent5"/>
          </a:solidFill>
          <a:ln/>
        </p:spPr>
      </p:sp>
      <p:pic>
        <p:nvPicPr>
          <p:cNvPr id="18" name="icon-237" descr="Eraser">    </p:cNvPr>
          <p:cNvPicPr>
            <a:picLocks noChangeAspect="1"/>
          </p:cNvPicPr>
          <p:nvPr/>
        </p:nvPicPr>
        <p:blipFill>
          <a:blip r:embed="rId1"/>
          <a:stretch>
            <a:fillRect/>
          </a:stretch>
        </p:blipFill>
        <p:spPr>
          <a:xfrm>
            <a:off x="645201" y="3406689"/>
            <a:ext cx="209215" cy="209215"/>
          </a:xfrm>
          <a:prstGeom prst="rect">
            <a:avLst/>
          </a:prstGeom>
        </p:spPr>
      </p:pic>
      <p:sp>
        <p:nvSpPr>
          <p:cNvPr id="19" name="text-238"/>
          <p:cNvSpPr txBox="1"/>
          <p:nvPr/>
        </p:nvSpPr>
        <p:spPr>
          <a:xfrm>
            <a:off x="1097280" y="3310128"/>
            <a:ext cx="4663440" cy="402336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zh-TW" altLang="en-US" sz="1500" dirty="0">
                <a:solidFill>
                  <a:schemeClr val="tx1"/>
                </a:solidFill>
              </a:rPr>
              <a:t>清除對話，開始新 Session</a:t>
            </a:r>
            <a:endParaRPr lang="zh-TW" sz="1500" dirty="0"/>
          </a:p>
        </p:txBody>
      </p:sp>
      <p:sp>
        <p:nvSpPr>
          <p:cNvPr id="20" name="icon-bg-239"/>
          <p:cNvSpPr/>
          <p:nvPr/>
        </p:nvSpPr>
        <p:spPr>
          <a:xfrm>
            <a:off x="548640" y="3858768"/>
            <a:ext cx="402336" cy="402336"/>
          </a:xfrm>
          <a:prstGeom prst="ellipse">
            <a:avLst/>
          </a:prstGeom>
          <a:solidFill>
            <a:schemeClr val="accent5"/>
          </a:solidFill>
          <a:ln/>
        </p:spPr>
      </p:sp>
      <p:pic>
        <p:nvPicPr>
          <p:cNvPr id="21" name="icon-240" descr="UserX">    </p:cNvPr>
          <p:cNvPicPr>
            <a:picLocks noChangeAspect="1"/>
          </p:cNvPicPr>
          <p:nvPr/>
        </p:nvPicPr>
        <p:blipFill>
          <a:blip r:embed="rId2"/>
          <a:stretch>
            <a:fillRect/>
          </a:stretch>
        </p:blipFill>
        <p:spPr>
          <a:xfrm>
            <a:off x="645201" y="3955329"/>
            <a:ext cx="209215" cy="209215"/>
          </a:xfrm>
          <a:prstGeom prst="rect">
            <a:avLst/>
          </a:prstGeom>
        </p:spPr>
      </p:pic>
      <p:sp>
        <p:nvSpPr>
          <p:cNvPr id="22" name="text-241"/>
          <p:cNvSpPr txBox="1"/>
          <p:nvPr/>
        </p:nvSpPr>
        <p:spPr>
          <a:xfrm>
            <a:off x="1097280" y="3858768"/>
            <a:ext cx="4663440" cy="402336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zh-TW" altLang="en-US" sz="1500" dirty="0">
                <a:solidFill>
                  <a:schemeClr val="tx1"/>
                </a:solidFill>
              </a:rPr>
              <a:t>換成另一位使用者</a:t>
            </a:r>
            <a:endParaRPr lang="zh-TW" sz="1500" dirty="0"/>
          </a:p>
        </p:txBody>
      </p:sp>
      <p:sp>
        <p:nvSpPr>
          <p:cNvPr id="23" name="icon-bg-242"/>
          <p:cNvSpPr/>
          <p:nvPr/>
        </p:nvSpPr>
        <p:spPr>
          <a:xfrm>
            <a:off x="548640" y="4407408"/>
            <a:ext cx="402336" cy="402336"/>
          </a:xfrm>
          <a:prstGeom prst="ellipse">
            <a:avLst/>
          </a:prstGeom>
          <a:solidFill>
            <a:schemeClr val="accent5"/>
          </a:solidFill>
          <a:ln/>
        </p:spPr>
      </p:sp>
      <p:pic>
        <p:nvPicPr>
          <p:cNvPr id="24" name="icon-243" descr="RefreshCw">    </p:cNvPr>
          <p:cNvPicPr>
            <a:picLocks noChangeAspect="1"/>
          </p:cNvPicPr>
          <p:nvPr/>
        </p:nvPicPr>
        <p:blipFill>
          <a:blip r:embed="rId3"/>
          <a:stretch>
            <a:fillRect/>
          </a:stretch>
        </p:blipFill>
        <p:spPr>
          <a:xfrm>
            <a:off x="645201" y="4503969"/>
            <a:ext cx="209215" cy="209215"/>
          </a:xfrm>
          <a:prstGeom prst="rect">
            <a:avLst/>
          </a:prstGeom>
        </p:spPr>
      </p:pic>
      <p:sp>
        <p:nvSpPr>
          <p:cNvPr id="25" name="text-244"/>
          <p:cNvSpPr txBox="1"/>
          <p:nvPr/>
        </p:nvSpPr>
        <p:spPr>
          <a:xfrm>
            <a:off x="1097280" y="4407408"/>
            <a:ext cx="4663440" cy="402336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zh-TW" altLang="en-US" sz="1500" dirty="0">
                <a:solidFill>
                  <a:schemeClr val="tx1"/>
                </a:solidFill>
              </a:rPr>
              <a:t>來源更新為 v2（hash 改變）</a:t>
            </a:r>
            <a:endParaRPr lang="zh-TW" sz="1500" dirty="0"/>
          </a:p>
        </p:txBody>
      </p:sp>
      <p:sp>
        <p:nvSpPr>
          <p:cNvPr id="26" name="memory-null"/>
          <p:cNvSpPr/>
          <p:nvPr/>
        </p:nvSpPr>
        <p:spPr>
          <a:xfrm>
            <a:off x="548640" y="5029200"/>
            <a:ext cx="5394960" cy="475488"/>
          </a:xfrm>
          <a:prstGeom prst="roundRect">
            <a:avLst>
              <a:gd name="adj" fmla="val 50000"/>
            </a:avLst>
          </a:prstGeom>
          <a:solidFill>
            <a:schemeClr val="tx2"/>
          </a:solidFill>
          <a:ln/>
        </p:spPr>
      </p:sp>
      <p:sp>
        <p:nvSpPr>
          <p:cNvPr id="27" name="text-245"/>
          <p:cNvSpPr txBox="1"/>
          <p:nvPr/>
        </p:nvSpPr>
        <p:spPr>
          <a:xfrm>
            <a:off x="777240" y="5029200"/>
            <a:ext cx="5029200" cy="47548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zh-TW" altLang="en-US" sz="1500" b="1" dirty="0">
                <a:solidFill>
                  <a:schemeClr val="bg1"/>
                </a:solidFill>
              </a:rPr>
              <a:t>→ context 回填 memory: null，舊提案失效</a:t>
            </a:r>
            <a:endParaRPr lang="zh-TW" sz="1500" dirty="0"/>
          </a:p>
        </p:txBody>
      </p:sp>
      <p:sp>
        <p:nvSpPr>
          <p:cNvPr id="28" name="text-246"/>
          <p:cNvSpPr txBox="1"/>
          <p:nvPr/>
        </p:nvSpPr>
        <p:spPr>
          <a:xfrm>
            <a:off x="548640" y="5669280"/>
            <a:ext cx="5394960" cy="329184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buNone/>
            </a:pPr>
            <a:r>
              <a:rPr lang="zh-TW" altLang="en-US" sz="1300" dirty="0">
                <a:solidFill>
                  <a:schemeClr val="accent6"/>
                </a:solidFill>
              </a:rPr>
              <a:t>清除 ≠ 刪除：既有草稿、交易與稽核紀錄仍保留在本機。</a:t>
            </a:r>
            <a:endParaRPr lang="zh-TW" sz="1300" dirty="0"/>
          </a:p>
        </p:txBody>
      </p:sp>
      <p:sp>
        <p:nvSpPr>
          <p:cNvPr id="29" name="shot-frame-247"/>
          <p:cNvSpPr/>
          <p:nvPr/>
        </p:nvSpPr>
        <p:spPr>
          <a:xfrm>
            <a:off x="6327648" y="2871216"/>
            <a:ext cx="5321808" cy="2970561"/>
          </a:xfrm>
          <a:prstGeom prst="roundRect">
            <a:avLst>
              <a:gd name="adj" fmla="val 1847"/>
            </a:avLst>
          </a:prstGeom>
          <a:solidFill>
            <a:schemeClr val="bg1"/>
          </a:solidFill>
          <a:ln w="12700">
            <a:solidFill>
              <a:schemeClr val="bg2"/>
            </a:solidFill>
            <a:prstDash val="solid"/>
          </a:ln>
          <a:effectLst>
            <a:outerShdw sx="100000" sy="100000" kx="0" ky="0" algn="bl" rotWithShape="0" blurRad="127000" dist="25400" dir="5400000">
              <a:srgbClr val="1A2233">
                <a:alpha val="10000"/>
              </a:srgbClr>
            </a:outerShdw>
          </a:effectLst>
        </p:spPr>
      </p:sp>
      <p:pic>
        <p:nvPicPr>
          <p:cNvPr id="30" name="screenshot-248" descr="2026-10-28 清除對話後新 Session 的記憶範圍，memory 為 null">    </p:cNvPr>
          <p:cNvPicPr>
            <a:picLocks noChangeAspect="1"/>
          </p:cNvPicPr>
          <p:nvPr/>
        </p:nvPicPr>
        <p:blipFill>
          <a:blip r:embed="rId4"/>
          <a:stretch>
            <a:fillRect/>
          </a:stretch>
        </p:blipFill>
        <p:spPr>
          <a:xfrm>
            <a:off x="6382512" y="2926080"/>
            <a:ext cx="5212080" cy="2860833"/>
          </a:xfrm>
          <a:prstGeom prst="rect">
            <a:avLst/>
          </a:prstGeom>
        </p:spPr>
      </p:pic>
      <p:sp>
        <p:nvSpPr>
          <p:cNvPr id="31" name="text-249"/>
          <p:cNvSpPr txBox="1"/>
          <p:nvPr/>
        </p:nvSpPr>
        <p:spPr>
          <a:xfrm>
            <a:off x="6382512" y="5852160"/>
            <a:ext cx="5212080" cy="27432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buNone/>
            </a:pPr>
            <a:r>
              <a:rPr lang="zh-TW" altLang="en-US" sz="1200" dirty="0">
                <a:solidFill>
                  <a:schemeClr val="accent6"/>
                </a:solidFill>
              </a:rPr>
              <a:t>實際畫面：清除後的新 Session（2026-10-28）</a:t>
            </a:r>
            <a:endParaRPr lang="zh-TW" sz="1200" dirty="0"/>
          </a:p>
        </p:txBody>
      </p:sp>
      <p:sp>
        <p:nvSpPr>
          <p:cNvPr id="25" name="Slide Number Placeholder 0"/>
          <p:cNvSpPr>
            <a:spLocks noGrp="1"/>
          </p:cNvSpPr>
          <p:nvPr>
            <p:ph type="sldNum" sz="quarter" idx="4294967295"/>
          </p:nvPr>
        </p:nvSpPr>
        <p:spPr>
          <a:xfrm>
            <a:off x="11091672" y="6400800"/>
            <a:ext cx="548640" cy="256032"/>
          </a:xfrm>
          <a:prstGeom prst="rect">
            <a:avLst/>
          </a:prstGeom>
          <a:extLst>
            <a:ext uri="{C572A759-6A51-4108-AA02-DFA0A04FC94B}">
              <ma14:wrappingTextBoxFlag xmlns:ma14="http://schemas.microsoft.com/office/mac/drawingml/2011/main" val="0"/>
            </a:ext>
          </a:extLst>
        </p:spPr>
        <p:txBody>
          <a:bodyPr/>
          <a:lstStyle>
            <a:lvl1pPr>
              <a:defRPr sz="1000">
                <a:solidFill>
                  <a:schemeClr val="accent6"/>
                </a:solidFill>
              </a:defRPr>
            </a:lvl1pPr>
          </a:lstStyle>
          <a:p>
            <a:pPr algn="r"/>
            <a:fld id="{F7021451-1387-4CA6-816F-3879F97B5CBC}" type="slidenum">
              <a:rPr b="0" lang="en-US"/>
              <a:t>7</a:t>
            </a:fld>
            <a:endParaRPr lang="en-US"/>
          </a:p>
        </p:txBody>
      </p:sp>
    </p:spTree>
  </p:cSld>
  <p:clrMapOvr>
    <a:masterClrMapping/>
  </p:clrMapOvr>
</p:sld>
</file>

<file path=ppt/slides/slide8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8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ext 0"/>
          <p:cNvSpPr/>
          <p:nvPr>
            <p:ph idx="100" type="body" hasCustomPrompt="1"/>
          </p:nvPr>
        </p:nvSpPr>
        <p:spPr>
          <a:xfrm>
            <a:off x="548640" y="365760"/>
            <a:ext cx="8778240" cy="27432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algn="l" indent="0" marL="0">
              <a:buNone/>
            </a:pPr>
            <a:r>
              <a:rPr lang="zh-TW" altLang="en-US" sz="1300" b="1" dirty="0">
                <a:solidFill>
                  <a:schemeClr val="accent6"/>
                </a:solidFill>
              </a:rPr>
              <a:t>真實介面 · OPENAI · 2026-10-28</a:t>
            </a:r>
            <a:endParaRPr lang="zh-TW" sz="1300" dirty="0"/>
          </a:p>
        </p:txBody>
      </p:sp>
      <p:sp>
        <p:nvSpPr>
          <p:cNvPr id="3" name="Text 0"/>
          <p:cNvSpPr/>
          <p:nvPr>
            <p:ph idx="101" type="title" hasCustomPrompt="1"/>
          </p:nvPr>
        </p:nvSpPr>
        <p:spPr>
          <a:xfrm>
            <a:off x="548640" y="658368"/>
            <a:ext cx="11064240" cy="68580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algn="l" indent="0" marL="0">
              <a:buNone/>
            </a:pPr>
            <a:r>
              <a:rPr lang="zh-TW" altLang="en-US" sz="3000" b="1" dirty="0">
                <a:solidFill>
                  <a:schemeClr val="tx1"/>
                </a:solidFill>
              </a:rPr>
              <a:t>示範：使用者按下確認後，才寫入一份草稿</a:t>
            </a:r>
            <a:endParaRPr lang="zh-TW" sz="3000" dirty="0"/>
          </a:p>
        </p:txBody>
      </p:sp>
      <p:sp>
        <p:nvSpPr>
          <p:cNvPr id="5" name="step-dot-250"/>
          <p:cNvSpPr/>
          <p:nvPr/>
        </p:nvSpPr>
        <p:spPr>
          <a:xfrm>
            <a:off x="548640" y="1645920"/>
            <a:ext cx="420624" cy="420624"/>
          </a:xfrm>
          <a:prstGeom prst="ellipse">
            <a:avLst/>
          </a:prstGeom>
          <a:solidFill>
            <a:schemeClr val="accent2"/>
          </a:solidFill>
          <a:ln/>
        </p:spPr>
      </p:sp>
      <p:sp>
        <p:nvSpPr>
          <p:cNvPr id="6" name="text-251"/>
          <p:cNvSpPr txBox="1"/>
          <p:nvPr/>
        </p:nvSpPr>
        <p:spPr>
          <a:xfrm>
            <a:off x="548640" y="1645920"/>
            <a:ext cx="420624" cy="420624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zh-TW" altLang="en-US" sz="1500" b="1" dirty="0">
                <a:solidFill>
                  <a:schemeClr val="bg1"/>
                </a:solidFill>
              </a:rPr>
              <a:t>1</a:t>
            </a:r>
            <a:endParaRPr lang="zh-TW" sz="1500" dirty="0"/>
          </a:p>
        </p:txBody>
      </p:sp>
      <p:sp>
        <p:nvSpPr>
          <p:cNvPr id="7" name="text-252"/>
          <p:cNvSpPr txBox="1"/>
          <p:nvPr/>
        </p:nvSpPr>
        <p:spPr>
          <a:xfrm>
            <a:off x="1143000" y="1645920"/>
            <a:ext cx="4343400" cy="420624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zh-TW" altLang="en-US" sz="1600" dirty="0">
                <a:solidFill>
                  <a:schemeClr val="tx1"/>
                </a:solidFill>
              </a:rPr>
              <a:t>提出補件需求</a:t>
            </a:r>
            <a:endParaRPr lang="zh-TW" sz="1600" dirty="0"/>
          </a:p>
        </p:txBody>
      </p:sp>
      <p:sp>
        <p:nvSpPr>
          <p:cNvPr id="8" name="tag-253"/>
          <p:cNvSpPr/>
          <p:nvPr/>
        </p:nvSpPr>
        <p:spPr>
          <a:xfrm>
            <a:off x="5577840" y="1719072"/>
            <a:ext cx="694944" cy="262128"/>
          </a:xfrm>
          <a:prstGeom prst="roundRect">
            <a:avLst>
              <a:gd name="adj" fmla="val 50000"/>
            </a:avLst>
          </a:prstGeom>
          <a:solidFill>
            <a:schemeClr val="bg1"/>
          </a:solidFill>
          <a:ln w="12700">
            <a:solidFill>
              <a:schemeClr val="accent2"/>
            </a:solidFill>
            <a:prstDash val="solid"/>
          </a:ln>
        </p:spPr>
      </p:sp>
      <p:sp>
        <p:nvSpPr>
          <p:cNvPr id="9" name="tag-text-254"/>
          <p:cNvSpPr txBox="1"/>
          <p:nvPr/>
        </p:nvSpPr>
        <p:spPr>
          <a:xfrm>
            <a:off x="5577840" y="1719072"/>
            <a:ext cx="694944" cy="26212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zh-TW" altLang="en-US" sz="1200" b="1" dirty="0">
                <a:solidFill>
                  <a:schemeClr val="accent2"/>
                </a:solidFill>
              </a:rPr>
              <a:t>使用者</a:t>
            </a:r>
            <a:endParaRPr lang="zh-TW" sz="1200" dirty="0"/>
          </a:p>
        </p:txBody>
      </p:sp>
      <p:sp>
        <p:nvSpPr>
          <p:cNvPr id="10" name="step-dot-255"/>
          <p:cNvSpPr/>
          <p:nvPr/>
        </p:nvSpPr>
        <p:spPr>
          <a:xfrm>
            <a:off x="548640" y="2267712"/>
            <a:ext cx="420624" cy="420624"/>
          </a:xfrm>
          <a:prstGeom prst="ellipse">
            <a:avLst/>
          </a:prstGeom>
          <a:solidFill>
            <a:schemeClr val="accent4"/>
          </a:solidFill>
          <a:ln/>
        </p:spPr>
      </p:sp>
      <p:sp>
        <p:nvSpPr>
          <p:cNvPr id="11" name="text-256"/>
          <p:cNvSpPr txBox="1"/>
          <p:nvPr/>
        </p:nvSpPr>
        <p:spPr>
          <a:xfrm>
            <a:off x="548640" y="2267712"/>
            <a:ext cx="420624" cy="420624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zh-TW" altLang="en-US" sz="1500" b="1" dirty="0">
                <a:solidFill>
                  <a:schemeClr val="bg1"/>
                </a:solidFill>
              </a:rPr>
              <a:t>2</a:t>
            </a:r>
            <a:endParaRPr lang="zh-TW" sz="1500" dirty="0"/>
          </a:p>
        </p:txBody>
      </p:sp>
      <p:sp>
        <p:nvSpPr>
          <p:cNvPr id="12" name="text-257"/>
          <p:cNvSpPr txBox="1"/>
          <p:nvPr/>
        </p:nvSpPr>
        <p:spPr>
          <a:xfrm>
            <a:off x="1143000" y="2267712"/>
            <a:ext cx="4343400" cy="420624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zh-TW" altLang="en-US" sz="1600" dirty="0">
                <a:solidFill>
                  <a:schemeClr val="tx1"/>
                </a:solidFill>
              </a:rPr>
              <a:t>呼叫查詢工具 get_submission_review</a:t>
            </a:r>
            <a:endParaRPr lang="zh-TW" sz="1600" dirty="0"/>
          </a:p>
        </p:txBody>
      </p:sp>
      <p:sp>
        <p:nvSpPr>
          <p:cNvPr id="13" name="tag-258"/>
          <p:cNvSpPr/>
          <p:nvPr/>
        </p:nvSpPr>
        <p:spPr>
          <a:xfrm>
            <a:off x="5577840" y="2340864"/>
            <a:ext cx="502920" cy="262128"/>
          </a:xfrm>
          <a:prstGeom prst="roundRect">
            <a:avLst>
              <a:gd name="adj" fmla="val 50000"/>
            </a:avLst>
          </a:prstGeom>
          <a:solidFill>
            <a:schemeClr val="bg1"/>
          </a:solidFill>
          <a:ln w="12700">
            <a:solidFill>
              <a:schemeClr val="accent4"/>
            </a:solidFill>
            <a:prstDash val="solid"/>
          </a:ln>
        </p:spPr>
      </p:sp>
      <p:sp>
        <p:nvSpPr>
          <p:cNvPr id="14" name="tag-text-259"/>
          <p:cNvSpPr txBox="1"/>
          <p:nvPr/>
        </p:nvSpPr>
        <p:spPr>
          <a:xfrm>
            <a:off x="5577840" y="2340864"/>
            <a:ext cx="502920" cy="26212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zh-TW" altLang="en-US" sz="1200" b="1" dirty="0">
                <a:solidFill>
                  <a:schemeClr val="accent4"/>
                </a:solidFill>
              </a:rPr>
              <a:t>GPT</a:t>
            </a:r>
            <a:endParaRPr lang="zh-TW" sz="1200" dirty="0"/>
          </a:p>
        </p:txBody>
      </p:sp>
      <p:sp>
        <p:nvSpPr>
          <p:cNvPr id="15" name="step-dot-260"/>
          <p:cNvSpPr/>
          <p:nvPr/>
        </p:nvSpPr>
        <p:spPr>
          <a:xfrm>
            <a:off x="548640" y="2889504"/>
            <a:ext cx="420624" cy="420624"/>
          </a:xfrm>
          <a:prstGeom prst="ellipse">
            <a:avLst/>
          </a:prstGeom>
          <a:solidFill>
            <a:schemeClr val="tx2"/>
          </a:solidFill>
          <a:ln/>
        </p:spPr>
      </p:sp>
      <p:sp>
        <p:nvSpPr>
          <p:cNvPr id="16" name="text-261"/>
          <p:cNvSpPr txBox="1"/>
          <p:nvPr/>
        </p:nvSpPr>
        <p:spPr>
          <a:xfrm>
            <a:off x="548640" y="2889504"/>
            <a:ext cx="420624" cy="420624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zh-TW" altLang="en-US" sz="1500" b="1" dirty="0">
                <a:solidFill>
                  <a:schemeClr val="bg1"/>
                </a:solidFill>
              </a:rPr>
              <a:t>3</a:t>
            </a:r>
            <a:endParaRPr lang="zh-TW" sz="1500" dirty="0"/>
          </a:p>
        </p:txBody>
      </p:sp>
      <p:sp>
        <p:nvSpPr>
          <p:cNvPr id="17" name="text-262"/>
          <p:cNvSpPr txBox="1"/>
          <p:nvPr/>
        </p:nvSpPr>
        <p:spPr>
          <a:xfrm>
            <a:off x="1143000" y="2889504"/>
            <a:ext cx="4343400" cy="420624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zh-TW" altLang="en-US" sz="1600" dirty="0">
                <a:solidFill>
                  <a:schemeClr val="tx1"/>
                </a:solidFill>
              </a:rPr>
              <a:t>驗證參數、查來源並回填結果</a:t>
            </a:r>
            <a:endParaRPr lang="zh-TW" sz="1600" dirty="0"/>
          </a:p>
        </p:txBody>
      </p:sp>
      <p:sp>
        <p:nvSpPr>
          <p:cNvPr id="18" name="tag-263"/>
          <p:cNvSpPr/>
          <p:nvPr/>
        </p:nvSpPr>
        <p:spPr>
          <a:xfrm>
            <a:off x="5577840" y="2962656"/>
            <a:ext cx="591312" cy="262128"/>
          </a:xfrm>
          <a:prstGeom prst="roundRect">
            <a:avLst>
              <a:gd name="adj" fmla="val 50000"/>
            </a:avLst>
          </a:prstGeom>
          <a:solidFill>
            <a:schemeClr val="bg1"/>
          </a:solidFill>
          <a:ln w="12700">
            <a:solidFill>
              <a:schemeClr val="tx2"/>
            </a:solidFill>
            <a:prstDash val="solid"/>
          </a:ln>
        </p:spPr>
      </p:sp>
      <p:sp>
        <p:nvSpPr>
          <p:cNvPr id="19" name="tag-text-264"/>
          <p:cNvSpPr txBox="1"/>
          <p:nvPr/>
        </p:nvSpPr>
        <p:spPr>
          <a:xfrm>
            <a:off x="5577840" y="2962656"/>
            <a:ext cx="591312" cy="26212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zh-TW" altLang="en-US" sz="1200" b="1" dirty="0">
                <a:solidFill>
                  <a:schemeClr val="tx2"/>
                </a:solidFill>
              </a:rPr>
              <a:t>Host</a:t>
            </a:r>
            <a:endParaRPr lang="zh-TW" sz="1200" dirty="0"/>
          </a:p>
        </p:txBody>
      </p:sp>
      <p:sp>
        <p:nvSpPr>
          <p:cNvPr id="20" name="step-dot-265"/>
          <p:cNvSpPr/>
          <p:nvPr/>
        </p:nvSpPr>
        <p:spPr>
          <a:xfrm>
            <a:off x="548640" y="3511296"/>
            <a:ext cx="420624" cy="420624"/>
          </a:xfrm>
          <a:prstGeom prst="ellipse">
            <a:avLst/>
          </a:prstGeom>
          <a:solidFill>
            <a:schemeClr val="accent4"/>
          </a:solidFill>
          <a:ln/>
        </p:spPr>
      </p:sp>
      <p:sp>
        <p:nvSpPr>
          <p:cNvPr id="21" name="text-266"/>
          <p:cNvSpPr txBox="1"/>
          <p:nvPr/>
        </p:nvSpPr>
        <p:spPr>
          <a:xfrm>
            <a:off x="548640" y="3511296"/>
            <a:ext cx="420624" cy="420624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zh-TW" altLang="en-US" sz="1500" b="1" dirty="0">
                <a:solidFill>
                  <a:schemeClr val="bg1"/>
                </a:solidFill>
              </a:rPr>
              <a:t>4</a:t>
            </a:r>
            <a:endParaRPr lang="zh-TW" sz="1500" dirty="0"/>
          </a:p>
        </p:txBody>
      </p:sp>
      <p:sp>
        <p:nvSpPr>
          <p:cNvPr id="22" name="text-267"/>
          <p:cNvSpPr txBox="1"/>
          <p:nvPr/>
        </p:nvSpPr>
        <p:spPr>
          <a:xfrm>
            <a:off x="1143000" y="3511296"/>
            <a:ext cx="4343400" cy="420624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zh-TW" altLang="en-US" sz="1600" dirty="0">
                <a:solidFill>
                  <a:schemeClr val="tx1"/>
                </a:solidFill>
              </a:rPr>
              <a:t>提出草稿工具（此時尚未寫入）</a:t>
            </a:r>
            <a:endParaRPr lang="zh-TW" sz="1600" dirty="0"/>
          </a:p>
        </p:txBody>
      </p:sp>
      <p:sp>
        <p:nvSpPr>
          <p:cNvPr id="23" name="tag-268"/>
          <p:cNvSpPr/>
          <p:nvPr/>
        </p:nvSpPr>
        <p:spPr>
          <a:xfrm>
            <a:off x="5577840" y="3584448"/>
            <a:ext cx="502920" cy="262128"/>
          </a:xfrm>
          <a:prstGeom prst="roundRect">
            <a:avLst>
              <a:gd name="adj" fmla="val 50000"/>
            </a:avLst>
          </a:prstGeom>
          <a:solidFill>
            <a:schemeClr val="bg1"/>
          </a:solidFill>
          <a:ln w="12700">
            <a:solidFill>
              <a:schemeClr val="accent4"/>
            </a:solidFill>
            <a:prstDash val="solid"/>
          </a:ln>
        </p:spPr>
      </p:sp>
      <p:sp>
        <p:nvSpPr>
          <p:cNvPr id="24" name="tag-text-269"/>
          <p:cNvSpPr txBox="1"/>
          <p:nvPr/>
        </p:nvSpPr>
        <p:spPr>
          <a:xfrm>
            <a:off x="5577840" y="3584448"/>
            <a:ext cx="502920" cy="26212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zh-TW" altLang="en-US" sz="1200" b="1" dirty="0">
                <a:solidFill>
                  <a:schemeClr val="accent4"/>
                </a:solidFill>
              </a:rPr>
              <a:t>GPT</a:t>
            </a:r>
            <a:endParaRPr lang="zh-TW" sz="1200" dirty="0"/>
          </a:p>
        </p:txBody>
      </p:sp>
      <p:sp>
        <p:nvSpPr>
          <p:cNvPr id="25" name="highlight-step"/>
          <p:cNvSpPr/>
          <p:nvPr/>
        </p:nvSpPr>
        <p:spPr>
          <a:xfrm>
            <a:off x="411480" y="4041648"/>
            <a:ext cx="6309360" cy="603504"/>
          </a:xfrm>
          <a:prstGeom prst="roundRect">
            <a:avLst>
              <a:gd name="adj" fmla="val 15152"/>
            </a:avLst>
          </a:prstGeom>
          <a:solidFill>
            <a:schemeClr val="accent1">
              <a:alpha val="35000"/>
            </a:schemeClr>
          </a:solidFill>
          <a:ln/>
        </p:spPr>
      </p:sp>
      <p:sp>
        <p:nvSpPr>
          <p:cNvPr id="26" name="step-dot-270"/>
          <p:cNvSpPr/>
          <p:nvPr/>
        </p:nvSpPr>
        <p:spPr>
          <a:xfrm>
            <a:off x="548640" y="4133088"/>
            <a:ext cx="420624" cy="420624"/>
          </a:xfrm>
          <a:prstGeom prst="ellipse">
            <a:avLst/>
          </a:prstGeom>
          <a:solidFill>
            <a:schemeClr val="accent2"/>
          </a:solidFill>
          <a:ln/>
        </p:spPr>
      </p:sp>
      <p:sp>
        <p:nvSpPr>
          <p:cNvPr id="27" name="text-271"/>
          <p:cNvSpPr txBox="1"/>
          <p:nvPr/>
        </p:nvSpPr>
        <p:spPr>
          <a:xfrm>
            <a:off x="548640" y="4133088"/>
            <a:ext cx="420624" cy="420624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zh-TW" altLang="en-US" sz="1500" b="1" dirty="0">
                <a:solidFill>
                  <a:schemeClr val="bg1"/>
                </a:solidFill>
              </a:rPr>
              <a:t>5</a:t>
            </a:r>
            <a:endParaRPr lang="zh-TW" sz="1500" dirty="0"/>
          </a:p>
        </p:txBody>
      </p:sp>
      <p:sp>
        <p:nvSpPr>
          <p:cNvPr id="28" name="text-272"/>
          <p:cNvSpPr txBox="1"/>
          <p:nvPr/>
        </p:nvSpPr>
        <p:spPr>
          <a:xfrm>
            <a:off x="1143000" y="4133088"/>
            <a:ext cx="4343400" cy="420624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zh-TW" altLang="en-US" sz="1600" b="1" dirty="0">
                <a:solidFill>
                  <a:schemeClr val="tx1"/>
                </a:solidFill>
              </a:rPr>
              <a:t>按下確認，Host 才寫入 SQLite</a:t>
            </a:r>
            <a:endParaRPr lang="zh-TW" sz="1600" dirty="0"/>
          </a:p>
        </p:txBody>
      </p:sp>
      <p:sp>
        <p:nvSpPr>
          <p:cNvPr id="29" name="tag-273"/>
          <p:cNvSpPr/>
          <p:nvPr/>
        </p:nvSpPr>
        <p:spPr>
          <a:xfrm>
            <a:off x="5577840" y="4206240"/>
            <a:ext cx="694944" cy="262128"/>
          </a:xfrm>
          <a:prstGeom prst="roundRect">
            <a:avLst>
              <a:gd name="adj" fmla="val 50000"/>
            </a:avLst>
          </a:prstGeom>
          <a:solidFill>
            <a:schemeClr val="bg1"/>
          </a:solidFill>
          <a:ln w="12700">
            <a:solidFill>
              <a:schemeClr val="accent2"/>
            </a:solidFill>
            <a:prstDash val="solid"/>
          </a:ln>
        </p:spPr>
      </p:sp>
      <p:sp>
        <p:nvSpPr>
          <p:cNvPr id="30" name="tag-text-274"/>
          <p:cNvSpPr txBox="1"/>
          <p:nvPr/>
        </p:nvSpPr>
        <p:spPr>
          <a:xfrm>
            <a:off x="5577840" y="4206240"/>
            <a:ext cx="694944" cy="26212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zh-TW" altLang="en-US" sz="1200" b="1" dirty="0">
                <a:solidFill>
                  <a:schemeClr val="accent2"/>
                </a:solidFill>
              </a:rPr>
              <a:t>使用者</a:t>
            </a:r>
            <a:endParaRPr lang="zh-TW" sz="1200" dirty="0"/>
          </a:p>
        </p:txBody>
      </p:sp>
      <p:sp>
        <p:nvSpPr>
          <p:cNvPr id="31" name="step-dot-275"/>
          <p:cNvSpPr/>
          <p:nvPr/>
        </p:nvSpPr>
        <p:spPr>
          <a:xfrm>
            <a:off x="548640" y="4754880"/>
            <a:ext cx="420624" cy="420624"/>
          </a:xfrm>
          <a:prstGeom prst="ellipse">
            <a:avLst/>
          </a:prstGeom>
          <a:solidFill>
            <a:schemeClr val="tx2"/>
          </a:solidFill>
          <a:ln/>
        </p:spPr>
      </p:sp>
      <p:sp>
        <p:nvSpPr>
          <p:cNvPr id="32" name="text-276"/>
          <p:cNvSpPr txBox="1"/>
          <p:nvPr/>
        </p:nvSpPr>
        <p:spPr>
          <a:xfrm>
            <a:off x="548640" y="4754880"/>
            <a:ext cx="420624" cy="420624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zh-TW" altLang="en-US" sz="1500" b="1" dirty="0">
                <a:solidFill>
                  <a:schemeClr val="bg1"/>
                </a:solidFill>
              </a:rPr>
              <a:t>6</a:t>
            </a:r>
            <a:endParaRPr lang="zh-TW" sz="1500" dirty="0"/>
          </a:p>
        </p:txBody>
      </p:sp>
      <p:sp>
        <p:nvSpPr>
          <p:cNvPr id="33" name="text-277"/>
          <p:cNvSpPr txBox="1"/>
          <p:nvPr/>
        </p:nvSpPr>
        <p:spPr>
          <a:xfrm>
            <a:off x="1143000" y="4754880"/>
            <a:ext cx="4343400" cy="420624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zh-TW" altLang="en-US" sz="1600" dirty="0">
                <a:solidFill>
                  <a:schemeClr val="tx1"/>
                </a:solidFill>
              </a:rPr>
              <a:t>收據回填 GPT，核對摘要後回傳</a:t>
            </a:r>
            <a:endParaRPr lang="zh-TW" sz="1600" dirty="0"/>
          </a:p>
        </p:txBody>
      </p:sp>
      <p:sp>
        <p:nvSpPr>
          <p:cNvPr id="34" name="tag-278"/>
          <p:cNvSpPr/>
          <p:nvPr/>
        </p:nvSpPr>
        <p:spPr>
          <a:xfrm>
            <a:off x="5577840" y="4828032"/>
            <a:ext cx="591312" cy="262128"/>
          </a:xfrm>
          <a:prstGeom prst="roundRect">
            <a:avLst>
              <a:gd name="adj" fmla="val 50000"/>
            </a:avLst>
          </a:prstGeom>
          <a:solidFill>
            <a:schemeClr val="bg1"/>
          </a:solidFill>
          <a:ln w="12700">
            <a:solidFill>
              <a:schemeClr val="tx2"/>
            </a:solidFill>
            <a:prstDash val="solid"/>
          </a:ln>
        </p:spPr>
      </p:sp>
      <p:sp>
        <p:nvSpPr>
          <p:cNvPr id="35" name="tag-text-279"/>
          <p:cNvSpPr txBox="1"/>
          <p:nvPr/>
        </p:nvSpPr>
        <p:spPr>
          <a:xfrm>
            <a:off x="5577840" y="4828032"/>
            <a:ext cx="591312" cy="26212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zh-TW" altLang="en-US" sz="1200" b="1" dirty="0">
                <a:solidFill>
                  <a:schemeClr val="tx2"/>
                </a:solidFill>
              </a:rPr>
              <a:t>Host</a:t>
            </a:r>
            <a:endParaRPr lang="zh-TW" sz="1200" dirty="0"/>
          </a:p>
        </p:txBody>
      </p:sp>
      <p:sp>
        <p:nvSpPr>
          <p:cNvPr id="36" name="card-280"/>
          <p:cNvSpPr/>
          <p:nvPr/>
        </p:nvSpPr>
        <p:spPr>
          <a:xfrm>
            <a:off x="548640" y="5440680"/>
            <a:ext cx="6035040" cy="731520"/>
          </a:xfrm>
          <a:prstGeom prst="roundRect">
            <a:avLst>
              <a:gd name="adj" fmla="val 10000"/>
            </a:avLst>
          </a:prstGeom>
          <a:solidFill>
            <a:schemeClr val="bg2"/>
          </a:solidFill>
          <a:ln/>
        </p:spPr>
      </p:sp>
      <p:sp>
        <p:nvSpPr>
          <p:cNvPr id="37" name="chip-pass-281"/>
          <p:cNvSpPr/>
          <p:nvPr/>
        </p:nvSpPr>
        <p:spPr>
          <a:xfrm>
            <a:off x="777240" y="5641848"/>
            <a:ext cx="1368704" cy="311404"/>
          </a:xfrm>
          <a:prstGeom prst="roundRect">
            <a:avLst>
              <a:gd name="adj" fmla="val 50000"/>
            </a:avLst>
          </a:prstGeom>
          <a:solidFill>
            <a:schemeClr val="accent2"/>
          </a:solidFill>
          <a:ln/>
        </p:spPr>
      </p:sp>
      <p:pic>
        <p:nvPicPr>
          <p:cNvPr id="38" name="chip-icon-282" descr="LIVE_PASS">    </p:cNvPr>
          <p:cNvPicPr>
            <a:picLocks noChangeAspect="1"/>
          </p:cNvPicPr>
          <p:nvPr/>
        </p:nvPicPr>
        <p:blipFill>
          <a:blip r:embed="rId1"/>
          <a:stretch>
            <a:fillRect/>
          </a:stretch>
        </p:blipFill>
        <p:spPr>
          <a:xfrm>
            <a:off x="886968" y="5704129"/>
            <a:ext cx="186842" cy="186842"/>
          </a:xfrm>
          <a:prstGeom prst="rect">
            <a:avLst/>
          </a:prstGeom>
        </p:spPr>
      </p:pic>
      <p:sp>
        <p:nvSpPr>
          <p:cNvPr id="39" name="chip-text-283"/>
          <p:cNvSpPr txBox="1"/>
          <p:nvPr/>
        </p:nvSpPr>
        <p:spPr>
          <a:xfrm>
            <a:off x="1137818" y="5641848"/>
            <a:ext cx="998982" cy="311404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zh-TW" altLang="en-US" sz="1300" b="1" dirty="0">
                <a:solidFill>
                  <a:schemeClr val="bg1"/>
                </a:solidFill>
              </a:rPr>
              <a:t>LIVE_PASS</a:t>
            </a:r>
            <a:endParaRPr lang="zh-TW" sz="1300" dirty="0"/>
          </a:p>
        </p:txBody>
      </p:sp>
      <p:sp>
        <p:nvSpPr>
          <p:cNvPr id="40" name="text-284"/>
          <p:cNvSpPr txBox="1"/>
          <p:nvPr/>
        </p:nvSpPr>
        <p:spPr>
          <a:xfrm>
            <a:off x="2328824" y="5440680"/>
            <a:ext cx="4480560" cy="7315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zh-TW" altLang="en-US" sz="1600" b="1" dirty="0">
                <a:solidFill>
                  <a:schemeClr val="tx1"/>
                </a:solidFill>
              </a:rPr>
              <a:t>草稿 1 份；同一請求重送仍是 1 份</a:t>
            </a:r>
            <a:endParaRPr lang="zh-TW" sz="1600" dirty="0"/>
          </a:p>
        </p:txBody>
      </p:sp>
      <p:sp>
        <p:nvSpPr>
          <p:cNvPr id="41" name="shot-frame-285"/>
          <p:cNvSpPr/>
          <p:nvPr/>
        </p:nvSpPr>
        <p:spPr>
          <a:xfrm>
            <a:off x="7580376" y="1517904"/>
            <a:ext cx="3724552" cy="4636008"/>
          </a:xfrm>
          <a:prstGeom prst="roundRect">
            <a:avLst>
              <a:gd name="adj" fmla="val 1473"/>
            </a:avLst>
          </a:prstGeom>
          <a:solidFill>
            <a:schemeClr val="bg1"/>
          </a:solidFill>
          <a:ln w="12700">
            <a:solidFill>
              <a:schemeClr val="bg2"/>
            </a:solidFill>
            <a:prstDash val="solid"/>
          </a:ln>
          <a:effectLst>
            <a:outerShdw sx="100000" sy="100000" kx="0" ky="0" algn="bl" rotWithShape="0" blurRad="127000" dist="25400" dir="5400000">
              <a:srgbClr val="1A2233">
                <a:alpha val="10000"/>
              </a:srgbClr>
            </a:outerShdw>
          </a:effectLst>
        </p:spPr>
      </p:sp>
      <p:pic>
        <p:nvPicPr>
          <p:cNvPr id="42" name="screenshot-286" descr="2026-10-28 真實 GPT 工作台：三個檢查項目與已建立的補件草稿">    </p:cNvPr>
          <p:cNvPicPr>
            <a:picLocks noChangeAspect="1"/>
          </p:cNvPicPr>
          <p:nvPr/>
        </p:nvPicPr>
        <p:blipFill>
          <a:blip r:embed="rId2"/>
          <a:stretch>
            <a:fillRect/>
          </a:stretch>
        </p:blipFill>
        <p:spPr>
          <a:xfrm>
            <a:off x="7635240" y="1572768"/>
            <a:ext cx="3614824" cy="4526280"/>
          </a:xfrm>
          <a:prstGeom prst="rect">
            <a:avLst/>
          </a:prstGeom>
        </p:spPr>
      </p:pic>
      <p:sp>
        <p:nvSpPr>
          <p:cNvPr id="25" name="Slide Number Placeholder 0"/>
          <p:cNvSpPr>
            <a:spLocks noGrp="1"/>
          </p:cNvSpPr>
          <p:nvPr>
            <p:ph type="sldNum" sz="quarter" idx="4294967295"/>
          </p:nvPr>
        </p:nvSpPr>
        <p:spPr>
          <a:xfrm>
            <a:off x="11091672" y="6400800"/>
            <a:ext cx="548640" cy="256032"/>
          </a:xfrm>
          <a:prstGeom prst="rect">
            <a:avLst/>
          </a:prstGeom>
          <a:extLst>
            <a:ext uri="{C572A759-6A51-4108-AA02-DFA0A04FC94B}">
              <ma14:wrappingTextBoxFlag xmlns:ma14="http://schemas.microsoft.com/office/mac/drawingml/2011/main" val="0"/>
            </a:ext>
          </a:extLst>
        </p:spPr>
        <p:txBody>
          <a:bodyPr/>
          <a:lstStyle>
            <a:lvl1pPr>
              <a:defRPr sz="1000">
                <a:solidFill>
                  <a:schemeClr val="accent6"/>
                </a:solidFill>
              </a:defRPr>
            </a:lvl1pPr>
          </a:lstStyle>
          <a:p>
            <a:pPr algn="r"/>
            <a:fld id="{F7021451-1387-4CA6-816F-3879F97B5CBC}" type="slidenum">
              <a:rPr b="0" lang="en-US"/>
              <a:t>8</a:t>
            </a:fld>
            <a:endParaRPr lang="en-US"/>
          </a:p>
        </p:txBody>
      </p:sp>
    </p:spTree>
  </p:cSld>
  <p:clrMapOvr>
    <a:masterClrMapping/>
  </p:clrMapOvr>
</p:sld>
</file>

<file path=ppt/slides/slide9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9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ext 0"/>
          <p:cNvSpPr/>
          <p:nvPr>
            <p:ph idx="100" type="body" hasCustomPrompt="1"/>
          </p:nvPr>
        </p:nvSpPr>
        <p:spPr>
          <a:xfrm>
            <a:off x="548640" y="365760"/>
            <a:ext cx="8778240" cy="27432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algn="l" indent="0" marL="0">
              <a:buNone/>
            </a:pPr>
            <a:r>
              <a:rPr lang="zh-TW" altLang="en-US" sz="1300" b="1" dirty="0">
                <a:solidFill>
                  <a:schemeClr val="accent6"/>
                </a:solidFill>
              </a:rPr>
              <a:t>真實介面 · OPENAI · 2026-10-28</a:t>
            </a:r>
            <a:endParaRPr lang="zh-TW" sz="1300" dirty="0"/>
          </a:p>
        </p:txBody>
      </p:sp>
      <p:sp>
        <p:nvSpPr>
          <p:cNvPr id="3" name="Text 0"/>
          <p:cNvSpPr/>
          <p:nvPr>
            <p:ph idx="101" type="title" hasCustomPrompt="1"/>
          </p:nvPr>
        </p:nvSpPr>
        <p:spPr>
          <a:xfrm>
            <a:off x="548640" y="658368"/>
            <a:ext cx="11064240" cy="68580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algn="l" indent="0" marL="0">
              <a:buNone/>
            </a:pPr>
            <a:r>
              <a:rPr lang="zh-TW" altLang="en-US" sz="3000" b="1" dirty="0">
                <a:solidFill>
                  <a:schemeClr val="tx1"/>
                </a:solidFill>
              </a:rPr>
              <a:t>語意比對分得出「有寫」和「寫完整」</a:t>
            </a:r>
            <a:endParaRPr lang="zh-TW" sz="3000" dirty="0"/>
          </a:p>
        </p:txBody>
      </p:sp>
      <p:sp>
        <p:nvSpPr>
          <p:cNvPr id="5" name="text-287"/>
          <p:cNvSpPr txBox="1"/>
          <p:nvPr/>
        </p:nvSpPr>
        <p:spPr>
          <a:xfrm>
            <a:off x="548640" y="1600200"/>
            <a:ext cx="5760720" cy="45720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buNone/>
            </a:pPr>
            <a:r>
              <a:rPr lang="zh-TW" altLang="en-US" sz="1400" dirty="0">
                <a:solidFill>
                  <a:schemeClr val="accent6"/>
                </a:solidFill>
              </a:rPr>
              <a:t>老師要求：說明使用者與情境，並提供含輸入、結果與原因的失敗案例。</a:t>
            </a:r>
            <a:endParaRPr lang="zh-TW" sz="1400" dirty="0"/>
          </a:p>
        </p:txBody>
      </p:sp>
      <p:sp>
        <p:nvSpPr>
          <p:cNvPr id="6" name="card-288"/>
          <p:cNvSpPr/>
          <p:nvPr/>
        </p:nvSpPr>
        <p:spPr>
          <a:xfrm>
            <a:off x="548640" y="2194560"/>
            <a:ext cx="5760720" cy="1280160"/>
          </a:xfrm>
          <a:prstGeom prst="roundRect">
            <a:avLst>
              <a:gd name="adj" fmla="val 5714"/>
            </a:avLst>
          </a:prstGeom>
          <a:solidFill>
            <a:schemeClr val="bg1"/>
          </a:solidFill>
          <a:ln w="12700">
            <a:solidFill>
              <a:schemeClr val="bg2"/>
            </a:solidFill>
            <a:prstDash val="solid"/>
          </a:ln>
          <a:effectLst>
            <a:outerShdw sx="100000" sy="100000" kx="0" ky="0" algn="bl" rotWithShape="0" blurRad="127000" dist="25400" dir="5400000">
              <a:srgbClr val="1A2233">
                <a:alpha val="10000"/>
              </a:srgbClr>
            </a:outerShdw>
          </a:effectLst>
        </p:spPr>
      </p:sp>
      <p:sp>
        <p:nvSpPr>
          <p:cNvPr id="7" name="chip-met-289"/>
          <p:cNvSpPr/>
          <p:nvPr/>
        </p:nvSpPr>
        <p:spPr>
          <a:xfrm>
            <a:off x="777240" y="2395728"/>
            <a:ext cx="1002182" cy="311404"/>
          </a:xfrm>
          <a:prstGeom prst="roundRect">
            <a:avLst>
              <a:gd name="adj" fmla="val 50000"/>
            </a:avLst>
          </a:prstGeom>
          <a:solidFill>
            <a:schemeClr val="accent2"/>
          </a:solidFill>
          <a:ln/>
        </p:spPr>
      </p:sp>
      <p:pic>
        <p:nvPicPr>
          <p:cNvPr id="8" name="chip-icon-290" descr="已完成">    </p:cNvPr>
          <p:cNvPicPr>
            <a:picLocks noChangeAspect="1"/>
          </p:cNvPicPr>
          <p:nvPr/>
        </p:nvPicPr>
        <p:blipFill>
          <a:blip r:embed="rId1"/>
          <a:stretch>
            <a:fillRect/>
          </a:stretch>
        </p:blipFill>
        <p:spPr>
          <a:xfrm>
            <a:off x="886968" y="2458009"/>
            <a:ext cx="186842" cy="186842"/>
          </a:xfrm>
          <a:prstGeom prst="rect">
            <a:avLst/>
          </a:prstGeom>
        </p:spPr>
      </p:pic>
      <p:sp>
        <p:nvSpPr>
          <p:cNvPr id="9" name="chip-text-291"/>
          <p:cNvSpPr txBox="1"/>
          <p:nvPr/>
        </p:nvSpPr>
        <p:spPr>
          <a:xfrm>
            <a:off x="1137818" y="2395728"/>
            <a:ext cx="632460" cy="311404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zh-TW" altLang="en-US" sz="1300" b="1" dirty="0">
                <a:solidFill>
                  <a:schemeClr val="bg1"/>
                </a:solidFill>
              </a:rPr>
              <a:t>已完成</a:t>
            </a:r>
            <a:endParaRPr lang="zh-TW" sz="1300" dirty="0"/>
          </a:p>
        </p:txBody>
      </p:sp>
      <p:sp>
        <p:nvSpPr>
          <p:cNvPr id="10" name="text-292"/>
          <p:cNvSpPr txBox="1"/>
          <p:nvPr/>
        </p:nvSpPr>
        <p:spPr>
          <a:xfrm>
            <a:off x="1965960" y="2350008"/>
            <a:ext cx="4206240" cy="38404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zh-TW" altLang="en-US" sz="1800" b="1" dirty="0">
                <a:solidFill>
                  <a:schemeClr val="tx1"/>
                </a:solidFill>
              </a:rPr>
              <a:t>R1　使用者與情境</a:t>
            </a:r>
            <a:endParaRPr lang="zh-TW" sz="1800" dirty="0"/>
          </a:p>
        </p:txBody>
      </p:sp>
      <p:sp>
        <p:nvSpPr>
          <p:cNvPr id="11" name="text-293"/>
          <p:cNvSpPr txBox="1"/>
          <p:nvPr/>
        </p:nvSpPr>
        <p:spPr>
          <a:xfrm>
            <a:off x="777240" y="2880360"/>
            <a:ext cx="5349240" cy="45720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buNone/>
            </a:pPr>
            <a:r>
              <a:rPr lang="zh-TW" altLang="en-US" sz="1500" dirty="0">
                <a:solidFill>
                  <a:schemeClr val="tx1"/>
                </a:solidFill>
              </a:rPr>
              <a:t>標題寫「誰會用」，仍清楚描述對象與情境 → 符合</a:t>
            </a:r>
            <a:endParaRPr lang="zh-TW" sz="1500" dirty="0"/>
          </a:p>
        </p:txBody>
      </p:sp>
      <p:sp>
        <p:nvSpPr>
          <p:cNvPr id="12" name="card-294"/>
          <p:cNvSpPr/>
          <p:nvPr/>
        </p:nvSpPr>
        <p:spPr>
          <a:xfrm>
            <a:off x="548640" y="3657600"/>
            <a:ext cx="5760720" cy="1280160"/>
          </a:xfrm>
          <a:prstGeom prst="roundRect">
            <a:avLst>
              <a:gd name="adj" fmla="val 5714"/>
            </a:avLst>
          </a:prstGeom>
          <a:solidFill>
            <a:schemeClr val="bg1"/>
          </a:solidFill>
          <a:ln w="12700">
            <a:solidFill>
              <a:schemeClr val="bg2"/>
            </a:solidFill>
            <a:prstDash val="solid"/>
          </a:ln>
          <a:effectLst>
            <a:outerShdw sx="100000" sy="100000" kx="0" ky="0" algn="bl" rotWithShape="0" blurRad="127000" dist="25400" dir="5400000">
              <a:srgbClr val="1A2233">
                <a:alpha val="10000"/>
              </a:srgbClr>
            </a:outerShdw>
          </a:effectLst>
        </p:spPr>
      </p:sp>
      <p:sp>
        <p:nvSpPr>
          <p:cNvPr id="13" name="chip-partial-295"/>
          <p:cNvSpPr/>
          <p:nvPr/>
        </p:nvSpPr>
        <p:spPr>
          <a:xfrm>
            <a:off x="777240" y="3858768"/>
            <a:ext cx="1002182" cy="311404"/>
          </a:xfrm>
          <a:prstGeom prst="roundRect">
            <a:avLst>
              <a:gd name="adj" fmla="val 50000"/>
            </a:avLst>
          </a:prstGeom>
          <a:solidFill>
            <a:schemeClr val="accent3"/>
          </a:solidFill>
          <a:ln/>
        </p:spPr>
      </p:sp>
      <p:pic>
        <p:nvPicPr>
          <p:cNvPr id="14" name="chip-icon-296" descr="需補件">    </p:cNvPr>
          <p:cNvPicPr>
            <a:picLocks noChangeAspect="1"/>
          </p:cNvPicPr>
          <p:nvPr/>
        </p:nvPicPr>
        <p:blipFill>
          <a:blip r:embed="rId2"/>
          <a:stretch>
            <a:fillRect/>
          </a:stretch>
        </p:blipFill>
        <p:spPr>
          <a:xfrm>
            <a:off x="886968" y="3921049"/>
            <a:ext cx="186842" cy="186842"/>
          </a:xfrm>
          <a:prstGeom prst="rect">
            <a:avLst/>
          </a:prstGeom>
        </p:spPr>
      </p:pic>
      <p:sp>
        <p:nvSpPr>
          <p:cNvPr id="15" name="chip-text-297"/>
          <p:cNvSpPr txBox="1"/>
          <p:nvPr/>
        </p:nvSpPr>
        <p:spPr>
          <a:xfrm>
            <a:off x="1137818" y="3858768"/>
            <a:ext cx="632460" cy="311404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zh-TW" altLang="en-US" sz="1300" b="1" dirty="0">
                <a:solidFill>
                  <a:schemeClr val="bg1"/>
                </a:solidFill>
              </a:rPr>
              <a:t>需補件</a:t>
            </a:r>
            <a:endParaRPr lang="zh-TW" sz="1300" dirty="0"/>
          </a:p>
        </p:txBody>
      </p:sp>
      <p:sp>
        <p:nvSpPr>
          <p:cNvPr id="16" name="text-298"/>
          <p:cNvSpPr txBox="1"/>
          <p:nvPr/>
        </p:nvSpPr>
        <p:spPr>
          <a:xfrm>
            <a:off x="1965960" y="3813048"/>
            <a:ext cx="4206240" cy="38404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zh-TW" altLang="en-US" sz="1800" b="1" dirty="0">
                <a:solidFill>
                  <a:schemeClr val="tx1"/>
                </a:solidFill>
              </a:rPr>
              <a:t>R2　完整的失敗案例</a:t>
            </a:r>
            <a:endParaRPr lang="zh-TW" sz="1800" dirty="0"/>
          </a:p>
        </p:txBody>
      </p:sp>
      <p:sp>
        <p:nvSpPr>
          <p:cNvPr id="17" name="text-299"/>
          <p:cNvSpPr txBox="1"/>
          <p:nvPr/>
        </p:nvSpPr>
        <p:spPr>
          <a:xfrm>
            <a:off x="777240" y="4343400"/>
            <a:ext cx="5349240" cy="45720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buNone/>
            </a:pPr>
            <a:r>
              <a:rPr lang="zh-TW" altLang="en-US" sz="1500" dirty="0">
                <a:solidFill>
                  <a:schemeClr val="tx1"/>
                </a:solidFill>
              </a:rPr>
              <a:t>有輸入、有實際結果，但沒寫失敗原因 → 部分完成</a:t>
            </a:r>
            <a:endParaRPr lang="zh-TW" sz="1500" dirty="0"/>
          </a:p>
        </p:txBody>
      </p:sp>
      <p:pic>
        <p:nvPicPr>
          <p:cNvPr id="18" name="icon-300" descr="TriangleAlert">    </p:cNvPr>
          <p:cNvPicPr>
            <a:picLocks noChangeAspect="1"/>
          </p:cNvPicPr>
          <p:nvPr/>
        </p:nvPicPr>
        <p:blipFill>
          <a:blip r:embed="rId3"/>
          <a:stretch>
            <a:fillRect/>
          </a:stretch>
        </p:blipFill>
        <p:spPr>
          <a:xfrm>
            <a:off x="548640" y="5230368"/>
            <a:ext cx="329184" cy="329184"/>
          </a:xfrm>
          <a:prstGeom prst="rect">
            <a:avLst/>
          </a:prstGeom>
        </p:spPr>
      </p:pic>
      <p:sp>
        <p:nvSpPr>
          <p:cNvPr id="19" name="text-301"/>
          <p:cNvSpPr txBox="1"/>
          <p:nvPr/>
        </p:nvSpPr>
        <p:spPr>
          <a:xfrm>
            <a:off x="1005840" y="5193792"/>
            <a:ext cx="5303520" cy="82296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buNone/>
            </a:pPr>
            <a:r>
              <a:rPr lang="zh-TW" altLang="en-US" sz="1500" b="1" dirty="0">
                <a:solidFill>
                  <a:schemeClr val="accent3"/>
                </a:solidFill>
              </a:rPr>
              <a:t>系統只確認引用確實存在於原文，不保證語意判斷正確；模型建議的失敗原因也需學生自行查證。</a:t>
            </a:r>
            <a:endParaRPr lang="zh-TW" sz="1500" dirty="0"/>
          </a:p>
        </p:txBody>
      </p:sp>
      <p:sp>
        <p:nvSpPr>
          <p:cNvPr id="20" name="shot-frame-302"/>
          <p:cNvSpPr/>
          <p:nvPr/>
        </p:nvSpPr>
        <p:spPr>
          <a:xfrm>
            <a:off x="6757416" y="1572768"/>
            <a:ext cx="4910328" cy="4457441"/>
          </a:xfrm>
          <a:prstGeom prst="roundRect">
            <a:avLst>
              <a:gd name="adj" fmla="val 1231"/>
            </a:avLst>
          </a:prstGeom>
          <a:solidFill>
            <a:schemeClr val="bg1"/>
          </a:solidFill>
          <a:ln w="12700">
            <a:solidFill>
              <a:schemeClr val="bg2"/>
            </a:solidFill>
            <a:prstDash val="solid"/>
          </a:ln>
          <a:effectLst>
            <a:outerShdw sx="100000" sy="100000" kx="0" ky="0" algn="bl" rotWithShape="0" blurRad="127000" dist="25400" dir="5400000">
              <a:srgbClr val="1A2233">
                <a:alpha val="10000"/>
              </a:srgbClr>
            </a:outerShdw>
          </a:effectLst>
        </p:spPr>
      </p:sp>
      <p:pic>
        <p:nvPicPr>
          <p:cNvPr id="21" name="screenshot-303" descr="2026-10-28 真實 GPT 文字比對：R1 已完成、R2 需補件">    </p:cNvPr>
          <p:cNvPicPr>
            <a:picLocks noChangeAspect="1"/>
          </p:cNvPicPr>
          <p:nvPr/>
        </p:nvPicPr>
        <p:blipFill>
          <a:blip r:embed="rId4"/>
          <a:stretch>
            <a:fillRect/>
          </a:stretch>
        </p:blipFill>
        <p:spPr>
          <a:xfrm>
            <a:off x="6812280" y="1627632"/>
            <a:ext cx="4800600" cy="4347713"/>
          </a:xfrm>
          <a:prstGeom prst="rect">
            <a:avLst/>
          </a:prstGeom>
        </p:spPr>
      </p:pic>
      <p:sp>
        <p:nvSpPr>
          <p:cNvPr id="25" name="Slide Number Placeholder 0"/>
          <p:cNvSpPr>
            <a:spLocks noGrp="1"/>
          </p:cNvSpPr>
          <p:nvPr>
            <p:ph type="sldNum" sz="quarter" idx="4294967295"/>
          </p:nvPr>
        </p:nvSpPr>
        <p:spPr>
          <a:xfrm>
            <a:off x="11091672" y="6400800"/>
            <a:ext cx="548640" cy="256032"/>
          </a:xfrm>
          <a:prstGeom prst="rect">
            <a:avLst/>
          </a:prstGeom>
          <a:extLst>
            <a:ext uri="{C572A759-6A51-4108-AA02-DFA0A04FC94B}">
              <ma14:wrappingTextBoxFlag xmlns:ma14="http://schemas.microsoft.com/office/mac/drawingml/2011/main" val="0"/>
            </a:ext>
          </a:extLst>
        </p:spPr>
        <p:txBody>
          <a:bodyPr/>
          <a:lstStyle>
            <a:lvl1pPr>
              <a:defRPr sz="1000">
                <a:solidFill>
                  <a:schemeClr val="accent6"/>
                </a:solidFill>
              </a:defRPr>
            </a:lvl1pPr>
          </a:lstStyle>
          <a:p>
            <a:pPr algn="r"/>
            <a:fld id="{F7021451-1387-4CA6-816F-3879F97B5CBC}" type="slidenum">
              <a:rPr b="0" lang="en-US"/>
              <a:t>9</a:t>
            </a:fld>
            <a:endParaRPr lang="en-US"/>
          </a:p>
        </p:txBody>
      </p:sp>
    </p:spTree>
  </p:cSld>
  <p:clrMapOvr>
    <a:masterClrMapping/>
  </p:clrMapOvr>
</p:sld>
</file>

<file path=ppt/slides/slide10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10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ext 0"/>
          <p:cNvSpPr/>
          <p:nvPr>
            <p:ph idx="100" type="body" hasCustomPrompt="1"/>
          </p:nvPr>
        </p:nvSpPr>
        <p:spPr>
          <a:xfrm>
            <a:off x="548640" y="365760"/>
            <a:ext cx="8778240" cy="27432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algn="l" indent="0" marL="0">
              <a:buNone/>
            </a:pPr>
            <a:r>
              <a:rPr lang="zh-TW" altLang="en-US" sz="1300" b="1" dirty="0">
                <a:solidFill>
                  <a:schemeClr val="accent6"/>
                </a:solidFill>
              </a:rPr>
              <a:t>PDF 提交前預檢與估分 · 2026-10-28 晚間新增</a:t>
            </a:r>
            <a:endParaRPr lang="zh-TW" sz="1300" dirty="0"/>
          </a:p>
        </p:txBody>
      </p:sp>
      <p:sp>
        <p:nvSpPr>
          <p:cNvPr id="3" name="Text 0"/>
          <p:cNvSpPr/>
          <p:nvPr>
            <p:ph idx="101" type="title" hasCustomPrompt="1"/>
          </p:nvPr>
        </p:nvSpPr>
        <p:spPr>
          <a:xfrm>
            <a:off x="548640" y="658368"/>
            <a:ext cx="11064240" cy="68580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algn="l" indent="0" marL="0">
              <a:buNone/>
            </a:pPr>
            <a:r>
              <a:rPr lang="zh-TW" altLang="en-US" sz="3000" b="1" dirty="0">
                <a:solidFill>
                  <a:schemeClr val="tx1"/>
                </a:solidFill>
              </a:rPr>
              <a:t>PDF 預檢：模型挑證據行號，Host 複製原文</a:t>
            </a:r>
            <a:endParaRPr lang="zh-TW" sz="3000" dirty="0"/>
          </a:p>
        </p:txBody>
      </p:sp>
      <p:sp>
        <p:nvSpPr>
          <p:cNvPr id="5" name="chip-new-304"/>
          <p:cNvSpPr/>
          <p:nvPr/>
        </p:nvSpPr>
        <p:spPr>
          <a:xfrm>
            <a:off x="9966960" y="329184"/>
            <a:ext cx="1398422" cy="298704"/>
          </a:xfrm>
          <a:prstGeom prst="roundRect">
            <a:avLst>
              <a:gd name="adj" fmla="val 50000"/>
            </a:avLst>
          </a:prstGeom>
          <a:solidFill>
            <a:schemeClr val="accent1"/>
          </a:solidFill>
          <a:ln/>
        </p:spPr>
      </p:sp>
      <p:pic>
        <p:nvPicPr>
          <p:cNvPr id="6" name="chip-icon-305" descr="v0.8 新功能">    </p:cNvPr>
          <p:cNvPicPr>
            <a:picLocks noChangeAspect="1"/>
          </p:cNvPicPr>
          <p:nvPr/>
        </p:nvPicPr>
        <p:blipFill>
          <a:blip r:embed="rId1"/>
          <a:stretch>
            <a:fillRect/>
          </a:stretch>
        </p:blipFill>
        <p:spPr>
          <a:xfrm>
            <a:off x="10076688" y="388925"/>
            <a:ext cx="179222" cy="179222"/>
          </a:xfrm>
          <a:prstGeom prst="rect">
            <a:avLst/>
          </a:prstGeom>
        </p:spPr>
      </p:pic>
      <p:sp>
        <p:nvSpPr>
          <p:cNvPr id="7" name="chip-text-306"/>
          <p:cNvSpPr txBox="1"/>
          <p:nvPr/>
        </p:nvSpPr>
        <p:spPr>
          <a:xfrm>
            <a:off x="10319918" y="329184"/>
            <a:ext cx="1036320" cy="298704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zh-TW" altLang="en-US" sz="1200" b="1" dirty="0">
                <a:solidFill>
                  <a:schemeClr val="tx2"/>
                </a:solidFill>
              </a:rPr>
              <a:t>v0.8 新功能</a:t>
            </a:r>
            <a:endParaRPr lang="zh-TW" sz="1200" dirty="0"/>
          </a:p>
        </p:txBody>
      </p:sp>
      <p:sp>
        <p:nvSpPr>
          <p:cNvPr id="8" name="card-307"/>
          <p:cNvSpPr/>
          <p:nvPr/>
        </p:nvSpPr>
        <p:spPr>
          <a:xfrm>
            <a:off x="548640" y="1600200"/>
            <a:ext cx="2194560" cy="1371600"/>
          </a:xfrm>
          <a:prstGeom prst="roundRect">
            <a:avLst>
              <a:gd name="adj" fmla="val 5333"/>
            </a:avLst>
          </a:prstGeom>
          <a:solidFill>
            <a:schemeClr val="bg1"/>
          </a:solidFill>
          <a:ln w="12700">
            <a:solidFill>
              <a:schemeClr val="bg2"/>
            </a:solidFill>
            <a:prstDash val="solid"/>
          </a:ln>
          <a:effectLst>
            <a:outerShdw sx="100000" sy="100000" kx="0" ky="0" algn="bl" rotWithShape="0" blurRad="127000" dist="25400" dir="5400000">
              <a:srgbClr val="1A2233">
                <a:alpha val="10000"/>
              </a:srgbClr>
            </a:outerShdw>
          </a:effectLst>
        </p:spPr>
      </p:sp>
      <p:sp>
        <p:nvSpPr>
          <p:cNvPr id="9" name="pipe-dot-308"/>
          <p:cNvSpPr/>
          <p:nvPr/>
        </p:nvSpPr>
        <p:spPr>
          <a:xfrm>
            <a:off x="731520" y="1764792"/>
            <a:ext cx="329184" cy="329184"/>
          </a:xfrm>
          <a:prstGeom prst="ellipse">
            <a:avLst/>
          </a:prstGeom>
          <a:solidFill>
            <a:schemeClr val="accent2"/>
          </a:solidFill>
          <a:ln/>
        </p:spPr>
      </p:sp>
      <p:sp>
        <p:nvSpPr>
          <p:cNvPr id="10" name="text-309"/>
          <p:cNvSpPr txBox="1"/>
          <p:nvPr/>
        </p:nvSpPr>
        <p:spPr>
          <a:xfrm>
            <a:off x="731520" y="1764792"/>
            <a:ext cx="329184" cy="329184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zh-TW" altLang="en-US" sz="1300" b="1" dirty="0">
                <a:solidFill>
                  <a:schemeClr val="bg1"/>
                </a:solidFill>
              </a:rPr>
              <a:t>1</a:t>
            </a:r>
            <a:endParaRPr lang="zh-TW" sz="1300" dirty="0"/>
          </a:p>
        </p:txBody>
      </p:sp>
      <p:sp>
        <p:nvSpPr>
          <p:cNvPr id="11" name="tag-310"/>
          <p:cNvSpPr/>
          <p:nvPr/>
        </p:nvSpPr>
        <p:spPr>
          <a:xfrm>
            <a:off x="1903476" y="1792224"/>
            <a:ext cx="656844" cy="249428"/>
          </a:xfrm>
          <a:prstGeom prst="roundRect">
            <a:avLst>
              <a:gd name="adj" fmla="val 50000"/>
            </a:avLst>
          </a:prstGeom>
          <a:solidFill>
            <a:schemeClr val="bg1"/>
          </a:solidFill>
          <a:ln w="12700">
            <a:solidFill>
              <a:schemeClr val="accent2"/>
            </a:solidFill>
            <a:prstDash val="solid"/>
          </a:ln>
        </p:spPr>
      </p:sp>
      <p:sp>
        <p:nvSpPr>
          <p:cNvPr id="12" name="tag-text-311"/>
          <p:cNvSpPr txBox="1"/>
          <p:nvPr/>
        </p:nvSpPr>
        <p:spPr>
          <a:xfrm>
            <a:off x="1903476" y="1792224"/>
            <a:ext cx="656844" cy="24942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zh-TW" altLang="en-US" sz="1100" b="1" dirty="0">
                <a:solidFill>
                  <a:schemeClr val="accent2"/>
                </a:solidFill>
              </a:rPr>
              <a:t>使用者</a:t>
            </a:r>
            <a:endParaRPr lang="zh-TW" sz="1100" dirty="0"/>
          </a:p>
        </p:txBody>
      </p:sp>
      <p:sp>
        <p:nvSpPr>
          <p:cNvPr id="13" name="text-312"/>
          <p:cNvSpPr txBox="1"/>
          <p:nvPr/>
        </p:nvSpPr>
        <p:spPr>
          <a:xfrm>
            <a:off x="731520" y="2167128"/>
            <a:ext cx="1874520" cy="310896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buNone/>
            </a:pPr>
            <a:r>
              <a:rPr lang="zh-TW" altLang="en-US" sz="1500" b="1" dirty="0">
                <a:solidFill>
                  <a:schemeClr val="tx1"/>
                </a:solidFill>
              </a:rPr>
              <a:t>上傳兩份 PDF</a:t>
            </a:r>
            <a:endParaRPr lang="zh-TW" sz="1500" dirty="0"/>
          </a:p>
        </p:txBody>
      </p:sp>
      <p:sp>
        <p:nvSpPr>
          <p:cNvPr id="14" name="text-313"/>
          <p:cNvSpPr txBox="1"/>
          <p:nvPr/>
        </p:nvSpPr>
        <p:spPr>
          <a:xfrm>
            <a:off x="731520" y="2478024"/>
            <a:ext cx="1920240" cy="45720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buNone/>
            </a:pPr>
            <a:r>
              <a:rPr lang="zh-TW" altLang="en-US" sz="1200" dirty="0">
                <a:solidFill>
                  <a:schemeClr val="accent6"/>
                </a:solidFill>
              </a:rPr>
              <a:t>老師規格／範例＋學生報告</a:t>
            </a:r>
            <a:endParaRPr lang="zh-TW" sz="1200" dirty="0"/>
          </a:p>
        </p:txBody>
      </p:sp>
      <p:sp>
        <p:nvSpPr>
          <p:cNvPr id="15" name="arrow-314"/>
          <p:cNvSpPr/>
          <p:nvPr/>
        </p:nvSpPr>
        <p:spPr>
          <a:xfrm>
            <a:off x="2779776" y="2286000"/>
            <a:ext cx="292608" cy="0"/>
          </a:xfrm>
          <a:prstGeom prst="line">
            <a:avLst/>
          </a:prstGeom>
          <a:noFill/>
          <a:ln w="22225">
            <a:solidFill>
              <a:schemeClr val="accent6"/>
            </a:solidFill>
            <a:prstDash val="solid"/>
            <a:tailEnd type="triangle"/>
          </a:ln>
        </p:spPr>
      </p:sp>
      <p:sp>
        <p:nvSpPr>
          <p:cNvPr id="16" name="card-315"/>
          <p:cNvSpPr/>
          <p:nvPr/>
        </p:nvSpPr>
        <p:spPr>
          <a:xfrm>
            <a:off x="3108960" y="1600200"/>
            <a:ext cx="2194560" cy="1371600"/>
          </a:xfrm>
          <a:prstGeom prst="roundRect">
            <a:avLst>
              <a:gd name="adj" fmla="val 5333"/>
            </a:avLst>
          </a:prstGeom>
          <a:solidFill>
            <a:schemeClr val="bg1"/>
          </a:solidFill>
          <a:ln w="12700">
            <a:solidFill>
              <a:schemeClr val="bg2"/>
            </a:solidFill>
            <a:prstDash val="solid"/>
          </a:ln>
          <a:effectLst>
            <a:outerShdw sx="100000" sy="100000" kx="0" ky="0" algn="bl" rotWithShape="0" blurRad="127000" dist="25400" dir="5400000">
              <a:srgbClr val="1A2233">
                <a:alpha val="10000"/>
              </a:srgbClr>
            </a:outerShdw>
          </a:effectLst>
        </p:spPr>
      </p:sp>
      <p:sp>
        <p:nvSpPr>
          <p:cNvPr id="17" name="pipe-dot-316"/>
          <p:cNvSpPr/>
          <p:nvPr/>
        </p:nvSpPr>
        <p:spPr>
          <a:xfrm>
            <a:off x="3291840" y="1764792"/>
            <a:ext cx="329184" cy="329184"/>
          </a:xfrm>
          <a:prstGeom prst="ellipse">
            <a:avLst/>
          </a:prstGeom>
          <a:solidFill>
            <a:schemeClr val="tx2"/>
          </a:solidFill>
          <a:ln/>
        </p:spPr>
      </p:sp>
      <p:sp>
        <p:nvSpPr>
          <p:cNvPr id="18" name="text-317"/>
          <p:cNvSpPr txBox="1"/>
          <p:nvPr/>
        </p:nvSpPr>
        <p:spPr>
          <a:xfrm>
            <a:off x="3291840" y="1764792"/>
            <a:ext cx="329184" cy="329184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zh-TW" altLang="en-US" sz="1300" b="1" dirty="0">
                <a:solidFill>
                  <a:schemeClr val="bg1"/>
                </a:solidFill>
              </a:rPr>
              <a:t>2</a:t>
            </a:r>
            <a:endParaRPr lang="zh-TW" sz="1300" dirty="0"/>
          </a:p>
        </p:txBody>
      </p:sp>
      <p:sp>
        <p:nvSpPr>
          <p:cNvPr id="19" name="tag-318"/>
          <p:cNvSpPr/>
          <p:nvPr/>
        </p:nvSpPr>
        <p:spPr>
          <a:xfrm>
            <a:off x="4558792" y="1792224"/>
            <a:ext cx="561848" cy="249428"/>
          </a:xfrm>
          <a:prstGeom prst="roundRect">
            <a:avLst>
              <a:gd name="adj" fmla="val 50000"/>
            </a:avLst>
          </a:prstGeom>
          <a:solidFill>
            <a:schemeClr val="bg1"/>
          </a:solidFill>
          <a:ln w="12700">
            <a:solidFill>
              <a:schemeClr val="tx2"/>
            </a:solidFill>
            <a:prstDash val="solid"/>
          </a:ln>
        </p:spPr>
      </p:sp>
      <p:sp>
        <p:nvSpPr>
          <p:cNvPr id="20" name="tag-text-319"/>
          <p:cNvSpPr txBox="1"/>
          <p:nvPr/>
        </p:nvSpPr>
        <p:spPr>
          <a:xfrm>
            <a:off x="4558792" y="1792224"/>
            <a:ext cx="561848" cy="24942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zh-TW" altLang="en-US" sz="1100" b="1" dirty="0">
                <a:solidFill>
                  <a:schemeClr val="tx2"/>
                </a:solidFill>
              </a:rPr>
              <a:t>Host</a:t>
            </a:r>
            <a:endParaRPr lang="zh-TW" sz="1100" dirty="0"/>
          </a:p>
        </p:txBody>
      </p:sp>
      <p:sp>
        <p:nvSpPr>
          <p:cNvPr id="21" name="text-320"/>
          <p:cNvSpPr txBox="1"/>
          <p:nvPr/>
        </p:nvSpPr>
        <p:spPr>
          <a:xfrm>
            <a:off x="3291840" y="2167128"/>
            <a:ext cx="1874520" cy="310896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buNone/>
            </a:pPr>
            <a:r>
              <a:rPr lang="zh-TW" altLang="en-US" sz="1500" b="1" dirty="0">
                <a:solidFill>
                  <a:schemeClr val="tx1"/>
                </a:solidFill>
              </a:rPr>
              <a:t>驗證並標上行號</a:t>
            </a:r>
            <a:endParaRPr lang="zh-TW" sz="1500" dirty="0"/>
          </a:p>
        </p:txBody>
      </p:sp>
      <p:sp>
        <p:nvSpPr>
          <p:cNvPr id="22" name="text-321"/>
          <p:cNvSpPr txBox="1"/>
          <p:nvPr/>
        </p:nvSpPr>
        <p:spPr>
          <a:xfrm>
            <a:off x="3291840" y="2478024"/>
            <a:ext cx="1920240" cy="45720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buNone/>
            </a:pPr>
            <a:r>
              <a:rPr lang="zh-TW" altLang="en-US" sz="1200" dirty="0">
                <a:solidFill>
                  <a:schemeClr val="accent6"/>
                </a:solidFill>
              </a:rPr>
              <a:t>檢查大小與頁數，擷取文字並逐行編號</a:t>
            </a:r>
            <a:endParaRPr lang="zh-TW" sz="1200" dirty="0"/>
          </a:p>
        </p:txBody>
      </p:sp>
      <p:sp>
        <p:nvSpPr>
          <p:cNvPr id="23" name="arrow-322"/>
          <p:cNvSpPr/>
          <p:nvPr/>
        </p:nvSpPr>
        <p:spPr>
          <a:xfrm>
            <a:off x="5340096" y="2286000"/>
            <a:ext cx="292608" cy="0"/>
          </a:xfrm>
          <a:prstGeom prst="line">
            <a:avLst/>
          </a:prstGeom>
          <a:noFill/>
          <a:ln w="22225">
            <a:solidFill>
              <a:schemeClr val="accent6"/>
            </a:solidFill>
            <a:prstDash val="solid"/>
            <a:tailEnd type="triangle"/>
          </a:ln>
        </p:spPr>
      </p:sp>
      <p:sp>
        <p:nvSpPr>
          <p:cNvPr id="24" name="card-323"/>
          <p:cNvSpPr/>
          <p:nvPr/>
        </p:nvSpPr>
        <p:spPr>
          <a:xfrm>
            <a:off x="5669280" y="1600200"/>
            <a:ext cx="2194560" cy="1371600"/>
          </a:xfrm>
          <a:prstGeom prst="roundRect">
            <a:avLst>
              <a:gd name="adj" fmla="val 5333"/>
            </a:avLst>
          </a:prstGeom>
          <a:solidFill>
            <a:schemeClr val="bg1"/>
          </a:solidFill>
          <a:ln w="12700">
            <a:solidFill>
              <a:schemeClr val="bg2"/>
            </a:solidFill>
            <a:prstDash val="solid"/>
          </a:ln>
          <a:effectLst>
            <a:outerShdw sx="100000" sy="100000" kx="0" ky="0" algn="bl" rotWithShape="0" blurRad="127000" dist="25400" dir="5400000">
              <a:srgbClr val="1A2233">
                <a:alpha val="10000"/>
              </a:srgbClr>
            </a:outerShdw>
          </a:effectLst>
        </p:spPr>
      </p:sp>
      <p:sp>
        <p:nvSpPr>
          <p:cNvPr id="25" name="pipe-dot-324"/>
          <p:cNvSpPr/>
          <p:nvPr/>
        </p:nvSpPr>
        <p:spPr>
          <a:xfrm>
            <a:off x="5852160" y="1764792"/>
            <a:ext cx="329184" cy="329184"/>
          </a:xfrm>
          <a:prstGeom prst="ellipse">
            <a:avLst/>
          </a:prstGeom>
          <a:solidFill>
            <a:schemeClr val="accent4"/>
          </a:solidFill>
          <a:ln/>
        </p:spPr>
      </p:sp>
      <p:sp>
        <p:nvSpPr>
          <p:cNvPr id="26" name="text-325"/>
          <p:cNvSpPr txBox="1"/>
          <p:nvPr/>
        </p:nvSpPr>
        <p:spPr>
          <a:xfrm>
            <a:off x="5852160" y="1764792"/>
            <a:ext cx="329184" cy="329184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zh-TW" altLang="en-US" sz="1300" b="1" dirty="0">
                <a:solidFill>
                  <a:schemeClr val="bg1"/>
                </a:solidFill>
              </a:rPr>
              <a:t>3</a:t>
            </a:r>
            <a:endParaRPr lang="zh-TW" sz="1300" dirty="0"/>
          </a:p>
        </p:txBody>
      </p:sp>
      <p:sp>
        <p:nvSpPr>
          <p:cNvPr id="27" name="tag-326"/>
          <p:cNvSpPr/>
          <p:nvPr/>
        </p:nvSpPr>
        <p:spPr>
          <a:xfrm>
            <a:off x="7200138" y="1792224"/>
            <a:ext cx="480822" cy="249428"/>
          </a:xfrm>
          <a:prstGeom prst="roundRect">
            <a:avLst>
              <a:gd name="adj" fmla="val 50000"/>
            </a:avLst>
          </a:prstGeom>
          <a:solidFill>
            <a:schemeClr val="bg1"/>
          </a:solidFill>
          <a:ln w="12700">
            <a:solidFill>
              <a:schemeClr val="accent4"/>
            </a:solidFill>
            <a:prstDash val="solid"/>
          </a:ln>
        </p:spPr>
      </p:sp>
      <p:sp>
        <p:nvSpPr>
          <p:cNvPr id="28" name="tag-text-327"/>
          <p:cNvSpPr txBox="1"/>
          <p:nvPr/>
        </p:nvSpPr>
        <p:spPr>
          <a:xfrm>
            <a:off x="7200138" y="1792224"/>
            <a:ext cx="480822" cy="24942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zh-TW" altLang="en-US" sz="1100" b="1" dirty="0">
                <a:solidFill>
                  <a:schemeClr val="accent4"/>
                </a:solidFill>
              </a:rPr>
              <a:t>GPT</a:t>
            </a:r>
            <a:endParaRPr lang="zh-TW" sz="1100" dirty="0"/>
          </a:p>
        </p:txBody>
      </p:sp>
      <p:sp>
        <p:nvSpPr>
          <p:cNvPr id="29" name="text-328"/>
          <p:cNvSpPr txBox="1"/>
          <p:nvPr/>
        </p:nvSpPr>
        <p:spPr>
          <a:xfrm>
            <a:off x="5852160" y="2167128"/>
            <a:ext cx="1874520" cy="310896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buNone/>
            </a:pPr>
            <a:r>
              <a:rPr lang="zh-TW" altLang="en-US" sz="1500" b="1" dirty="0">
                <a:solidFill>
                  <a:schemeClr val="tx1"/>
                </a:solidFill>
              </a:rPr>
              <a:t>圖文一起判讀</a:t>
            </a:r>
            <a:endParaRPr lang="zh-TW" sz="1500" dirty="0"/>
          </a:p>
        </p:txBody>
      </p:sp>
      <p:sp>
        <p:nvSpPr>
          <p:cNvPr id="30" name="text-329"/>
          <p:cNvSpPr txBox="1"/>
          <p:nvPr/>
        </p:nvSpPr>
        <p:spPr>
          <a:xfrm>
            <a:off x="5852160" y="2478024"/>
            <a:ext cx="1920240" cy="45720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buNone/>
            </a:pPr>
            <a:r>
              <a:rPr lang="zh-TW" altLang="en-US" sz="1200" dirty="0">
                <a:solidFill>
                  <a:schemeClr val="accent6"/>
                </a:solidFill>
              </a:rPr>
              <a:t>讀文字與頁面圖片，比對語意，選出證據行號</a:t>
            </a:r>
            <a:endParaRPr lang="zh-TW" sz="1200" dirty="0"/>
          </a:p>
        </p:txBody>
      </p:sp>
      <p:sp>
        <p:nvSpPr>
          <p:cNvPr id="31" name="card-330"/>
          <p:cNvSpPr/>
          <p:nvPr/>
        </p:nvSpPr>
        <p:spPr>
          <a:xfrm>
            <a:off x="548640" y="3291840"/>
            <a:ext cx="2194560" cy="1371600"/>
          </a:xfrm>
          <a:prstGeom prst="roundRect">
            <a:avLst>
              <a:gd name="adj" fmla="val 5333"/>
            </a:avLst>
          </a:prstGeom>
          <a:solidFill>
            <a:schemeClr val="bg1"/>
          </a:solidFill>
          <a:ln w="12700">
            <a:solidFill>
              <a:schemeClr val="bg2"/>
            </a:solidFill>
            <a:prstDash val="solid"/>
          </a:ln>
          <a:effectLst>
            <a:outerShdw sx="100000" sy="100000" kx="0" ky="0" algn="bl" rotWithShape="0" blurRad="127000" dist="25400" dir="5400000">
              <a:srgbClr val="1A2233">
                <a:alpha val="10000"/>
              </a:srgbClr>
            </a:outerShdw>
          </a:effectLst>
        </p:spPr>
      </p:sp>
      <p:sp>
        <p:nvSpPr>
          <p:cNvPr id="32" name="pipe-dot-331"/>
          <p:cNvSpPr/>
          <p:nvPr/>
        </p:nvSpPr>
        <p:spPr>
          <a:xfrm>
            <a:off x="731520" y="3456432"/>
            <a:ext cx="329184" cy="329184"/>
          </a:xfrm>
          <a:prstGeom prst="ellipse">
            <a:avLst/>
          </a:prstGeom>
          <a:solidFill>
            <a:schemeClr val="tx2"/>
          </a:solidFill>
          <a:ln/>
        </p:spPr>
      </p:sp>
      <p:sp>
        <p:nvSpPr>
          <p:cNvPr id="33" name="text-332"/>
          <p:cNvSpPr txBox="1"/>
          <p:nvPr/>
        </p:nvSpPr>
        <p:spPr>
          <a:xfrm>
            <a:off x="731520" y="3456432"/>
            <a:ext cx="329184" cy="329184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zh-TW" altLang="en-US" sz="1300" b="1" dirty="0">
                <a:solidFill>
                  <a:schemeClr val="bg1"/>
                </a:solidFill>
              </a:rPr>
              <a:t>4</a:t>
            </a:r>
            <a:endParaRPr lang="zh-TW" sz="1300" dirty="0"/>
          </a:p>
        </p:txBody>
      </p:sp>
      <p:sp>
        <p:nvSpPr>
          <p:cNvPr id="34" name="tag-333"/>
          <p:cNvSpPr/>
          <p:nvPr/>
        </p:nvSpPr>
        <p:spPr>
          <a:xfrm>
            <a:off x="1998472" y="3483864"/>
            <a:ext cx="561848" cy="249428"/>
          </a:xfrm>
          <a:prstGeom prst="roundRect">
            <a:avLst>
              <a:gd name="adj" fmla="val 50000"/>
            </a:avLst>
          </a:prstGeom>
          <a:solidFill>
            <a:schemeClr val="bg1"/>
          </a:solidFill>
          <a:ln w="12700">
            <a:solidFill>
              <a:schemeClr val="tx2"/>
            </a:solidFill>
            <a:prstDash val="solid"/>
          </a:ln>
        </p:spPr>
      </p:sp>
      <p:sp>
        <p:nvSpPr>
          <p:cNvPr id="35" name="tag-text-334"/>
          <p:cNvSpPr txBox="1"/>
          <p:nvPr/>
        </p:nvSpPr>
        <p:spPr>
          <a:xfrm>
            <a:off x="1998472" y="3483864"/>
            <a:ext cx="561848" cy="24942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zh-TW" altLang="en-US" sz="1100" b="1" dirty="0">
                <a:solidFill>
                  <a:schemeClr val="tx2"/>
                </a:solidFill>
              </a:rPr>
              <a:t>Host</a:t>
            </a:r>
            <a:endParaRPr lang="zh-TW" sz="1100" dirty="0"/>
          </a:p>
        </p:txBody>
      </p:sp>
      <p:sp>
        <p:nvSpPr>
          <p:cNvPr id="36" name="text-335"/>
          <p:cNvSpPr txBox="1"/>
          <p:nvPr/>
        </p:nvSpPr>
        <p:spPr>
          <a:xfrm>
            <a:off x="731520" y="3858768"/>
            <a:ext cx="1874520" cy="310896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buNone/>
            </a:pPr>
            <a:r>
              <a:rPr lang="zh-TW" altLang="en-US" sz="1500" b="1" dirty="0">
                <a:solidFill>
                  <a:schemeClr val="tx1"/>
                </a:solidFill>
              </a:rPr>
              <a:t>複製原文核對</a:t>
            </a:r>
            <a:endParaRPr lang="zh-TW" sz="1500" dirty="0"/>
          </a:p>
        </p:txBody>
      </p:sp>
      <p:sp>
        <p:nvSpPr>
          <p:cNvPr id="37" name="text-336"/>
          <p:cNvSpPr txBox="1"/>
          <p:nvPr/>
        </p:nvSpPr>
        <p:spPr>
          <a:xfrm>
            <a:off x="731520" y="4169664"/>
            <a:ext cx="1920240" cy="45720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buNone/>
            </a:pPr>
            <a:r>
              <a:rPr lang="zh-TW" altLang="en-US" sz="1200" dirty="0">
                <a:solidFill>
                  <a:schemeClr val="accent6"/>
                </a:solidFill>
              </a:rPr>
              <a:t>依行號取引文，驗證頁碼、配分與分數範圍</a:t>
            </a:r>
            <a:endParaRPr lang="zh-TW" sz="1200" dirty="0"/>
          </a:p>
        </p:txBody>
      </p:sp>
      <p:sp>
        <p:nvSpPr>
          <p:cNvPr id="38" name="arrow-337"/>
          <p:cNvSpPr/>
          <p:nvPr/>
        </p:nvSpPr>
        <p:spPr>
          <a:xfrm>
            <a:off x="2779776" y="3977640"/>
            <a:ext cx="292608" cy="0"/>
          </a:xfrm>
          <a:prstGeom prst="line">
            <a:avLst/>
          </a:prstGeom>
          <a:noFill/>
          <a:ln w="22225">
            <a:solidFill>
              <a:schemeClr val="accent6"/>
            </a:solidFill>
            <a:prstDash val="solid"/>
            <a:tailEnd type="triangle"/>
          </a:ln>
        </p:spPr>
      </p:sp>
      <p:sp>
        <p:nvSpPr>
          <p:cNvPr id="39" name="card-338"/>
          <p:cNvSpPr/>
          <p:nvPr/>
        </p:nvSpPr>
        <p:spPr>
          <a:xfrm>
            <a:off x="3108960" y="3291840"/>
            <a:ext cx="2194560" cy="1371600"/>
          </a:xfrm>
          <a:prstGeom prst="roundRect">
            <a:avLst>
              <a:gd name="adj" fmla="val 5333"/>
            </a:avLst>
          </a:prstGeom>
          <a:solidFill>
            <a:schemeClr val="bg1"/>
          </a:solidFill>
          <a:ln w="12700">
            <a:solidFill>
              <a:schemeClr val="bg2"/>
            </a:solidFill>
            <a:prstDash val="solid"/>
          </a:ln>
          <a:effectLst>
            <a:outerShdw sx="100000" sy="100000" kx="0" ky="0" algn="bl" rotWithShape="0" blurRad="127000" dist="25400" dir="5400000">
              <a:srgbClr val="1A2233">
                <a:alpha val="10000"/>
              </a:srgbClr>
            </a:outerShdw>
          </a:effectLst>
        </p:spPr>
      </p:sp>
      <p:sp>
        <p:nvSpPr>
          <p:cNvPr id="40" name="pipe-dot-339"/>
          <p:cNvSpPr/>
          <p:nvPr/>
        </p:nvSpPr>
        <p:spPr>
          <a:xfrm>
            <a:off x="3291840" y="3456432"/>
            <a:ext cx="329184" cy="329184"/>
          </a:xfrm>
          <a:prstGeom prst="ellipse">
            <a:avLst/>
          </a:prstGeom>
          <a:solidFill>
            <a:schemeClr val="accent2"/>
          </a:solidFill>
          <a:ln/>
        </p:spPr>
      </p:sp>
      <p:sp>
        <p:nvSpPr>
          <p:cNvPr id="41" name="text-340"/>
          <p:cNvSpPr txBox="1"/>
          <p:nvPr/>
        </p:nvSpPr>
        <p:spPr>
          <a:xfrm>
            <a:off x="3291840" y="3456432"/>
            <a:ext cx="329184" cy="329184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zh-TW" altLang="en-US" sz="1300" b="1" dirty="0">
                <a:solidFill>
                  <a:schemeClr val="bg1"/>
                </a:solidFill>
              </a:rPr>
              <a:t>5</a:t>
            </a:r>
            <a:endParaRPr lang="zh-TW" sz="1300" dirty="0"/>
          </a:p>
        </p:txBody>
      </p:sp>
      <p:sp>
        <p:nvSpPr>
          <p:cNvPr id="42" name="tag-341"/>
          <p:cNvSpPr/>
          <p:nvPr/>
        </p:nvSpPr>
        <p:spPr>
          <a:xfrm>
            <a:off x="4463796" y="3483864"/>
            <a:ext cx="656844" cy="249428"/>
          </a:xfrm>
          <a:prstGeom prst="roundRect">
            <a:avLst>
              <a:gd name="adj" fmla="val 50000"/>
            </a:avLst>
          </a:prstGeom>
          <a:solidFill>
            <a:schemeClr val="bg1"/>
          </a:solidFill>
          <a:ln w="12700">
            <a:solidFill>
              <a:schemeClr val="accent2"/>
            </a:solidFill>
            <a:prstDash val="solid"/>
          </a:ln>
        </p:spPr>
      </p:sp>
      <p:sp>
        <p:nvSpPr>
          <p:cNvPr id="43" name="tag-text-342"/>
          <p:cNvSpPr txBox="1"/>
          <p:nvPr/>
        </p:nvSpPr>
        <p:spPr>
          <a:xfrm>
            <a:off x="4463796" y="3483864"/>
            <a:ext cx="656844" cy="24942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zh-TW" altLang="en-US" sz="1100" b="1" dirty="0">
                <a:solidFill>
                  <a:schemeClr val="accent2"/>
                </a:solidFill>
              </a:rPr>
              <a:t>使用者</a:t>
            </a:r>
            <a:endParaRPr lang="zh-TW" sz="1100" dirty="0"/>
          </a:p>
        </p:txBody>
      </p:sp>
      <p:sp>
        <p:nvSpPr>
          <p:cNvPr id="44" name="text-343"/>
          <p:cNvSpPr txBox="1"/>
          <p:nvPr/>
        </p:nvSpPr>
        <p:spPr>
          <a:xfrm>
            <a:off x="3291840" y="3858768"/>
            <a:ext cx="1874520" cy="310896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buNone/>
            </a:pPr>
            <a:r>
              <a:rPr lang="zh-TW" altLang="en-US" sz="1500" b="1" dirty="0">
                <a:solidFill>
                  <a:schemeClr val="tx1"/>
                </a:solidFill>
              </a:rPr>
              <a:t>確認老師配分</a:t>
            </a:r>
            <a:endParaRPr lang="zh-TW" sz="1500" dirty="0"/>
          </a:p>
        </p:txBody>
      </p:sp>
      <p:sp>
        <p:nvSpPr>
          <p:cNvPr id="45" name="text-344"/>
          <p:cNvSpPr txBox="1"/>
          <p:nvPr/>
        </p:nvSpPr>
        <p:spPr>
          <a:xfrm>
            <a:off x="3291840" y="4169664"/>
            <a:ext cx="1920240" cy="45720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buNone/>
            </a:pPr>
            <a:r>
              <a:rPr lang="zh-TW" altLang="en-US" sz="1200" dirty="0">
                <a:solidFill>
                  <a:schemeClr val="accent6"/>
                </a:solidFill>
              </a:rPr>
              <a:t>勾選核對後，才看得到估分</a:t>
            </a:r>
            <a:endParaRPr lang="zh-TW" sz="1200" dirty="0"/>
          </a:p>
        </p:txBody>
      </p:sp>
      <p:sp>
        <p:nvSpPr>
          <p:cNvPr id="46" name="arrow-345"/>
          <p:cNvSpPr/>
          <p:nvPr/>
        </p:nvSpPr>
        <p:spPr>
          <a:xfrm>
            <a:off x="5340096" y="3977640"/>
            <a:ext cx="292608" cy="0"/>
          </a:xfrm>
          <a:prstGeom prst="line">
            <a:avLst/>
          </a:prstGeom>
          <a:noFill/>
          <a:ln w="22225">
            <a:solidFill>
              <a:schemeClr val="accent6"/>
            </a:solidFill>
            <a:prstDash val="solid"/>
            <a:tailEnd type="triangle"/>
          </a:ln>
        </p:spPr>
      </p:sp>
      <p:sp>
        <p:nvSpPr>
          <p:cNvPr id="47" name="card-346"/>
          <p:cNvSpPr/>
          <p:nvPr/>
        </p:nvSpPr>
        <p:spPr>
          <a:xfrm>
            <a:off x="5669280" y="3291840"/>
            <a:ext cx="2194560" cy="1371600"/>
          </a:xfrm>
          <a:prstGeom prst="roundRect">
            <a:avLst>
              <a:gd name="adj" fmla="val 5333"/>
            </a:avLst>
          </a:prstGeom>
          <a:solidFill>
            <a:schemeClr val="bg1"/>
          </a:solidFill>
          <a:ln w="12700">
            <a:solidFill>
              <a:schemeClr val="bg2"/>
            </a:solidFill>
            <a:prstDash val="solid"/>
          </a:ln>
          <a:effectLst>
            <a:outerShdw sx="100000" sy="100000" kx="0" ky="0" algn="bl" rotWithShape="0" blurRad="127000" dist="25400" dir="5400000">
              <a:srgbClr val="1A2233">
                <a:alpha val="10000"/>
              </a:srgbClr>
            </a:outerShdw>
          </a:effectLst>
        </p:spPr>
      </p:sp>
      <p:sp>
        <p:nvSpPr>
          <p:cNvPr id="48" name="pipe-dot-347"/>
          <p:cNvSpPr/>
          <p:nvPr/>
        </p:nvSpPr>
        <p:spPr>
          <a:xfrm>
            <a:off x="5852160" y="3456432"/>
            <a:ext cx="329184" cy="329184"/>
          </a:xfrm>
          <a:prstGeom prst="ellipse">
            <a:avLst/>
          </a:prstGeom>
          <a:solidFill>
            <a:schemeClr val="tx2"/>
          </a:solidFill>
          <a:ln/>
        </p:spPr>
      </p:sp>
      <p:sp>
        <p:nvSpPr>
          <p:cNvPr id="49" name="text-348"/>
          <p:cNvSpPr txBox="1"/>
          <p:nvPr/>
        </p:nvSpPr>
        <p:spPr>
          <a:xfrm>
            <a:off x="5852160" y="3456432"/>
            <a:ext cx="329184" cy="329184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zh-TW" altLang="en-US" sz="1300" b="1" dirty="0">
                <a:solidFill>
                  <a:schemeClr val="bg1"/>
                </a:solidFill>
              </a:rPr>
              <a:t>6</a:t>
            </a:r>
            <a:endParaRPr lang="zh-TW" sz="1300" dirty="0"/>
          </a:p>
        </p:txBody>
      </p:sp>
      <p:sp>
        <p:nvSpPr>
          <p:cNvPr id="50" name="tag-349"/>
          <p:cNvSpPr/>
          <p:nvPr/>
        </p:nvSpPr>
        <p:spPr>
          <a:xfrm>
            <a:off x="7119112" y="3483864"/>
            <a:ext cx="561848" cy="249428"/>
          </a:xfrm>
          <a:prstGeom prst="roundRect">
            <a:avLst>
              <a:gd name="adj" fmla="val 50000"/>
            </a:avLst>
          </a:prstGeom>
          <a:solidFill>
            <a:schemeClr val="bg1"/>
          </a:solidFill>
          <a:ln w="12700">
            <a:solidFill>
              <a:schemeClr val="tx2"/>
            </a:solidFill>
            <a:prstDash val="solid"/>
          </a:ln>
        </p:spPr>
      </p:sp>
      <p:sp>
        <p:nvSpPr>
          <p:cNvPr id="51" name="tag-text-350"/>
          <p:cNvSpPr txBox="1"/>
          <p:nvPr/>
        </p:nvSpPr>
        <p:spPr>
          <a:xfrm>
            <a:off x="7119112" y="3483864"/>
            <a:ext cx="561848" cy="24942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zh-TW" altLang="en-US" sz="1100" b="1" dirty="0">
                <a:solidFill>
                  <a:schemeClr val="tx2"/>
                </a:solidFill>
              </a:rPr>
              <a:t>Host</a:t>
            </a:r>
            <a:endParaRPr lang="zh-TW" sz="1100" dirty="0"/>
          </a:p>
        </p:txBody>
      </p:sp>
      <p:sp>
        <p:nvSpPr>
          <p:cNvPr id="52" name="text-351"/>
          <p:cNvSpPr txBox="1"/>
          <p:nvPr/>
        </p:nvSpPr>
        <p:spPr>
          <a:xfrm>
            <a:off x="5852160" y="3858768"/>
            <a:ext cx="1874520" cy="310896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buNone/>
            </a:pPr>
            <a:r>
              <a:rPr lang="zh-TW" altLang="en-US" sz="1500" b="1" dirty="0">
                <a:solidFill>
                  <a:schemeClr val="tx1"/>
                </a:solidFill>
              </a:rPr>
              <a:t>加總估分區間</a:t>
            </a:r>
            <a:endParaRPr lang="zh-TW" sz="1500" dirty="0"/>
          </a:p>
        </p:txBody>
      </p:sp>
      <p:sp>
        <p:nvSpPr>
          <p:cNvPr id="53" name="text-352"/>
          <p:cNvSpPr txBox="1"/>
          <p:nvPr/>
        </p:nvSpPr>
        <p:spPr>
          <a:xfrm>
            <a:off x="5852160" y="4169664"/>
            <a:ext cx="1920240" cy="45720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buNone/>
            </a:pPr>
            <a:r>
              <a:rPr lang="zh-TW" altLang="en-US" sz="1200" dirty="0">
                <a:solidFill>
                  <a:schemeClr val="accent6"/>
                </a:solidFill>
              </a:rPr>
              <a:t>產生本機報告，可下載 JSON</a:t>
            </a:r>
            <a:endParaRPr lang="zh-TW" sz="1200" dirty="0"/>
          </a:p>
        </p:txBody>
      </p:sp>
      <p:sp>
        <p:nvSpPr>
          <p:cNvPr id="54" name="elbow-1"/>
          <p:cNvSpPr/>
          <p:nvPr/>
        </p:nvSpPr>
        <p:spPr>
          <a:xfrm>
            <a:off x="6766560" y="2971800"/>
            <a:ext cx="0" cy="160020"/>
          </a:xfrm>
          <a:prstGeom prst="line">
            <a:avLst/>
          </a:prstGeom>
          <a:noFill/>
          <a:ln w="22225">
            <a:solidFill>
              <a:schemeClr val="accent6"/>
            </a:solidFill>
            <a:prstDash val="solid"/>
          </a:ln>
        </p:spPr>
      </p:sp>
      <p:sp>
        <p:nvSpPr>
          <p:cNvPr id="55" name="elbow-2"/>
          <p:cNvSpPr/>
          <p:nvPr/>
        </p:nvSpPr>
        <p:spPr>
          <a:xfrm>
            <a:off x="1645920" y="3131820"/>
            <a:ext cx="5120640" cy="0"/>
          </a:xfrm>
          <a:prstGeom prst="line">
            <a:avLst/>
          </a:prstGeom>
          <a:noFill/>
          <a:ln w="22225">
            <a:solidFill>
              <a:schemeClr val="accent6"/>
            </a:solidFill>
            <a:prstDash val="solid"/>
          </a:ln>
        </p:spPr>
      </p:sp>
      <p:sp>
        <p:nvSpPr>
          <p:cNvPr id="56" name="arrow-353"/>
          <p:cNvSpPr/>
          <p:nvPr/>
        </p:nvSpPr>
        <p:spPr>
          <a:xfrm>
            <a:off x="1645920" y="3131820"/>
            <a:ext cx="0" cy="141732"/>
          </a:xfrm>
          <a:prstGeom prst="line">
            <a:avLst/>
          </a:prstGeom>
          <a:noFill/>
          <a:ln w="22225">
            <a:solidFill>
              <a:schemeClr val="accent6"/>
            </a:solidFill>
            <a:prstDash val="solid"/>
            <a:tailEnd type="triangle"/>
          </a:ln>
        </p:spPr>
      </p:sp>
      <p:sp>
        <p:nvSpPr>
          <p:cNvPr id="57" name="text-354"/>
          <p:cNvSpPr txBox="1"/>
          <p:nvPr/>
        </p:nvSpPr>
        <p:spPr>
          <a:xfrm>
            <a:off x="548640" y="4956048"/>
            <a:ext cx="7315200" cy="329184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buNone/>
            </a:pPr>
            <a:r>
              <a:rPr lang="zh-TW" altLang="en-US" sz="1500" b="1" dirty="0">
                <a:solidFill>
                  <a:schemeClr val="tx1"/>
                </a:solidFill>
              </a:rPr>
              <a:t>估分只在三個條件都成立時才顯示</a:t>
            </a:r>
            <a:endParaRPr lang="zh-TW" sz="1500" dirty="0"/>
          </a:p>
        </p:txBody>
      </p:sp>
      <p:sp>
        <p:nvSpPr>
          <p:cNvPr id="58" name="tag-355"/>
          <p:cNvSpPr/>
          <p:nvPr/>
        </p:nvSpPr>
        <p:spPr>
          <a:xfrm>
            <a:off x="548640" y="5394960"/>
            <a:ext cx="1558544" cy="274828"/>
          </a:xfrm>
          <a:prstGeom prst="roundRect">
            <a:avLst>
              <a:gd name="adj" fmla="val 50000"/>
            </a:avLst>
          </a:prstGeom>
          <a:solidFill>
            <a:schemeClr val="bg1"/>
          </a:solidFill>
          <a:ln w="12700">
            <a:solidFill>
              <a:schemeClr val="tx2"/>
            </a:solidFill>
            <a:prstDash val="solid"/>
          </a:ln>
        </p:spPr>
      </p:sp>
      <p:sp>
        <p:nvSpPr>
          <p:cNvPr id="59" name="tag-text-356"/>
          <p:cNvSpPr txBox="1"/>
          <p:nvPr/>
        </p:nvSpPr>
        <p:spPr>
          <a:xfrm>
            <a:off x="548640" y="5394960"/>
            <a:ext cx="1558544" cy="27482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zh-TW" altLang="en-US" sz="1300" b="1" dirty="0">
                <a:solidFill>
                  <a:schemeClr val="tx2"/>
                </a:solidFill>
              </a:rPr>
              <a:t>老師原文明列配分</a:t>
            </a:r>
            <a:endParaRPr lang="zh-TW" sz="1300" dirty="0"/>
          </a:p>
        </p:txBody>
      </p:sp>
      <p:sp>
        <p:nvSpPr>
          <p:cNvPr id="60" name="arrow-357"/>
          <p:cNvSpPr/>
          <p:nvPr/>
        </p:nvSpPr>
        <p:spPr>
          <a:xfrm>
            <a:off x="2180336" y="5541264"/>
            <a:ext cx="274320" cy="0"/>
          </a:xfrm>
          <a:prstGeom prst="line">
            <a:avLst/>
          </a:prstGeom>
          <a:noFill/>
          <a:ln w="22225">
            <a:solidFill>
              <a:schemeClr val="accent6"/>
            </a:solidFill>
            <a:prstDash val="solid"/>
            <a:tailEnd type="triangle"/>
          </a:ln>
        </p:spPr>
      </p:sp>
      <p:sp>
        <p:nvSpPr>
          <p:cNvPr id="61" name="tag-358"/>
          <p:cNvSpPr/>
          <p:nvPr/>
        </p:nvSpPr>
        <p:spPr>
          <a:xfrm>
            <a:off x="2527808" y="5394960"/>
            <a:ext cx="1142492" cy="274828"/>
          </a:xfrm>
          <a:prstGeom prst="roundRect">
            <a:avLst>
              <a:gd name="adj" fmla="val 50000"/>
            </a:avLst>
          </a:prstGeom>
          <a:solidFill>
            <a:schemeClr val="bg1"/>
          </a:solidFill>
          <a:ln w="12700">
            <a:solidFill>
              <a:schemeClr val="tx2"/>
            </a:solidFill>
            <a:prstDash val="solid"/>
          </a:ln>
        </p:spPr>
      </p:sp>
      <p:sp>
        <p:nvSpPr>
          <p:cNvPr id="62" name="tag-text-359"/>
          <p:cNvSpPr txBox="1"/>
          <p:nvPr/>
        </p:nvSpPr>
        <p:spPr>
          <a:xfrm>
            <a:off x="2527808" y="5394960"/>
            <a:ext cx="1142492" cy="27482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zh-TW" altLang="en-US" sz="1300" b="1" dirty="0">
                <a:solidFill>
                  <a:schemeClr val="tx2"/>
                </a:solidFill>
              </a:rPr>
              <a:t>總和 = 100</a:t>
            </a:r>
            <a:endParaRPr lang="zh-TW" sz="1300" dirty="0"/>
          </a:p>
        </p:txBody>
      </p:sp>
      <p:sp>
        <p:nvSpPr>
          <p:cNvPr id="63" name="arrow-360"/>
          <p:cNvSpPr/>
          <p:nvPr/>
        </p:nvSpPr>
        <p:spPr>
          <a:xfrm>
            <a:off x="3743452" y="5541264"/>
            <a:ext cx="274320" cy="0"/>
          </a:xfrm>
          <a:prstGeom prst="line">
            <a:avLst/>
          </a:prstGeom>
          <a:noFill/>
          <a:ln w="22225">
            <a:solidFill>
              <a:schemeClr val="accent6"/>
            </a:solidFill>
            <a:prstDash val="solid"/>
            <a:tailEnd type="triangle"/>
          </a:ln>
        </p:spPr>
      </p:sp>
      <p:sp>
        <p:nvSpPr>
          <p:cNvPr id="64" name="tag-361"/>
          <p:cNvSpPr/>
          <p:nvPr/>
        </p:nvSpPr>
        <p:spPr>
          <a:xfrm>
            <a:off x="4090924" y="5394960"/>
            <a:ext cx="1228344" cy="274828"/>
          </a:xfrm>
          <a:prstGeom prst="roundRect">
            <a:avLst>
              <a:gd name="adj" fmla="val 50000"/>
            </a:avLst>
          </a:prstGeom>
          <a:solidFill>
            <a:schemeClr val="bg1"/>
          </a:solidFill>
          <a:ln w="12700">
            <a:solidFill>
              <a:schemeClr val="tx2"/>
            </a:solidFill>
            <a:prstDash val="solid"/>
          </a:ln>
        </p:spPr>
      </p:sp>
      <p:sp>
        <p:nvSpPr>
          <p:cNvPr id="65" name="tag-text-362"/>
          <p:cNvSpPr txBox="1"/>
          <p:nvPr/>
        </p:nvSpPr>
        <p:spPr>
          <a:xfrm>
            <a:off x="4090924" y="5394960"/>
            <a:ext cx="1228344" cy="27482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zh-TW" altLang="en-US" sz="1300" b="1" dirty="0">
                <a:solidFill>
                  <a:schemeClr val="tx2"/>
                </a:solidFill>
              </a:rPr>
              <a:t>使用者已確認</a:t>
            </a:r>
            <a:endParaRPr lang="zh-TW" sz="1300" dirty="0"/>
          </a:p>
        </p:txBody>
      </p:sp>
      <p:sp>
        <p:nvSpPr>
          <p:cNvPr id="66" name="arrow-363"/>
          <p:cNvSpPr/>
          <p:nvPr/>
        </p:nvSpPr>
        <p:spPr>
          <a:xfrm>
            <a:off x="5392420" y="5541264"/>
            <a:ext cx="274320" cy="0"/>
          </a:xfrm>
          <a:prstGeom prst="line">
            <a:avLst/>
          </a:prstGeom>
          <a:noFill/>
          <a:ln w="22225">
            <a:solidFill>
              <a:schemeClr val="accent6"/>
            </a:solidFill>
            <a:prstDash val="solid"/>
            <a:tailEnd type="triangle"/>
          </a:ln>
        </p:spPr>
      </p:sp>
      <p:sp>
        <p:nvSpPr>
          <p:cNvPr id="67" name="tag-364"/>
          <p:cNvSpPr/>
          <p:nvPr/>
        </p:nvSpPr>
        <p:spPr>
          <a:xfrm>
            <a:off x="5739892" y="5394960"/>
            <a:ext cx="1228344" cy="274828"/>
          </a:xfrm>
          <a:prstGeom prst="roundRect">
            <a:avLst>
              <a:gd name="adj" fmla="val 50000"/>
            </a:avLst>
          </a:prstGeom>
          <a:solidFill>
            <a:schemeClr val="accent2"/>
          </a:solidFill>
          <a:ln w="12700">
            <a:solidFill>
              <a:schemeClr val="accent2"/>
            </a:solidFill>
            <a:prstDash val="solid"/>
          </a:ln>
        </p:spPr>
      </p:sp>
      <p:sp>
        <p:nvSpPr>
          <p:cNvPr id="68" name="tag-text-365"/>
          <p:cNvSpPr txBox="1"/>
          <p:nvPr/>
        </p:nvSpPr>
        <p:spPr>
          <a:xfrm>
            <a:off x="5739892" y="5394960"/>
            <a:ext cx="1228344" cy="27482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zh-TW" altLang="en-US" sz="1300" b="1" dirty="0">
                <a:solidFill>
                  <a:schemeClr val="bg1"/>
                </a:solidFill>
              </a:rPr>
              <a:t>顯示估分區間</a:t>
            </a:r>
            <a:endParaRPr lang="zh-TW" sz="1300" dirty="0"/>
          </a:p>
        </p:txBody>
      </p:sp>
      <p:sp>
        <p:nvSpPr>
          <p:cNvPr id="69" name="text-366"/>
          <p:cNvSpPr txBox="1"/>
          <p:nvPr/>
        </p:nvSpPr>
        <p:spPr>
          <a:xfrm>
            <a:off x="548640" y="5870448"/>
            <a:ext cx="7315200" cy="27432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buNone/>
            </a:pPr>
            <a:r>
              <a:rPr lang="zh-TW" altLang="en-US" sz="1300" dirty="0">
                <a:solidFill>
                  <a:schemeClr val="accent6"/>
                </a:solidFill>
              </a:rPr>
              <a:t>否則只列缺漏與待確認項，不產生分數。</a:t>
            </a:r>
            <a:endParaRPr lang="zh-TW" sz="1300" dirty="0"/>
          </a:p>
        </p:txBody>
      </p:sp>
      <p:sp>
        <p:nvSpPr>
          <p:cNvPr id="70" name="shot-frame-367"/>
          <p:cNvSpPr/>
          <p:nvPr/>
        </p:nvSpPr>
        <p:spPr>
          <a:xfrm>
            <a:off x="8449056" y="1545336"/>
            <a:ext cx="3218688" cy="4641715"/>
          </a:xfrm>
          <a:prstGeom prst="roundRect">
            <a:avLst>
              <a:gd name="adj" fmla="val 1705"/>
            </a:avLst>
          </a:prstGeom>
          <a:solidFill>
            <a:schemeClr val="bg1"/>
          </a:solidFill>
          <a:ln w="12700">
            <a:solidFill>
              <a:schemeClr val="bg2"/>
            </a:solidFill>
            <a:prstDash val="solid"/>
          </a:ln>
          <a:effectLst>
            <a:outerShdw sx="100000" sy="100000" kx="0" ky="0" algn="bl" rotWithShape="0" blurRad="127000" dist="25400" dir="5400000">
              <a:srgbClr val="1A2233">
                <a:alpha val="10000"/>
              </a:srgbClr>
            </a:outerShdw>
          </a:effectLst>
        </p:spPr>
      </p:sp>
      <p:pic>
        <p:nvPicPr>
          <p:cNvPr id="71" name="screenshot-368" descr="本機 /week7 PDF 預檢與估分的上傳畫面，尚未上傳檔案">    </p:cNvPr>
          <p:cNvPicPr>
            <a:picLocks noChangeAspect="1"/>
          </p:cNvPicPr>
          <p:nvPr/>
        </p:nvPicPr>
        <p:blipFill>
          <a:blip r:embed="rId2"/>
          <a:stretch>
            <a:fillRect/>
          </a:stretch>
        </p:blipFill>
        <p:spPr>
          <a:xfrm>
            <a:off x="8503920" y="1600200"/>
            <a:ext cx="3108960" cy="4531987"/>
          </a:xfrm>
          <a:prstGeom prst="rect">
            <a:avLst/>
          </a:prstGeom>
        </p:spPr>
      </p:pic>
      <p:sp>
        <p:nvSpPr>
          <p:cNvPr id="25" name="Slide Number Placeholder 0"/>
          <p:cNvSpPr>
            <a:spLocks noGrp="1"/>
          </p:cNvSpPr>
          <p:nvPr>
            <p:ph type="sldNum" sz="quarter" idx="4294967295"/>
          </p:nvPr>
        </p:nvSpPr>
        <p:spPr>
          <a:xfrm>
            <a:off x="11091672" y="6400800"/>
            <a:ext cx="548640" cy="256032"/>
          </a:xfrm>
          <a:prstGeom prst="rect">
            <a:avLst/>
          </a:prstGeom>
          <a:extLst>
            <a:ext uri="{C572A759-6A51-4108-AA02-DFA0A04FC94B}">
              <ma14:wrappingTextBoxFlag xmlns:ma14="http://schemas.microsoft.com/office/mac/drawingml/2011/main" val="0"/>
            </a:ext>
          </a:extLst>
        </p:spPr>
        <p:txBody>
          <a:bodyPr/>
          <a:lstStyle>
            <a:lvl1pPr>
              <a:defRPr sz="1000">
                <a:solidFill>
                  <a:schemeClr val="accent6"/>
                </a:solidFill>
              </a:defRPr>
            </a:lvl1pPr>
          </a:lstStyle>
          <a:p>
            <a:pPr algn="r"/>
            <a:fld id="{F7021451-1387-4CA6-816F-3879F97B5CBC}" type="slidenum">
              <a:rPr b="0" lang="en-US"/>
              <a:t>10</a:t>
            </a:fld>
            <a:endParaRPr lang="en-US"/>
          </a:p>
        </p:txBody>
      </p:sp>
    </p:spTree>
  </p:cSld>
  <p:clrMapOvr>
    <a:masterClrMapping/>
  </p:clrMapOvr>
</p:sld>
</file>

<file path=ppt/slides/slide11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11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ext 0"/>
          <p:cNvSpPr/>
          <p:nvPr>
            <p:ph idx="100" type="body" hasCustomPrompt="1"/>
          </p:nvPr>
        </p:nvSpPr>
        <p:spPr>
          <a:xfrm>
            <a:off x="548640" y="365760"/>
            <a:ext cx="8778240" cy="27432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algn="l" indent="0" marL="0">
              <a:buNone/>
            </a:pPr>
            <a:r>
              <a:rPr lang="zh-TW" altLang="en-US" sz="1300" b="1" dirty="0">
                <a:solidFill>
                  <a:schemeClr val="accent6"/>
                </a:solidFill>
              </a:rPr>
              <a:t>PDF 預檢 · 真實呼叫紀錄</a:t>
            </a:r>
            <a:endParaRPr lang="zh-TW" sz="1300" dirty="0"/>
          </a:p>
        </p:txBody>
      </p:sp>
      <p:sp>
        <p:nvSpPr>
          <p:cNvPr id="3" name="Text 0"/>
          <p:cNvSpPr/>
          <p:nvPr>
            <p:ph idx="101" type="title" hasCustomPrompt="1"/>
          </p:nvPr>
        </p:nvSpPr>
        <p:spPr>
          <a:xfrm>
            <a:off x="548640" y="658368"/>
            <a:ext cx="11064240" cy="68580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algn="l" indent="0" marL="0">
              <a:buNone/>
            </a:pPr>
            <a:r>
              <a:rPr lang="zh-TW" altLang="en-US" sz="3000" b="1" dirty="0">
                <a:solidFill>
                  <a:schemeClr val="tx1"/>
                </a:solidFill>
              </a:rPr>
              <a:t>兩次真實失敗都被 Host 擋下，沒有給出錯誤分數</a:t>
            </a:r>
            <a:endParaRPr lang="zh-TW" sz="3000" dirty="0"/>
          </a:p>
        </p:txBody>
      </p:sp>
      <p:sp>
        <p:nvSpPr>
          <p:cNvPr id="5" name="chip-new-369"/>
          <p:cNvSpPr/>
          <p:nvPr/>
        </p:nvSpPr>
        <p:spPr>
          <a:xfrm>
            <a:off x="9966960" y="329184"/>
            <a:ext cx="1398422" cy="298704"/>
          </a:xfrm>
          <a:prstGeom prst="roundRect">
            <a:avLst>
              <a:gd name="adj" fmla="val 50000"/>
            </a:avLst>
          </a:prstGeom>
          <a:solidFill>
            <a:schemeClr val="accent1"/>
          </a:solidFill>
          <a:ln/>
        </p:spPr>
      </p:sp>
      <p:pic>
        <p:nvPicPr>
          <p:cNvPr id="6" name="chip-icon-370" descr="v0.8 新功能">    </p:cNvPr>
          <p:cNvPicPr>
            <a:picLocks noChangeAspect="1"/>
          </p:cNvPicPr>
          <p:nvPr/>
        </p:nvPicPr>
        <p:blipFill>
          <a:blip r:embed="rId1"/>
          <a:stretch>
            <a:fillRect/>
          </a:stretch>
        </p:blipFill>
        <p:spPr>
          <a:xfrm>
            <a:off x="10076688" y="388925"/>
            <a:ext cx="179222" cy="179222"/>
          </a:xfrm>
          <a:prstGeom prst="rect">
            <a:avLst/>
          </a:prstGeom>
        </p:spPr>
      </p:pic>
      <p:sp>
        <p:nvSpPr>
          <p:cNvPr id="7" name="chip-text-371"/>
          <p:cNvSpPr txBox="1"/>
          <p:nvPr/>
        </p:nvSpPr>
        <p:spPr>
          <a:xfrm>
            <a:off x="10319918" y="329184"/>
            <a:ext cx="1036320" cy="298704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zh-TW" altLang="en-US" sz="1200" b="1" dirty="0">
                <a:solidFill>
                  <a:schemeClr val="tx2"/>
                </a:solidFill>
              </a:rPr>
              <a:t>v0.8 新功能</a:t>
            </a:r>
            <a:endParaRPr lang="zh-TW" sz="1200" dirty="0"/>
          </a:p>
        </p:txBody>
      </p:sp>
      <p:sp>
        <p:nvSpPr>
          <p:cNvPr id="8" name="card-372"/>
          <p:cNvSpPr/>
          <p:nvPr/>
        </p:nvSpPr>
        <p:spPr>
          <a:xfrm>
            <a:off x="548640" y="1600200"/>
            <a:ext cx="3520440" cy="3291840"/>
          </a:xfrm>
          <a:prstGeom prst="roundRect">
            <a:avLst>
              <a:gd name="adj" fmla="val 2222"/>
            </a:avLst>
          </a:prstGeom>
          <a:solidFill>
            <a:schemeClr val="bg1"/>
          </a:solidFill>
          <a:ln w="12700">
            <a:solidFill>
              <a:schemeClr val="bg2"/>
            </a:solidFill>
            <a:prstDash val="solid"/>
          </a:ln>
          <a:effectLst>
            <a:outerShdw sx="100000" sy="100000" kx="0" ky="0" algn="bl" rotWithShape="0" blurRad="127000" dist="25400" dir="5400000">
              <a:srgbClr val="1A2233">
                <a:alpha val="10000"/>
              </a:srgbClr>
            </a:outerShdw>
          </a:effectLst>
        </p:spPr>
      </p:sp>
      <p:sp>
        <p:nvSpPr>
          <p:cNvPr id="9" name="text-373"/>
          <p:cNvSpPr txBox="1"/>
          <p:nvPr/>
        </p:nvSpPr>
        <p:spPr>
          <a:xfrm>
            <a:off x="804672" y="1810512"/>
            <a:ext cx="1371600" cy="29260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zh-TW" altLang="en-US" sz="1300" b="1" dirty="0">
                <a:solidFill>
                  <a:schemeClr val="accent6"/>
                </a:solidFill>
              </a:rPr>
              <a:t>ae1a441</a:t>
            </a:r>
            <a:endParaRPr lang="zh-TW" sz="1300" dirty="0"/>
          </a:p>
        </p:txBody>
      </p:sp>
      <p:sp>
        <p:nvSpPr>
          <p:cNvPr id="10" name="chip-fail-374"/>
          <p:cNvSpPr/>
          <p:nvPr/>
        </p:nvSpPr>
        <p:spPr>
          <a:xfrm>
            <a:off x="2514600" y="1810512"/>
            <a:ext cx="1294790" cy="298704"/>
          </a:xfrm>
          <a:prstGeom prst="roundRect">
            <a:avLst>
              <a:gd name="adj" fmla="val 50000"/>
            </a:avLst>
          </a:prstGeom>
          <a:solidFill>
            <a:schemeClr val="accent5"/>
          </a:solidFill>
          <a:ln/>
        </p:spPr>
      </p:sp>
      <p:pic>
        <p:nvPicPr>
          <p:cNvPr id="11" name="chip-icon-375" descr="LIVE_FAIL">    </p:cNvPr>
          <p:cNvPicPr>
            <a:picLocks noChangeAspect="1"/>
          </p:cNvPicPr>
          <p:nvPr/>
        </p:nvPicPr>
        <p:blipFill>
          <a:blip r:embed="rId2"/>
          <a:stretch>
            <a:fillRect/>
          </a:stretch>
        </p:blipFill>
        <p:spPr>
          <a:xfrm>
            <a:off x="2624328" y="1870253"/>
            <a:ext cx="179222" cy="179222"/>
          </a:xfrm>
          <a:prstGeom prst="rect">
            <a:avLst/>
          </a:prstGeom>
        </p:spPr>
      </p:pic>
      <p:sp>
        <p:nvSpPr>
          <p:cNvPr id="12" name="chip-text-376"/>
          <p:cNvSpPr txBox="1"/>
          <p:nvPr/>
        </p:nvSpPr>
        <p:spPr>
          <a:xfrm>
            <a:off x="2867558" y="1810512"/>
            <a:ext cx="932688" cy="298704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zh-TW" altLang="en-US" sz="1200" b="1" dirty="0">
                <a:solidFill>
                  <a:schemeClr val="bg1"/>
                </a:solidFill>
              </a:rPr>
              <a:t>LIVE_FAIL</a:t>
            </a:r>
            <a:endParaRPr lang="zh-TW" sz="1200" dirty="0"/>
          </a:p>
        </p:txBody>
      </p:sp>
      <p:sp>
        <p:nvSpPr>
          <p:cNvPr id="13" name="text-377"/>
          <p:cNvSpPr txBox="1"/>
          <p:nvPr/>
        </p:nvSpPr>
        <p:spPr>
          <a:xfrm>
            <a:off x="804672" y="2286000"/>
            <a:ext cx="3063240" cy="36576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buNone/>
            </a:pPr>
            <a:r>
              <a:rPr lang="zh-TW" altLang="en-US" sz="1700" b="1" dirty="0">
                <a:solidFill>
                  <a:schemeClr val="tx1"/>
                </a:solidFill>
              </a:rPr>
              <a:t>gpt-4.1-mini 直接寫引文</a:t>
            </a:r>
            <a:endParaRPr lang="zh-TW" sz="1700" dirty="0"/>
          </a:p>
        </p:txBody>
      </p:sp>
      <p:sp>
        <p:nvSpPr>
          <p:cNvPr id="14" name="text-378"/>
          <p:cNvSpPr txBox="1"/>
          <p:nvPr/>
        </p:nvSpPr>
        <p:spPr>
          <a:xfrm>
            <a:off x="804672" y="2724912"/>
            <a:ext cx="3063240" cy="86868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buNone/>
            </a:pPr>
            <a:r>
              <a:rPr lang="zh-TW" altLang="en-US" sz="1400" dirty="0">
                <a:solidFill>
                  <a:schemeClr val="tx1"/>
                </a:solidFill>
              </a:rPr>
              <a:t>模型把摘要當成逐字引文，還混用頁碼。</a:t>
            </a:r>
            <a:endParaRPr lang="zh-TW" sz="1400" dirty="0"/>
          </a:p>
        </p:txBody>
      </p:sp>
      <p:sp>
        <p:nvSpPr>
          <p:cNvPr id="15" name="card-379"/>
          <p:cNvSpPr/>
          <p:nvPr/>
        </p:nvSpPr>
        <p:spPr>
          <a:xfrm>
            <a:off x="804672" y="3657600"/>
            <a:ext cx="3008376" cy="384048"/>
          </a:xfrm>
          <a:prstGeom prst="roundRect">
            <a:avLst>
              <a:gd name="adj" fmla="val 11905"/>
            </a:avLst>
          </a:prstGeom>
          <a:solidFill>
            <a:schemeClr val="bg2"/>
          </a:solidFill>
          <a:ln/>
        </p:spPr>
      </p:sp>
      <p:sp>
        <p:nvSpPr>
          <p:cNvPr id="16" name="text-380"/>
          <p:cNvSpPr txBox="1"/>
          <p:nvPr/>
        </p:nvSpPr>
        <p:spPr>
          <a:xfrm>
            <a:off x="914400" y="3657600"/>
            <a:ext cx="2834640" cy="38404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zh-TW" altLang="en-US" sz="1200" b="1" dirty="0">
                <a:solidFill>
                  <a:schemeClr val="accent5"/>
                </a:solidFill>
                <a:latin typeface="Courier New" pitchFamily="34" charset="0"/>
                <a:ea typeface="Courier New" pitchFamily="34" charset="-122"/>
                <a:cs typeface="Courier New" pitchFamily="34" charset="-120"/>
              </a:rPr>
              <a:t>UNGROUNDED_PDF_REPORT</a:t>
            </a:r>
            <a:endParaRPr lang="zh-TW" sz="1200" dirty="0"/>
          </a:p>
        </p:txBody>
      </p:sp>
      <p:pic>
        <p:nvPicPr>
          <p:cNvPr id="17" name="icon-381" descr="ShieldCheck">    </p:cNvPr>
          <p:cNvPicPr>
            <a:picLocks noChangeAspect="1"/>
          </p:cNvPicPr>
          <p:nvPr/>
        </p:nvPicPr>
        <p:blipFill>
          <a:blip r:embed="rId3"/>
          <a:stretch>
            <a:fillRect/>
          </a:stretch>
        </p:blipFill>
        <p:spPr>
          <a:xfrm>
            <a:off x="804672" y="4261104"/>
            <a:ext cx="274320" cy="274320"/>
          </a:xfrm>
          <a:prstGeom prst="rect">
            <a:avLst/>
          </a:prstGeom>
        </p:spPr>
      </p:pic>
      <p:sp>
        <p:nvSpPr>
          <p:cNvPr id="18" name="text-382"/>
          <p:cNvSpPr txBox="1"/>
          <p:nvPr/>
        </p:nvSpPr>
        <p:spPr>
          <a:xfrm>
            <a:off x="1170432" y="4224528"/>
            <a:ext cx="2743200" cy="347472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zh-TW" altLang="en-US" sz="1400" b="1" dirty="0">
                <a:solidFill>
                  <a:schemeClr val="tx1"/>
                </a:solidFill>
              </a:rPr>
              <a:t>Host 拒絕輸出成績</a:t>
            </a:r>
            <a:endParaRPr lang="zh-TW" sz="1400" dirty="0"/>
          </a:p>
        </p:txBody>
      </p:sp>
      <p:sp>
        <p:nvSpPr>
          <p:cNvPr id="19" name="arrow-383"/>
          <p:cNvSpPr/>
          <p:nvPr/>
        </p:nvSpPr>
        <p:spPr>
          <a:xfrm>
            <a:off x="4096512" y="3246120"/>
            <a:ext cx="210312" cy="0"/>
          </a:xfrm>
          <a:prstGeom prst="line">
            <a:avLst/>
          </a:prstGeom>
          <a:noFill/>
          <a:ln w="22225">
            <a:solidFill>
              <a:schemeClr val="accent6"/>
            </a:solidFill>
            <a:prstDash val="solid"/>
            <a:tailEnd type="triangle"/>
          </a:ln>
        </p:spPr>
      </p:sp>
      <p:sp>
        <p:nvSpPr>
          <p:cNvPr id="20" name="card-384"/>
          <p:cNvSpPr/>
          <p:nvPr/>
        </p:nvSpPr>
        <p:spPr>
          <a:xfrm>
            <a:off x="4334256" y="1600200"/>
            <a:ext cx="3520440" cy="3291840"/>
          </a:xfrm>
          <a:prstGeom prst="roundRect">
            <a:avLst>
              <a:gd name="adj" fmla="val 2222"/>
            </a:avLst>
          </a:prstGeom>
          <a:solidFill>
            <a:schemeClr val="bg1"/>
          </a:solidFill>
          <a:ln w="12700">
            <a:solidFill>
              <a:schemeClr val="bg2"/>
            </a:solidFill>
            <a:prstDash val="solid"/>
          </a:ln>
          <a:effectLst>
            <a:outerShdw sx="100000" sy="100000" kx="0" ky="0" algn="bl" rotWithShape="0" blurRad="127000" dist="25400" dir="5400000">
              <a:srgbClr val="1A2233">
                <a:alpha val="10000"/>
              </a:srgbClr>
            </a:outerShdw>
          </a:effectLst>
        </p:spPr>
      </p:sp>
      <p:sp>
        <p:nvSpPr>
          <p:cNvPr id="21" name="text-385"/>
          <p:cNvSpPr txBox="1"/>
          <p:nvPr/>
        </p:nvSpPr>
        <p:spPr>
          <a:xfrm>
            <a:off x="4590288" y="1810512"/>
            <a:ext cx="1371600" cy="29260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zh-TW" altLang="en-US" sz="1300" b="1" dirty="0">
                <a:solidFill>
                  <a:schemeClr val="accent6"/>
                </a:solidFill>
              </a:rPr>
              <a:t>a9010bf</a:t>
            </a:r>
            <a:endParaRPr lang="zh-TW" sz="1300" dirty="0"/>
          </a:p>
        </p:txBody>
      </p:sp>
      <p:sp>
        <p:nvSpPr>
          <p:cNvPr id="22" name="chip-fail-386"/>
          <p:cNvSpPr/>
          <p:nvPr/>
        </p:nvSpPr>
        <p:spPr>
          <a:xfrm>
            <a:off x="6300216" y="1810512"/>
            <a:ext cx="1294790" cy="298704"/>
          </a:xfrm>
          <a:prstGeom prst="roundRect">
            <a:avLst>
              <a:gd name="adj" fmla="val 50000"/>
            </a:avLst>
          </a:prstGeom>
          <a:solidFill>
            <a:schemeClr val="accent5"/>
          </a:solidFill>
          <a:ln/>
        </p:spPr>
      </p:sp>
      <p:pic>
        <p:nvPicPr>
          <p:cNvPr id="23" name="chip-icon-387" descr="LIVE_FAIL">    </p:cNvPr>
          <p:cNvPicPr>
            <a:picLocks noChangeAspect="1"/>
          </p:cNvPicPr>
          <p:nvPr/>
        </p:nvPicPr>
        <p:blipFill>
          <a:blip r:embed="rId4"/>
          <a:stretch>
            <a:fillRect/>
          </a:stretch>
        </p:blipFill>
        <p:spPr>
          <a:xfrm>
            <a:off x="6409944" y="1870253"/>
            <a:ext cx="179222" cy="179222"/>
          </a:xfrm>
          <a:prstGeom prst="rect">
            <a:avLst/>
          </a:prstGeom>
        </p:spPr>
      </p:pic>
      <p:sp>
        <p:nvSpPr>
          <p:cNvPr id="24" name="chip-text-388"/>
          <p:cNvSpPr txBox="1"/>
          <p:nvPr/>
        </p:nvSpPr>
        <p:spPr>
          <a:xfrm>
            <a:off x="6653174" y="1810512"/>
            <a:ext cx="932688" cy="298704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zh-TW" altLang="en-US" sz="1200" b="1" dirty="0">
                <a:solidFill>
                  <a:schemeClr val="bg1"/>
                </a:solidFill>
              </a:rPr>
              <a:t>LIVE_FAIL</a:t>
            </a:r>
            <a:endParaRPr lang="zh-TW" sz="1200" dirty="0"/>
          </a:p>
        </p:txBody>
      </p:sp>
      <p:sp>
        <p:nvSpPr>
          <p:cNvPr id="25" name="text-389"/>
          <p:cNvSpPr txBox="1"/>
          <p:nvPr/>
        </p:nvSpPr>
        <p:spPr>
          <a:xfrm>
            <a:off x="4590288" y="2286000"/>
            <a:ext cx="3063240" cy="36576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buNone/>
            </a:pPr>
            <a:r>
              <a:rPr lang="zh-TW" altLang="en-US" sz="1700" b="1" dirty="0">
                <a:solidFill>
                  <a:schemeClr val="tx1"/>
                </a:solidFill>
              </a:rPr>
              <a:t>改成模型選行號、Host 複製</a:t>
            </a:r>
            <a:endParaRPr lang="zh-TW" sz="1700" dirty="0"/>
          </a:p>
        </p:txBody>
      </p:sp>
      <p:sp>
        <p:nvSpPr>
          <p:cNvPr id="26" name="text-390"/>
          <p:cNvSpPr txBox="1"/>
          <p:nvPr/>
        </p:nvSpPr>
        <p:spPr>
          <a:xfrm>
            <a:off x="4590288" y="2724912"/>
            <a:ext cx="3063240" cy="86868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buNone/>
            </a:pPr>
            <a:r>
              <a:rPr lang="zh-TW" altLang="en-US" sz="1400" dirty="0">
                <a:solidFill>
                  <a:schemeClr val="tx1"/>
                </a:solidFill>
              </a:rPr>
              <a:t>模型選了跨頁、過長的範圍；人工抽查也發現目錄被當成正文。</a:t>
            </a:r>
            <a:endParaRPr lang="zh-TW" sz="1400" dirty="0"/>
          </a:p>
        </p:txBody>
      </p:sp>
      <p:sp>
        <p:nvSpPr>
          <p:cNvPr id="27" name="card-391"/>
          <p:cNvSpPr/>
          <p:nvPr/>
        </p:nvSpPr>
        <p:spPr>
          <a:xfrm>
            <a:off x="4590288" y="3657600"/>
            <a:ext cx="3008376" cy="384048"/>
          </a:xfrm>
          <a:prstGeom prst="roundRect">
            <a:avLst>
              <a:gd name="adj" fmla="val 11905"/>
            </a:avLst>
          </a:prstGeom>
          <a:solidFill>
            <a:schemeClr val="bg2"/>
          </a:solidFill>
          <a:ln/>
        </p:spPr>
      </p:sp>
      <p:sp>
        <p:nvSpPr>
          <p:cNvPr id="28" name="text-392"/>
          <p:cNvSpPr txBox="1"/>
          <p:nvPr/>
        </p:nvSpPr>
        <p:spPr>
          <a:xfrm>
            <a:off x="4700016" y="3657600"/>
            <a:ext cx="2834640" cy="38404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zh-TW" altLang="en-US" sz="1200" b="1" dirty="0">
                <a:solidFill>
                  <a:schemeClr val="accent5"/>
                </a:solidFill>
                <a:latin typeface="Courier New" pitchFamily="34" charset="0"/>
                <a:ea typeface="Courier New" pitchFamily="34" charset="-122"/>
                <a:cs typeface="Courier New" pitchFamily="34" charset="-120"/>
              </a:rPr>
              <a:t>INVALID_SOURCE_REFERENCE</a:t>
            </a:r>
            <a:endParaRPr lang="zh-TW" sz="1200" dirty="0"/>
          </a:p>
        </p:txBody>
      </p:sp>
      <p:pic>
        <p:nvPicPr>
          <p:cNvPr id="29" name="icon-393" descr="ShieldCheck">    </p:cNvPr>
          <p:cNvPicPr>
            <a:picLocks noChangeAspect="1"/>
          </p:cNvPicPr>
          <p:nvPr/>
        </p:nvPicPr>
        <p:blipFill>
          <a:blip r:embed="rId5"/>
          <a:stretch>
            <a:fillRect/>
          </a:stretch>
        </p:blipFill>
        <p:spPr>
          <a:xfrm>
            <a:off x="4590288" y="4261104"/>
            <a:ext cx="274320" cy="274320"/>
          </a:xfrm>
          <a:prstGeom prst="rect">
            <a:avLst/>
          </a:prstGeom>
        </p:spPr>
      </p:pic>
      <p:sp>
        <p:nvSpPr>
          <p:cNvPr id="30" name="text-394"/>
          <p:cNvSpPr txBox="1"/>
          <p:nvPr/>
        </p:nvSpPr>
        <p:spPr>
          <a:xfrm>
            <a:off x="4956048" y="4224528"/>
            <a:ext cx="2743200" cy="347472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zh-TW" altLang="en-US" sz="1400" b="1" dirty="0">
                <a:solidFill>
                  <a:schemeClr val="tx1"/>
                </a:solidFill>
              </a:rPr>
              <a:t>引用被擋下，未給分</a:t>
            </a:r>
            <a:endParaRPr lang="zh-TW" sz="1400" dirty="0"/>
          </a:p>
        </p:txBody>
      </p:sp>
      <p:sp>
        <p:nvSpPr>
          <p:cNvPr id="31" name="arrow-395"/>
          <p:cNvSpPr/>
          <p:nvPr/>
        </p:nvSpPr>
        <p:spPr>
          <a:xfrm>
            <a:off x="7882128" y="3246120"/>
            <a:ext cx="210312" cy="0"/>
          </a:xfrm>
          <a:prstGeom prst="line">
            <a:avLst/>
          </a:prstGeom>
          <a:noFill/>
          <a:ln w="22225">
            <a:solidFill>
              <a:schemeClr val="accent6"/>
            </a:solidFill>
            <a:prstDash val="solid"/>
            <a:tailEnd type="triangle"/>
          </a:ln>
        </p:spPr>
      </p:sp>
      <p:sp>
        <p:nvSpPr>
          <p:cNvPr id="32" name="card-396"/>
          <p:cNvSpPr/>
          <p:nvPr/>
        </p:nvSpPr>
        <p:spPr>
          <a:xfrm>
            <a:off x="8119872" y="1600200"/>
            <a:ext cx="3520440" cy="3291840"/>
          </a:xfrm>
          <a:prstGeom prst="roundRect">
            <a:avLst>
              <a:gd name="adj" fmla="val 2222"/>
            </a:avLst>
          </a:prstGeom>
          <a:solidFill>
            <a:schemeClr val="bg1"/>
          </a:solidFill>
          <a:ln w="25400">
            <a:solidFill>
              <a:schemeClr val="accent1"/>
            </a:solidFill>
            <a:prstDash val="solid"/>
          </a:ln>
          <a:effectLst>
            <a:outerShdw sx="100000" sy="100000" kx="0" ky="0" algn="bl" rotWithShape="0" blurRad="127000" dist="25400" dir="5400000">
              <a:srgbClr val="1A2233">
                <a:alpha val="10000"/>
              </a:srgbClr>
            </a:outerShdw>
          </a:effectLst>
        </p:spPr>
      </p:sp>
      <p:sp>
        <p:nvSpPr>
          <p:cNvPr id="33" name="text-397"/>
          <p:cNvSpPr txBox="1"/>
          <p:nvPr/>
        </p:nvSpPr>
        <p:spPr>
          <a:xfrm>
            <a:off x="8375904" y="1810512"/>
            <a:ext cx="1371600" cy="29260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zh-TW" altLang="en-US" sz="1300" b="1" dirty="0">
                <a:solidFill>
                  <a:schemeClr val="accent6"/>
                </a:solidFill>
              </a:rPr>
              <a:t>13b2b1e</a:t>
            </a:r>
            <a:endParaRPr lang="zh-TW" sz="1300" dirty="0"/>
          </a:p>
        </p:txBody>
      </p:sp>
      <p:sp>
        <p:nvSpPr>
          <p:cNvPr id="34" name="chip-pending-398"/>
          <p:cNvSpPr/>
          <p:nvPr/>
        </p:nvSpPr>
        <p:spPr>
          <a:xfrm>
            <a:off x="10119360" y="1810512"/>
            <a:ext cx="1261262" cy="298704"/>
          </a:xfrm>
          <a:prstGeom prst="roundRect">
            <a:avLst>
              <a:gd name="adj" fmla="val 50000"/>
            </a:avLst>
          </a:prstGeom>
          <a:solidFill>
            <a:schemeClr val="accent3"/>
          </a:solidFill>
          <a:ln/>
        </p:spPr>
      </p:sp>
      <p:pic>
        <p:nvPicPr>
          <p:cNvPr id="35" name="chip-icon-399" descr="結果待記錄">    </p:cNvPr>
          <p:cNvPicPr>
            <a:picLocks noChangeAspect="1"/>
          </p:cNvPicPr>
          <p:nvPr/>
        </p:nvPicPr>
        <p:blipFill>
          <a:blip r:embed="rId6"/>
          <a:stretch>
            <a:fillRect/>
          </a:stretch>
        </p:blipFill>
        <p:spPr>
          <a:xfrm>
            <a:off x="10229088" y="1870253"/>
            <a:ext cx="179222" cy="179222"/>
          </a:xfrm>
          <a:prstGeom prst="rect">
            <a:avLst/>
          </a:prstGeom>
        </p:spPr>
      </p:pic>
      <p:sp>
        <p:nvSpPr>
          <p:cNvPr id="36" name="chip-text-400"/>
          <p:cNvSpPr txBox="1"/>
          <p:nvPr/>
        </p:nvSpPr>
        <p:spPr>
          <a:xfrm>
            <a:off x="10472318" y="1810512"/>
            <a:ext cx="899160" cy="298704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zh-TW" altLang="en-US" sz="1200" b="1" dirty="0">
                <a:solidFill>
                  <a:schemeClr val="bg1"/>
                </a:solidFill>
              </a:rPr>
              <a:t>結果待記錄</a:t>
            </a:r>
            <a:endParaRPr lang="zh-TW" sz="1200" dirty="0"/>
          </a:p>
        </p:txBody>
      </p:sp>
      <p:sp>
        <p:nvSpPr>
          <p:cNvPr id="37" name="text-401"/>
          <p:cNvSpPr txBox="1"/>
          <p:nvPr/>
        </p:nvSpPr>
        <p:spPr>
          <a:xfrm>
            <a:off x="8375904" y="2286000"/>
            <a:ext cx="3063240" cy="36576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buNone/>
            </a:pPr>
            <a:r>
              <a:rPr lang="zh-TW" altLang="en-US" sz="1700" b="1" dirty="0">
                <a:solidFill>
                  <a:schemeClr val="tx1"/>
                </a:solidFill>
              </a:rPr>
              <a:t>PDF 改用 gpt-5.4</a:t>
            </a:r>
            <a:endParaRPr lang="zh-TW" sz="1700" dirty="0"/>
          </a:p>
        </p:txBody>
      </p:sp>
      <p:sp>
        <p:nvSpPr>
          <p:cNvPr id="38" name="text-402"/>
          <p:cNvSpPr txBox="1"/>
          <p:nvPr/>
        </p:nvSpPr>
        <p:spPr>
          <a:xfrm>
            <a:off x="8375904" y="2724912"/>
            <a:ext cx="3063240" cy="86868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buNone/>
            </a:pPr>
            <a:r>
              <a:rPr lang="zh-TW" altLang="en-US" sz="1400" dirty="0">
                <a:solidFill>
                  <a:schemeClr val="tx1"/>
                </a:solidFill>
              </a:rPr>
              <a:t>保留行號驗證。最終執行狀態尚未寫入公開的 verification.json。</a:t>
            </a:r>
            <a:endParaRPr lang="zh-TW" sz="1400" dirty="0"/>
          </a:p>
        </p:txBody>
      </p:sp>
      <p:sp>
        <p:nvSpPr>
          <p:cNvPr id="39" name="card-403"/>
          <p:cNvSpPr/>
          <p:nvPr/>
        </p:nvSpPr>
        <p:spPr>
          <a:xfrm>
            <a:off x="8375904" y="3657600"/>
            <a:ext cx="3008376" cy="384048"/>
          </a:xfrm>
          <a:prstGeom prst="roundRect">
            <a:avLst>
              <a:gd name="adj" fmla="val 11905"/>
            </a:avLst>
          </a:prstGeom>
          <a:solidFill>
            <a:schemeClr val="bg2"/>
          </a:solidFill>
          <a:ln/>
        </p:spPr>
      </p:sp>
      <p:sp>
        <p:nvSpPr>
          <p:cNvPr id="40" name="text-404"/>
          <p:cNvSpPr txBox="1"/>
          <p:nvPr/>
        </p:nvSpPr>
        <p:spPr>
          <a:xfrm>
            <a:off x="8485632" y="3657600"/>
            <a:ext cx="2834640" cy="38404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zh-TW" altLang="en-US" sz="1200" b="1" dirty="0">
                <a:solidFill>
                  <a:schemeClr val="tx2"/>
                </a:solidFill>
                <a:latin typeface="Courier New" pitchFamily="34" charset="0"/>
                <a:ea typeface="Courier New" pitchFamily="34" charset="-122"/>
                <a:cs typeface="Courier New" pitchFamily="34" charset="-120"/>
              </a:rPr>
              <a:t>gpt-5.4-2026-03-05</a:t>
            </a:r>
            <a:endParaRPr lang="zh-TW" sz="1200" dirty="0"/>
          </a:p>
        </p:txBody>
      </p:sp>
      <p:pic>
        <p:nvPicPr>
          <p:cNvPr id="41" name="icon-405" descr="Clock">    </p:cNvPr>
          <p:cNvPicPr>
            <a:picLocks noChangeAspect="1"/>
          </p:cNvPicPr>
          <p:nvPr/>
        </p:nvPicPr>
        <p:blipFill>
          <a:blip r:embed="rId7"/>
          <a:stretch>
            <a:fillRect/>
          </a:stretch>
        </p:blipFill>
        <p:spPr>
          <a:xfrm>
            <a:off x="8375904" y="4261104"/>
            <a:ext cx="274320" cy="274320"/>
          </a:xfrm>
          <a:prstGeom prst="rect">
            <a:avLst/>
          </a:prstGeom>
        </p:spPr>
      </p:pic>
      <p:sp>
        <p:nvSpPr>
          <p:cNvPr id="42" name="text-406"/>
          <p:cNvSpPr txBox="1"/>
          <p:nvPr/>
        </p:nvSpPr>
        <p:spPr>
          <a:xfrm>
            <a:off x="8741664" y="4224528"/>
            <a:ext cx="2743200" cy="347472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zh-TW" altLang="en-US" sz="1400" b="1" dirty="0">
                <a:solidFill>
                  <a:schemeClr val="tx1"/>
                </a:solidFill>
              </a:rPr>
              <a:t>不宣稱成功，不當作準確率</a:t>
            </a:r>
            <a:endParaRPr lang="zh-TW" sz="1400" dirty="0"/>
          </a:p>
        </p:txBody>
      </p:sp>
      <p:sp>
        <p:nvSpPr>
          <p:cNvPr id="43" name="text-407"/>
          <p:cNvSpPr txBox="1"/>
          <p:nvPr/>
        </p:nvSpPr>
        <p:spPr>
          <a:xfrm>
            <a:off x="548640" y="5138928"/>
            <a:ext cx="5486400" cy="329184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buNone/>
            </a:pPr>
            <a:r>
              <a:rPr lang="zh-TW" altLang="en-US" sz="1600" b="1" dirty="0">
                <a:solidFill>
                  <a:schemeClr val="tx1"/>
                </a:solidFill>
              </a:rPr>
              <a:t>學到的事：三層要分開驗證</a:t>
            </a:r>
            <a:endParaRPr lang="zh-TW" sz="1600" dirty="0"/>
          </a:p>
        </p:txBody>
      </p:sp>
      <p:sp>
        <p:nvSpPr>
          <p:cNvPr id="44" name="tag-408"/>
          <p:cNvSpPr/>
          <p:nvPr/>
        </p:nvSpPr>
        <p:spPr>
          <a:xfrm>
            <a:off x="548640" y="5596128"/>
            <a:ext cx="948944" cy="287528"/>
          </a:xfrm>
          <a:prstGeom prst="roundRect">
            <a:avLst>
              <a:gd name="adj" fmla="val 50000"/>
            </a:avLst>
          </a:prstGeom>
          <a:solidFill>
            <a:schemeClr val="bg1"/>
          </a:solidFill>
          <a:ln w="12700">
            <a:solidFill>
              <a:schemeClr val="tx2"/>
            </a:solidFill>
            <a:prstDash val="solid"/>
          </a:ln>
        </p:spPr>
      </p:sp>
      <p:sp>
        <p:nvSpPr>
          <p:cNvPr id="45" name="tag-text-409"/>
          <p:cNvSpPr txBox="1"/>
          <p:nvPr/>
        </p:nvSpPr>
        <p:spPr>
          <a:xfrm>
            <a:off x="548640" y="5596128"/>
            <a:ext cx="948944" cy="28752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zh-TW" altLang="en-US" sz="1400" b="1" dirty="0">
                <a:solidFill>
                  <a:schemeClr val="tx2"/>
                </a:solidFill>
              </a:rPr>
              <a:t>格式通過</a:t>
            </a:r>
            <a:endParaRPr lang="zh-TW" sz="1400" dirty="0"/>
          </a:p>
        </p:txBody>
      </p:sp>
      <p:sp>
        <p:nvSpPr>
          <p:cNvPr id="46" name="text-410"/>
          <p:cNvSpPr txBox="1"/>
          <p:nvPr/>
        </p:nvSpPr>
        <p:spPr>
          <a:xfrm>
            <a:off x="1607312" y="5559552"/>
            <a:ext cx="320040" cy="38404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zh-TW" altLang="en-US" sz="2000" b="1" dirty="0">
                <a:solidFill>
                  <a:schemeClr val="accent6"/>
                </a:solidFill>
              </a:rPr>
              <a:t>≠</a:t>
            </a:r>
            <a:endParaRPr lang="zh-TW" sz="2000" dirty="0"/>
          </a:p>
        </p:txBody>
      </p:sp>
      <p:sp>
        <p:nvSpPr>
          <p:cNvPr id="47" name="tag-411"/>
          <p:cNvSpPr/>
          <p:nvPr/>
        </p:nvSpPr>
        <p:spPr>
          <a:xfrm>
            <a:off x="2037080" y="5596128"/>
            <a:ext cx="948944" cy="287528"/>
          </a:xfrm>
          <a:prstGeom prst="roundRect">
            <a:avLst>
              <a:gd name="adj" fmla="val 50000"/>
            </a:avLst>
          </a:prstGeom>
          <a:solidFill>
            <a:schemeClr val="bg1"/>
          </a:solidFill>
          <a:ln w="12700">
            <a:solidFill>
              <a:schemeClr val="tx2"/>
            </a:solidFill>
            <a:prstDash val="solid"/>
          </a:ln>
        </p:spPr>
      </p:sp>
      <p:sp>
        <p:nvSpPr>
          <p:cNvPr id="48" name="tag-text-412"/>
          <p:cNvSpPr txBox="1"/>
          <p:nvPr/>
        </p:nvSpPr>
        <p:spPr>
          <a:xfrm>
            <a:off x="2037080" y="5596128"/>
            <a:ext cx="948944" cy="28752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zh-TW" altLang="en-US" sz="1400" b="1" dirty="0">
                <a:solidFill>
                  <a:schemeClr val="tx2"/>
                </a:solidFill>
              </a:rPr>
              <a:t>引用正確</a:t>
            </a:r>
            <a:endParaRPr lang="zh-TW" sz="1400" dirty="0"/>
          </a:p>
        </p:txBody>
      </p:sp>
      <p:sp>
        <p:nvSpPr>
          <p:cNvPr id="49" name="text-413"/>
          <p:cNvSpPr txBox="1"/>
          <p:nvPr/>
        </p:nvSpPr>
        <p:spPr>
          <a:xfrm>
            <a:off x="3095752" y="5559552"/>
            <a:ext cx="320040" cy="38404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zh-TW" altLang="en-US" sz="2000" b="1" dirty="0">
                <a:solidFill>
                  <a:schemeClr val="accent6"/>
                </a:solidFill>
              </a:rPr>
              <a:t>≠</a:t>
            </a:r>
            <a:endParaRPr lang="zh-TW" sz="2000" dirty="0"/>
          </a:p>
        </p:txBody>
      </p:sp>
      <p:sp>
        <p:nvSpPr>
          <p:cNvPr id="50" name="tag-414"/>
          <p:cNvSpPr/>
          <p:nvPr/>
        </p:nvSpPr>
        <p:spPr>
          <a:xfrm>
            <a:off x="3525520" y="5596128"/>
            <a:ext cx="1304544" cy="287528"/>
          </a:xfrm>
          <a:prstGeom prst="roundRect">
            <a:avLst>
              <a:gd name="adj" fmla="val 50000"/>
            </a:avLst>
          </a:prstGeom>
          <a:solidFill>
            <a:schemeClr val="tx2"/>
          </a:solidFill>
          <a:ln w="12700">
            <a:solidFill>
              <a:schemeClr val="tx2"/>
            </a:solidFill>
            <a:prstDash val="solid"/>
          </a:ln>
        </p:spPr>
      </p:sp>
      <p:sp>
        <p:nvSpPr>
          <p:cNvPr id="51" name="tag-text-415"/>
          <p:cNvSpPr txBox="1"/>
          <p:nvPr/>
        </p:nvSpPr>
        <p:spPr>
          <a:xfrm>
            <a:off x="3525520" y="5596128"/>
            <a:ext cx="1304544" cy="28752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zh-TW" altLang="en-US" sz="1400" b="1" dirty="0">
                <a:solidFill>
                  <a:schemeClr val="bg1"/>
                </a:solidFill>
              </a:rPr>
              <a:t>語意判斷正確</a:t>
            </a:r>
            <a:endParaRPr lang="zh-TW" sz="1400" dirty="0"/>
          </a:p>
        </p:txBody>
      </p:sp>
      <p:sp>
        <p:nvSpPr>
          <p:cNvPr id="52" name="text-416"/>
          <p:cNvSpPr txBox="1"/>
          <p:nvPr/>
        </p:nvSpPr>
        <p:spPr>
          <a:xfrm>
            <a:off x="6309360" y="5596128"/>
            <a:ext cx="5303520" cy="347472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zh-TW" altLang="en-US" sz="1300" dirty="0">
                <a:solidFill>
                  <a:schemeClr val="accent6"/>
                </a:solidFill>
              </a:rPr>
              <a:t>schema 通過不代表判斷對，所以失敗也保留原始紀錄。</a:t>
            </a:r>
            <a:endParaRPr lang="zh-TW" sz="1300" dirty="0"/>
          </a:p>
        </p:txBody>
      </p:sp>
      <p:sp>
        <p:nvSpPr>
          <p:cNvPr id="25" name="Slide Number Placeholder 0"/>
          <p:cNvSpPr>
            <a:spLocks noGrp="1"/>
          </p:cNvSpPr>
          <p:nvPr>
            <p:ph type="sldNum" sz="quarter" idx="4294967295"/>
          </p:nvPr>
        </p:nvSpPr>
        <p:spPr>
          <a:xfrm>
            <a:off x="11091672" y="6400800"/>
            <a:ext cx="548640" cy="256032"/>
          </a:xfrm>
          <a:prstGeom prst="rect">
            <a:avLst/>
          </a:prstGeom>
          <a:extLst>
            <a:ext uri="{C572A759-6A51-4108-AA02-DFA0A04FC94B}">
              <ma14:wrappingTextBoxFlag xmlns:ma14="http://schemas.microsoft.com/office/mac/drawingml/2011/main" val="0"/>
            </a:ext>
          </a:extLst>
        </p:spPr>
        <p:txBody>
          <a:bodyPr/>
          <a:lstStyle>
            <a:lvl1pPr>
              <a:defRPr sz="1000">
                <a:solidFill>
                  <a:schemeClr val="accent6"/>
                </a:solidFill>
              </a:defRPr>
            </a:lvl1pPr>
          </a:lstStyle>
          <a:p>
            <a:pPr algn="r"/>
            <a:fld id="{F7021451-1387-4CA6-816F-3879F97B5CBC}" type="slidenum">
              <a:rPr b="0" lang="en-US"/>
              <a:t>11</a:t>
            </a:fld>
            <a:endParaRPr lang="en-US"/>
          </a:p>
        </p:txBody>
      </p:sp>
    </p:spTree>
  </p:cSld>
  <p:clrMapOvr>
    <a:masterClrMapping/>
  </p:clrMapOvr>
</p:sld>
</file>

<file path=ppt/slides/slide12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12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ext 0"/>
          <p:cNvSpPr/>
          <p:nvPr>
            <p:ph idx="100" type="body" hasCustomPrompt="1"/>
          </p:nvPr>
        </p:nvSpPr>
        <p:spPr>
          <a:xfrm>
            <a:off x="548640" y="365760"/>
            <a:ext cx="8778240" cy="27432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algn="l" indent="0" marL="0">
              <a:buNone/>
            </a:pPr>
            <a:r>
              <a:rPr lang="zh-TW" altLang="en-US" sz="1300" b="1" dirty="0">
                <a:solidFill>
                  <a:schemeClr val="accent6"/>
                </a:solidFill>
              </a:rPr>
              <a:t>驗證</a:t>
            </a:r>
            <a:endParaRPr lang="zh-TW" sz="1300" dirty="0"/>
          </a:p>
        </p:txBody>
      </p:sp>
      <p:sp>
        <p:nvSpPr>
          <p:cNvPr id="3" name="Text 0"/>
          <p:cNvSpPr/>
          <p:nvPr>
            <p:ph idx="101" type="title" hasCustomPrompt="1"/>
          </p:nvPr>
        </p:nvSpPr>
        <p:spPr>
          <a:xfrm>
            <a:off x="548640" y="658368"/>
            <a:ext cx="11064240" cy="68580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algn="l" indent="0" marL="0">
              <a:buNone/>
            </a:pPr>
            <a:r>
              <a:rPr lang="zh-TW" altLang="en-US" sz="3000" b="1" dirty="0">
                <a:solidFill>
                  <a:schemeClr val="tx1"/>
                </a:solidFill>
              </a:rPr>
              <a:t>回歸測試從 107 項成長到 178 項</a:t>
            </a:r>
            <a:endParaRPr lang="zh-TW" sz="3000" dirty="0"/>
          </a:p>
        </p:txBody>
      </p:sp>
      <p:graphicFrame>
        <p:nvGraphicFramePr>
          <p:cNvPr id="5" name="tests-chart" descr=""/>
          <p:cNvGraphicFramePr/>
          <p:nvPr/>
        </p:nvGraphicFramePr>
        <p:xfrm>
          <a:off x="548640" y="1554480"/>
          <a:ext cx="5120640" cy="3977640"/>
        </p:xfrm>
        <a:graphic xmlns:a="http://schemas.openxmlformats.org/drawingml/2006/main">
          <a:graphicData uri="http://schemas.openxmlformats.org/drawingml/2006/chart">
            <c:chart xmlns:c="http://schemas.openxmlformats.org/drawingml/2006/chart" r:id="rId1"/>
          </a:graphicData>
        </a:graphic>
      </p:graphicFrame>
      <p:sp>
        <p:nvSpPr>
          <p:cNvPr id="6" name="text-417"/>
          <p:cNvSpPr txBox="1"/>
          <p:nvPr/>
        </p:nvSpPr>
        <p:spPr>
          <a:xfrm>
            <a:off x="548640" y="5577840"/>
            <a:ext cx="5120640" cy="54864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buNone/>
            </a:pPr>
            <a:r>
              <a:rPr lang="zh-TW" altLang="en-US" sz="1300" dirty="0">
                <a:solidFill>
                  <a:schemeClr val="accent6"/>
                </a:solidFill>
              </a:rPr>
              <a:t>v0.8 新增 30 項 PDF 測試。</a:t>
            </a:r>
            <a:endParaRPr lang="zh-TW" sz="1300" dirty="0"/>
          </a:p>
          <a:p>
            <a:pPr indent="0" marL="0">
              <a:buNone/>
            </a:pPr>
            <a:r>
              <a:rPr lang="zh-TW" altLang="en-US" sz="1300" dirty="0">
                <a:solidFill>
                  <a:schemeClr val="accent6"/>
                </a:solidFill>
              </a:rPr>
              <a:t>全部是離線與故障注入，不等於真實模型準確率。</a:t>
            </a:r>
            <a:endParaRPr lang="zh-TW" sz="1300" dirty="0"/>
          </a:p>
        </p:txBody>
      </p:sp>
      <p:sp>
        <p:nvSpPr>
          <p:cNvPr id="7" name="text-418"/>
          <p:cNvSpPr txBox="1"/>
          <p:nvPr/>
        </p:nvSpPr>
        <p:spPr>
          <a:xfrm>
            <a:off x="6172200" y="1600200"/>
            <a:ext cx="5486400" cy="347472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buNone/>
            </a:pPr>
            <a:r>
              <a:rPr lang="zh-TW" altLang="en-US" sz="1700" b="1" dirty="0">
                <a:solidFill>
                  <a:schemeClr val="tx1"/>
                </a:solidFill>
              </a:rPr>
              <a:t>關鍵案例：預期與實際一致</a:t>
            </a:r>
            <a:endParaRPr lang="zh-TW" sz="1700" dirty="0"/>
          </a:p>
        </p:txBody>
      </p:sp>
      <p:sp>
        <p:nvSpPr>
          <p:cNvPr id="8" name="row-bg-419"/>
          <p:cNvSpPr/>
          <p:nvPr/>
        </p:nvSpPr>
        <p:spPr>
          <a:xfrm>
            <a:off x="6172200" y="2048256"/>
            <a:ext cx="5468112" cy="548640"/>
          </a:xfrm>
          <a:prstGeom prst="rect">
            <a:avLst/>
          </a:prstGeom>
          <a:solidFill>
            <a:schemeClr val="bg2"/>
          </a:solidFill>
          <a:ln/>
        </p:spPr>
      </p:sp>
      <p:pic>
        <p:nvPicPr>
          <p:cNvPr id="9" name="icon-420" descr="CircleCheck">    </p:cNvPr>
          <p:cNvPicPr>
            <a:picLocks noChangeAspect="1"/>
          </p:cNvPicPr>
          <p:nvPr/>
        </p:nvPicPr>
        <p:blipFill>
          <a:blip r:embed="rId2"/>
          <a:stretch>
            <a:fillRect/>
          </a:stretch>
        </p:blipFill>
        <p:spPr>
          <a:xfrm>
            <a:off x="6291072" y="2194560"/>
            <a:ext cx="256032" cy="256032"/>
          </a:xfrm>
          <a:prstGeom prst="rect">
            <a:avLst/>
          </a:prstGeom>
        </p:spPr>
      </p:pic>
      <p:sp>
        <p:nvSpPr>
          <p:cNvPr id="10" name="text-421"/>
          <p:cNvSpPr txBox="1"/>
          <p:nvPr/>
        </p:nvSpPr>
        <p:spPr>
          <a:xfrm>
            <a:off x="6675120" y="2103120"/>
            <a:ext cx="2240280" cy="438912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zh-TW" altLang="en-US" sz="1400" b="1" dirty="0">
                <a:solidFill>
                  <a:schemeClr val="tx1"/>
                </a:solidFill>
              </a:rPr>
              <a:t>同 Session 續問</a:t>
            </a:r>
            <a:endParaRPr lang="zh-TW" sz="1400" dirty="0"/>
          </a:p>
        </p:txBody>
      </p:sp>
      <p:sp>
        <p:nvSpPr>
          <p:cNvPr id="11" name="text-422"/>
          <p:cNvSpPr txBox="1"/>
          <p:nvPr/>
        </p:nvSpPr>
        <p:spPr>
          <a:xfrm>
            <a:off x="8915400" y="2103120"/>
            <a:ext cx="1828800" cy="438912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zh-TW" altLang="en-US" sz="1200" dirty="0">
                <a:solidFill>
                  <a:schemeClr val="tx1"/>
                </a:solidFill>
              </a:rPr>
              <a:t>帶入該 Session 的摘要</a:t>
            </a:r>
            <a:endParaRPr lang="zh-TW" sz="1200" dirty="0"/>
          </a:p>
        </p:txBody>
      </p:sp>
      <p:sp>
        <p:nvSpPr>
          <p:cNvPr id="12" name="tag-423"/>
          <p:cNvSpPr/>
          <p:nvPr/>
        </p:nvSpPr>
        <p:spPr>
          <a:xfrm>
            <a:off x="11068050" y="2194560"/>
            <a:ext cx="480822" cy="249428"/>
          </a:xfrm>
          <a:prstGeom prst="roundRect">
            <a:avLst>
              <a:gd name="adj" fmla="val 50000"/>
            </a:avLst>
          </a:prstGeom>
          <a:solidFill>
            <a:schemeClr val="bg1"/>
          </a:solidFill>
          <a:ln w="12700">
            <a:solidFill>
              <a:schemeClr val="accent4"/>
            </a:solidFill>
            <a:prstDash val="solid"/>
          </a:ln>
        </p:spPr>
      </p:sp>
      <p:sp>
        <p:nvSpPr>
          <p:cNvPr id="13" name="tag-text-424"/>
          <p:cNvSpPr txBox="1"/>
          <p:nvPr/>
        </p:nvSpPr>
        <p:spPr>
          <a:xfrm>
            <a:off x="11068050" y="2194560"/>
            <a:ext cx="480822" cy="24942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zh-TW" altLang="en-US" sz="1100" b="1" dirty="0">
                <a:solidFill>
                  <a:schemeClr val="accent4"/>
                </a:solidFill>
              </a:rPr>
              <a:t>GPT</a:t>
            </a:r>
            <a:endParaRPr lang="zh-TW" sz="1100" dirty="0"/>
          </a:p>
        </p:txBody>
      </p:sp>
      <p:pic>
        <p:nvPicPr>
          <p:cNvPr id="14" name="icon-425" descr="CircleCheck">    </p:cNvPr>
          <p:cNvPicPr>
            <a:picLocks noChangeAspect="1"/>
          </p:cNvPicPr>
          <p:nvPr/>
        </p:nvPicPr>
        <p:blipFill>
          <a:blip r:embed="rId3"/>
          <a:stretch>
            <a:fillRect/>
          </a:stretch>
        </p:blipFill>
        <p:spPr>
          <a:xfrm>
            <a:off x="6291072" y="2779776"/>
            <a:ext cx="256032" cy="256032"/>
          </a:xfrm>
          <a:prstGeom prst="rect">
            <a:avLst/>
          </a:prstGeom>
        </p:spPr>
      </p:pic>
      <p:sp>
        <p:nvSpPr>
          <p:cNvPr id="15" name="text-426"/>
          <p:cNvSpPr txBox="1"/>
          <p:nvPr/>
        </p:nvSpPr>
        <p:spPr>
          <a:xfrm>
            <a:off x="6675120" y="2688336"/>
            <a:ext cx="2240280" cy="438912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zh-TW" altLang="en-US" sz="1400" b="1" dirty="0">
                <a:solidFill>
                  <a:schemeClr val="tx1"/>
                </a:solidFill>
              </a:rPr>
              <a:t>清除後新查詢</a:t>
            </a:r>
            <a:endParaRPr lang="zh-TW" sz="1400" dirty="0"/>
          </a:p>
        </p:txBody>
      </p:sp>
      <p:sp>
        <p:nvSpPr>
          <p:cNvPr id="16" name="text-427"/>
          <p:cNvSpPr txBox="1"/>
          <p:nvPr/>
        </p:nvSpPr>
        <p:spPr>
          <a:xfrm>
            <a:off x="8915400" y="2688336"/>
            <a:ext cx="1828800" cy="438912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zh-TW" altLang="en-US" sz="1200" dirty="0">
                <a:solidFill>
                  <a:schemeClr val="tx1"/>
                </a:solidFill>
              </a:rPr>
              <a:t>memory:null，任務仍完成</a:t>
            </a:r>
            <a:endParaRPr lang="zh-TW" sz="1200" dirty="0"/>
          </a:p>
        </p:txBody>
      </p:sp>
      <p:sp>
        <p:nvSpPr>
          <p:cNvPr id="17" name="tag-428"/>
          <p:cNvSpPr/>
          <p:nvPr/>
        </p:nvSpPr>
        <p:spPr>
          <a:xfrm>
            <a:off x="11068050" y="2779776"/>
            <a:ext cx="480822" cy="249428"/>
          </a:xfrm>
          <a:prstGeom prst="roundRect">
            <a:avLst>
              <a:gd name="adj" fmla="val 50000"/>
            </a:avLst>
          </a:prstGeom>
          <a:solidFill>
            <a:schemeClr val="bg1"/>
          </a:solidFill>
          <a:ln w="12700">
            <a:solidFill>
              <a:schemeClr val="accent4"/>
            </a:solidFill>
            <a:prstDash val="solid"/>
          </a:ln>
        </p:spPr>
      </p:sp>
      <p:sp>
        <p:nvSpPr>
          <p:cNvPr id="18" name="tag-text-429"/>
          <p:cNvSpPr txBox="1"/>
          <p:nvPr/>
        </p:nvSpPr>
        <p:spPr>
          <a:xfrm>
            <a:off x="11068050" y="2779776"/>
            <a:ext cx="480822" cy="24942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zh-TW" altLang="en-US" sz="1100" b="1" dirty="0">
                <a:solidFill>
                  <a:schemeClr val="accent4"/>
                </a:solidFill>
              </a:rPr>
              <a:t>GPT</a:t>
            </a:r>
            <a:endParaRPr lang="zh-TW" sz="1100" dirty="0"/>
          </a:p>
        </p:txBody>
      </p:sp>
      <p:sp>
        <p:nvSpPr>
          <p:cNvPr id="19" name="row-bg-430"/>
          <p:cNvSpPr/>
          <p:nvPr/>
        </p:nvSpPr>
        <p:spPr>
          <a:xfrm>
            <a:off x="6172200" y="3218688"/>
            <a:ext cx="5468112" cy="548640"/>
          </a:xfrm>
          <a:prstGeom prst="rect">
            <a:avLst/>
          </a:prstGeom>
          <a:solidFill>
            <a:schemeClr val="bg2"/>
          </a:solidFill>
          <a:ln/>
        </p:spPr>
      </p:sp>
      <p:pic>
        <p:nvPicPr>
          <p:cNvPr id="20" name="icon-431" descr="CircleCheck">    </p:cNvPr>
          <p:cNvPicPr>
            <a:picLocks noChangeAspect="1"/>
          </p:cNvPicPr>
          <p:nvPr/>
        </p:nvPicPr>
        <p:blipFill>
          <a:blip r:embed="rId4"/>
          <a:stretch>
            <a:fillRect/>
          </a:stretch>
        </p:blipFill>
        <p:spPr>
          <a:xfrm>
            <a:off x="6291072" y="3364992"/>
            <a:ext cx="256032" cy="256032"/>
          </a:xfrm>
          <a:prstGeom prst="rect">
            <a:avLst/>
          </a:prstGeom>
        </p:spPr>
      </p:pic>
      <p:sp>
        <p:nvSpPr>
          <p:cNvPr id="21" name="text-432"/>
          <p:cNvSpPr txBox="1"/>
          <p:nvPr/>
        </p:nvSpPr>
        <p:spPr>
          <a:xfrm>
            <a:off x="6675120" y="3273552"/>
            <a:ext cx="2240280" cy="438912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zh-TW" altLang="en-US" sz="1400" b="1" dirty="0">
                <a:solidFill>
                  <a:schemeClr val="tx1"/>
                </a:solidFill>
              </a:rPr>
              <a:t>跨使用者讀取</a:t>
            </a:r>
            <a:endParaRPr lang="zh-TW" sz="1400" dirty="0"/>
          </a:p>
        </p:txBody>
      </p:sp>
      <p:sp>
        <p:nvSpPr>
          <p:cNvPr id="22" name="text-433"/>
          <p:cNvSpPr txBox="1"/>
          <p:nvPr/>
        </p:nvSpPr>
        <p:spPr>
          <a:xfrm>
            <a:off x="8915400" y="3273552"/>
            <a:ext cx="1828800" cy="438912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zh-TW" altLang="en-US" sz="1200" dirty="0">
                <a:solidFill>
                  <a:schemeClr val="tx1"/>
                </a:solidFill>
              </a:rPr>
              <a:t>RUN_NOT_FOUND</a:t>
            </a:r>
            <a:endParaRPr lang="zh-TW" sz="1200" dirty="0"/>
          </a:p>
        </p:txBody>
      </p:sp>
      <p:sp>
        <p:nvSpPr>
          <p:cNvPr id="23" name="tag-434"/>
          <p:cNvSpPr/>
          <p:nvPr/>
        </p:nvSpPr>
        <p:spPr>
          <a:xfrm>
            <a:off x="10987024" y="3364992"/>
            <a:ext cx="561848" cy="249428"/>
          </a:xfrm>
          <a:prstGeom prst="roundRect">
            <a:avLst>
              <a:gd name="adj" fmla="val 50000"/>
            </a:avLst>
          </a:prstGeom>
          <a:solidFill>
            <a:schemeClr val="bg1"/>
          </a:solidFill>
          <a:ln w="12700">
            <a:solidFill>
              <a:schemeClr val="tx2"/>
            </a:solidFill>
            <a:prstDash val="solid"/>
          </a:ln>
        </p:spPr>
      </p:sp>
      <p:sp>
        <p:nvSpPr>
          <p:cNvPr id="24" name="tag-text-435"/>
          <p:cNvSpPr txBox="1"/>
          <p:nvPr/>
        </p:nvSpPr>
        <p:spPr>
          <a:xfrm>
            <a:off x="10987024" y="3364992"/>
            <a:ext cx="561848" cy="24942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zh-TW" altLang="en-US" sz="1100" b="1" dirty="0">
                <a:solidFill>
                  <a:schemeClr val="tx2"/>
                </a:solidFill>
              </a:rPr>
              <a:t>HTTP</a:t>
            </a:r>
            <a:endParaRPr lang="zh-TW" sz="1100" dirty="0"/>
          </a:p>
        </p:txBody>
      </p:sp>
      <p:pic>
        <p:nvPicPr>
          <p:cNvPr id="25" name="icon-436" descr="CircleCheck">    </p:cNvPr>
          <p:cNvPicPr>
            <a:picLocks noChangeAspect="1"/>
          </p:cNvPicPr>
          <p:nvPr/>
        </p:nvPicPr>
        <p:blipFill>
          <a:blip r:embed="rId5"/>
          <a:stretch>
            <a:fillRect/>
          </a:stretch>
        </p:blipFill>
        <p:spPr>
          <a:xfrm>
            <a:off x="6291072" y="3950208"/>
            <a:ext cx="256032" cy="256032"/>
          </a:xfrm>
          <a:prstGeom prst="rect">
            <a:avLst/>
          </a:prstGeom>
        </p:spPr>
      </p:pic>
      <p:sp>
        <p:nvSpPr>
          <p:cNvPr id="26" name="text-437"/>
          <p:cNvSpPr txBox="1"/>
          <p:nvPr/>
        </p:nvSpPr>
        <p:spPr>
          <a:xfrm>
            <a:off x="6675120" y="3858768"/>
            <a:ext cx="2240280" cy="438912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zh-TW" altLang="en-US" sz="1400" b="1" dirty="0">
                <a:solidFill>
                  <a:schemeClr val="tx1"/>
                </a:solidFill>
              </a:rPr>
              <a:t>同 ID 重送</a:t>
            </a:r>
            <a:endParaRPr lang="zh-TW" sz="1400" dirty="0"/>
          </a:p>
        </p:txBody>
      </p:sp>
      <p:sp>
        <p:nvSpPr>
          <p:cNvPr id="27" name="text-438"/>
          <p:cNvSpPr txBox="1"/>
          <p:nvPr/>
        </p:nvSpPr>
        <p:spPr>
          <a:xfrm>
            <a:off x="8915400" y="3858768"/>
            <a:ext cx="1828800" cy="438912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zh-TW" altLang="en-US" sz="1200" dirty="0">
                <a:solidFill>
                  <a:schemeClr val="tx1"/>
                </a:solidFill>
              </a:rPr>
              <a:t>確認後與重送都是 1 份</a:t>
            </a:r>
            <a:endParaRPr lang="zh-TW" sz="1200" dirty="0"/>
          </a:p>
        </p:txBody>
      </p:sp>
      <p:sp>
        <p:nvSpPr>
          <p:cNvPr id="28" name="tag-439"/>
          <p:cNvSpPr/>
          <p:nvPr/>
        </p:nvSpPr>
        <p:spPr>
          <a:xfrm>
            <a:off x="11068050" y="3950208"/>
            <a:ext cx="480822" cy="249428"/>
          </a:xfrm>
          <a:prstGeom prst="roundRect">
            <a:avLst>
              <a:gd name="adj" fmla="val 50000"/>
            </a:avLst>
          </a:prstGeom>
          <a:solidFill>
            <a:schemeClr val="bg1"/>
          </a:solidFill>
          <a:ln w="12700">
            <a:solidFill>
              <a:schemeClr val="accent4"/>
            </a:solidFill>
            <a:prstDash val="solid"/>
          </a:ln>
        </p:spPr>
      </p:sp>
      <p:sp>
        <p:nvSpPr>
          <p:cNvPr id="29" name="tag-text-440"/>
          <p:cNvSpPr txBox="1"/>
          <p:nvPr/>
        </p:nvSpPr>
        <p:spPr>
          <a:xfrm>
            <a:off x="11068050" y="3950208"/>
            <a:ext cx="480822" cy="24942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zh-TW" altLang="en-US" sz="1100" b="1" dirty="0">
                <a:solidFill>
                  <a:schemeClr val="accent4"/>
                </a:solidFill>
              </a:rPr>
              <a:t>GPT</a:t>
            </a:r>
            <a:endParaRPr lang="zh-TW" sz="1100" dirty="0"/>
          </a:p>
        </p:txBody>
      </p:sp>
      <p:sp>
        <p:nvSpPr>
          <p:cNvPr id="30" name="row-bg-441"/>
          <p:cNvSpPr/>
          <p:nvPr/>
        </p:nvSpPr>
        <p:spPr>
          <a:xfrm>
            <a:off x="6172200" y="4389120"/>
            <a:ext cx="5468112" cy="548640"/>
          </a:xfrm>
          <a:prstGeom prst="rect">
            <a:avLst/>
          </a:prstGeom>
          <a:solidFill>
            <a:schemeClr val="bg2"/>
          </a:solidFill>
          <a:ln/>
        </p:spPr>
      </p:sp>
      <p:pic>
        <p:nvPicPr>
          <p:cNvPr id="31" name="icon-442" descr="CircleCheck">    </p:cNvPr>
          <p:cNvPicPr>
            <a:picLocks noChangeAspect="1"/>
          </p:cNvPicPr>
          <p:nvPr/>
        </p:nvPicPr>
        <p:blipFill>
          <a:blip r:embed="rId6"/>
          <a:stretch>
            <a:fillRect/>
          </a:stretch>
        </p:blipFill>
        <p:spPr>
          <a:xfrm>
            <a:off x="6291072" y="4535424"/>
            <a:ext cx="256032" cy="256032"/>
          </a:xfrm>
          <a:prstGeom prst="rect">
            <a:avLst/>
          </a:prstGeom>
        </p:spPr>
      </p:pic>
      <p:sp>
        <p:nvSpPr>
          <p:cNvPr id="32" name="text-443"/>
          <p:cNvSpPr txBox="1"/>
          <p:nvPr/>
        </p:nvSpPr>
        <p:spPr>
          <a:xfrm>
            <a:off x="6675120" y="4443984"/>
            <a:ext cx="2240280" cy="438912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zh-TW" altLang="en-US" sz="1400" b="1" dirty="0">
                <a:solidFill>
                  <a:schemeClr val="tx1"/>
                </a:solidFill>
              </a:rPr>
              <a:t>非法參數、429</a:t>
            </a:r>
            <a:endParaRPr lang="zh-TW" sz="1400" dirty="0"/>
          </a:p>
        </p:txBody>
      </p:sp>
      <p:sp>
        <p:nvSpPr>
          <p:cNvPr id="33" name="text-444"/>
          <p:cNvSpPr txBox="1"/>
          <p:nvPr/>
        </p:nvSpPr>
        <p:spPr>
          <a:xfrm>
            <a:off x="8915400" y="4443984"/>
            <a:ext cx="1828800" cy="438912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zh-TW" altLang="en-US" sz="1200" dirty="0">
                <a:solidFill>
                  <a:schemeClr val="tx1"/>
                </a:solidFill>
              </a:rPr>
              <a:t>有限停止，不新增草稿</a:t>
            </a:r>
            <a:endParaRPr lang="zh-TW" sz="1200" dirty="0"/>
          </a:p>
        </p:txBody>
      </p:sp>
      <p:sp>
        <p:nvSpPr>
          <p:cNvPr id="34" name="tag-445"/>
          <p:cNvSpPr/>
          <p:nvPr/>
        </p:nvSpPr>
        <p:spPr>
          <a:xfrm>
            <a:off x="10752328" y="4535424"/>
            <a:ext cx="796544" cy="249428"/>
          </a:xfrm>
          <a:prstGeom prst="roundRect">
            <a:avLst>
              <a:gd name="adj" fmla="val 50000"/>
            </a:avLst>
          </a:prstGeom>
          <a:solidFill>
            <a:schemeClr val="bg1"/>
          </a:solidFill>
          <a:ln w="12700">
            <a:solidFill>
              <a:schemeClr val="accent3"/>
            </a:solidFill>
            <a:prstDash val="solid"/>
          </a:ln>
        </p:spPr>
      </p:sp>
      <p:sp>
        <p:nvSpPr>
          <p:cNvPr id="35" name="tag-text-446"/>
          <p:cNvSpPr txBox="1"/>
          <p:nvPr/>
        </p:nvSpPr>
        <p:spPr>
          <a:xfrm>
            <a:off x="10752328" y="4535424"/>
            <a:ext cx="796544" cy="24942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zh-TW" altLang="en-US" sz="1100" b="1" dirty="0">
                <a:solidFill>
                  <a:schemeClr val="accent3"/>
                </a:solidFill>
              </a:rPr>
              <a:t>故障注入</a:t>
            </a:r>
            <a:endParaRPr lang="zh-TW" sz="1100" dirty="0"/>
          </a:p>
        </p:txBody>
      </p:sp>
      <p:pic>
        <p:nvPicPr>
          <p:cNvPr id="36" name="icon-447" descr="CircleCheck">    </p:cNvPr>
          <p:cNvPicPr>
            <a:picLocks noChangeAspect="1"/>
          </p:cNvPicPr>
          <p:nvPr/>
        </p:nvPicPr>
        <p:blipFill>
          <a:blip r:embed="rId7"/>
          <a:stretch>
            <a:fillRect/>
          </a:stretch>
        </p:blipFill>
        <p:spPr>
          <a:xfrm>
            <a:off x="6291072" y="5120640"/>
            <a:ext cx="256032" cy="256032"/>
          </a:xfrm>
          <a:prstGeom prst="rect">
            <a:avLst/>
          </a:prstGeom>
        </p:spPr>
      </p:pic>
      <p:sp>
        <p:nvSpPr>
          <p:cNvPr id="37" name="text-448"/>
          <p:cNvSpPr txBox="1"/>
          <p:nvPr/>
        </p:nvSpPr>
        <p:spPr>
          <a:xfrm>
            <a:off x="6675120" y="5029200"/>
            <a:ext cx="2240280" cy="438912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zh-TW" altLang="en-US" sz="1400" b="1" dirty="0">
                <a:solidFill>
                  <a:schemeClr val="tx1"/>
                </a:solidFill>
              </a:rPr>
              <a:t>PDF 錯誤引用、無配分</a:t>
            </a:r>
            <a:endParaRPr lang="zh-TW" sz="1400" dirty="0"/>
          </a:p>
        </p:txBody>
      </p:sp>
      <p:sp>
        <p:nvSpPr>
          <p:cNvPr id="38" name="text-449"/>
          <p:cNvSpPr txBox="1"/>
          <p:nvPr/>
        </p:nvSpPr>
        <p:spPr>
          <a:xfrm>
            <a:off x="8915400" y="5029200"/>
            <a:ext cx="1828800" cy="438912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zh-TW" altLang="en-US" sz="1200" dirty="0">
                <a:solidFill>
                  <a:schemeClr val="tx1"/>
                </a:solidFill>
              </a:rPr>
              <a:t>拒絕輸出、不估分</a:t>
            </a:r>
            <a:endParaRPr lang="zh-TW" sz="1200" dirty="0"/>
          </a:p>
        </p:txBody>
      </p:sp>
      <p:sp>
        <p:nvSpPr>
          <p:cNvPr id="39" name="tag-450"/>
          <p:cNvSpPr/>
          <p:nvPr/>
        </p:nvSpPr>
        <p:spPr>
          <a:xfrm>
            <a:off x="11031728" y="5120640"/>
            <a:ext cx="517144" cy="249428"/>
          </a:xfrm>
          <a:prstGeom prst="roundRect">
            <a:avLst>
              <a:gd name="adj" fmla="val 50000"/>
            </a:avLst>
          </a:prstGeom>
          <a:solidFill>
            <a:schemeClr val="bg1"/>
          </a:solidFill>
          <a:ln w="12700">
            <a:solidFill>
              <a:schemeClr val="accent6"/>
            </a:solidFill>
            <a:prstDash val="solid"/>
          </a:ln>
        </p:spPr>
      </p:sp>
      <p:sp>
        <p:nvSpPr>
          <p:cNvPr id="40" name="tag-text-451"/>
          <p:cNvSpPr txBox="1"/>
          <p:nvPr/>
        </p:nvSpPr>
        <p:spPr>
          <a:xfrm>
            <a:off x="11031728" y="5120640"/>
            <a:ext cx="517144" cy="24942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zh-TW" altLang="en-US" sz="1100" b="1" dirty="0">
                <a:solidFill>
                  <a:schemeClr val="accent6"/>
                </a:solidFill>
              </a:rPr>
              <a:t>離線</a:t>
            </a:r>
            <a:endParaRPr lang="zh-TW" sz="1100" dirty="0"/>
          </a:p>
        </p:txBody>
      </p:sp>
      <p:sp>
        <p:nvSpPr>
          <p:cNvPr id="41" name="text-452"/>
          <p:cNvSpPr txBox="1"/>
          <p:nvPr/>
        </p:nvSpPr>
        <p:spPr>
          <a:xfrm>
            <a:off x="6172200" y="5715000"/>
            <a:ext cx="5468112" cy="36576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zh-TW" altLang="en-US" sz="1300" dirty="0">
                <a:solidFill>
                  <a:schemeClr val="accent6"/>
                </a:solidFill>
              </a:rPr>
              <a:t>Week 7 真實呼叫：14 次模型回覆、18,296 tokens（用量，不是帳單）</a:t>
            </a:r>
            <a:endParaRPr lang="zh-TW" sz="1300" dirty="0"/>
          </a:p>
        </p:txBody>
      </p:sp>
      <p:sp>
        <p:nvSpPr>
          <p:cNvPr id="25" name="Slide Number Placeholder 0"/>
          <p:cNvSpPr>
            <a:spLocks noGrp="1"/>
          </p:cNvSpPr>
          <p:nvPr>
            <p:ph type="sldNum" sz="quarter" idx="4294967295"/>
          </p:nvPr>
        </p:nvSpPr>
        <p:spPr>
          <a:xfrm>
            <a:off x="11091672" y="6400800"/>
            <a:ext cx="548640" cy="256032"/>
          </a:xfrm>
          <a:prstGeom prst="rect">
            <a:avLst/>
          </a:prstGeom>
          <a:extLst>
            <a:ext uri="{C572A759-6A51-4108-AA02-DFA0A04FC94B}">
              <ma14:wrappingTextBoxFlag xmlns:ma14="http://schemas.microsoft.com/office/mac/drawingml/2011/main" val="0"/>
            </a:ext>
          </a:extLst>
        </p:spPr>
        <p:txBody>
          <a:bodyPr/>
          <a:lstStyle>
            <a:lvl1pPr>
              <a:defRPr sz="1000">
                <a:solidFill>
                  <a:schemeClr val="accent6"/>
                </a:solidFill>
              </a:defRPr>
            </a:lvl1pPr>
          </a:lstStyle>
          <a:p>
            <a:pPr algn="r"/>
            <a:fld id="{F7021451-1387-4CA6-816F-3879F97B5CBC}" type="slidenum">
              <a:rPr b="0" lang="en-US"/>
              <a:t>12</a:t>
            </a:fld>
            <a:endParaRPr lang="en-US"/>
          </a:p>
        </p:txBody>
      </p:sp>
    </p:spTree>
  </p:cSld>
  <p:clrMapOvr>
    <a:masterClrMapping/>
  </p:clrMapOvr>
</p:sld>
</file>

<file path=ppt/slides/slide13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13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ext 0"/>
          <p:cNvSpPr/>
          <p:nvPr>
            <p:ph idx="100" type="body" hasCustomPrompt="1"/>
          </p:nvPr>
        </p:nvSpPr>
        <p:spPr>
          <a:xfrm>
            <a:off x="548640" y="365760"/>
            <a:ext cx="8778240" cy="27432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algn="l" indent="0" marL="0">
              <a:buNone/>
            </a:pPr>
            <a:r>
              <a:rPr lang="zh-TW" altLang="en-US" sz="1300" b="1" dirty="0">
                <a:solidFill>
                  <a:schemeClr val="accent6"/>
                </a:solidFill>
              </a:rPr>
              <a:t>原版 vs Session 候選 · 同輸入、同模型、同來源</a:t>
            </a:r>
            <a:endParaRPr lang="zh-TW" sz="1300" dirty="0"/>
          </a:p>
        </p:txBody>
      </p:sp>
      <p:sp>
        <p:nvSpPr>
          <p:cNvPr id="3" name="Text 0"/>
          <p:cNvSpPr/>
          <p:nvPr>
            <p:ph idx="101" type="title" hasCustomPrompt="1"/>
          </p:nvPr>
        </p:nvSpPr>
        <p:spPr>
          <a:xfrm>
            <a:off x="548640" y="658368"/>
            <a:ext cx="11064240" cy="68580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algn="l" indent="0" marL="0">
              <a:buNone/>
            </a:pPr>
            <a:r>
              <a:rPr lang="zh-TW" altLang="en-US" sz="3000" b="1" dirty="0">
                <a:solidFill>
                  <a:schemeClr val="tx1"/>
                </a:solidFill>
              </a:rPr>
              <a:t>保留一個真實失敗：模型略過了草稿提案</a:t>
            </a:r>
            <a:endParaRPr lang="zh-TW" sz="3000" dirty="0"/>
          </a:p>
        </p:txBody>
      </p:sp>
      <p:sp>
        <p:nvSpPr>
          <p:cNvPr id="5" name="text-453"/>
          <p:cNvSpPr txBox="1"/>
          <p:nvPr/>
        </p:nvSpPr>
        <p:spPr>
          <a:xfrm>
            <a:off x="548640" y="1554480"/>
            <a:ext cx="10972800" cy="310896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buNone/>
            </a:pPr>
            <a:r>
              <a:rPr lang="zh-TW" altLang="en-US" sz="1400" dirty="0">
                <a:solidFill>
                  <a:schemeClr val="accent6"/>
                </a:solidFill>
              </a:rPr>
              <a:t>兩者的檢索與引用 gate 都是 ready，且使用同一個 evidence hash。</a:t>
            </a:r>
            <a:endParaRPr lang="zh-TW" sz="1400" dirty="0"/>
          </a:p>
        </p:txBody>
      </p:sp>
      <p:sp>
        <p:nvSpPr>
          <p:cNvPr id="6" name="card-454"/>
          <p:cNvSpPr/>
          <p:nvPr/>
        </p:nvSpPr>
        <p:spPr>
          <a:xfrm>
            <a:off x="548640" y="2011680"/>
            <a:ext cx="5394960" cy="2880360"/>
          </a:xfrm>
          <a:prstGeom prst="roundRect">
            <a:avLst>
              <a:gd name="adj" fmla="val 2540"/>
            </a:avLst>
          </a:prstGeom>
          <a:solidFill>
            <a:schemeClr val="bg1"/>
          </a:solidFill>
          <a:ln w="12700">
            <a:solidFill>
              <a:schemeClr val="bg2"/>
            </a:solidFill>
            <a:prstDash val="solid"/>
          </a:ln>
          <a:effectLst>
            <a:outerShdw sx="100000" sy="100000" kx="0" ky="0" algn="bl" rotWithShape="0" blurRad="127000" dist="25400" dir="5400000">
              <a:srgbClr val="1A2233">
                <a:alpha val="10000"/>
              </a:srgbClr>
            </a:outerShdw>
          </a:effectLst>
        </p:spPr>
      </p:sp>
      <p:sp>
        <p:nvSpPr>
          <p:cNvPr id="7" name="text-455"/>
          <p:cNvSpPr txBox="1"/>
          <p:nvPr/>
        </p:nvSpPr>
        <p:spPr>
          <a:xfrm>
            <a:off x="868680" y="2212848"/>
            <a:ext cx="2743200" cy="402336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zh-TW" altLang="en-US" sz="2100" b="1" dirty="0">
                <a:solidFill>
                  <a:schemeClr val="tx1"/>
                </a:solidFill>
              </a:rPr>
              <a:t>原版</a:t>
            </a:r>
            <a:endParaRPr lang="zh-TW" sz="2100" dirty="0"/>
          </a:p>
        </p:txBody>
      </p:sp>
      <p:sp>
        <p:nvSpPr>
          <p:cNvPr id="8" name="chip-fail-456"/>
          <p:cNvSpPr/>
          <p:nvPr/>
        </p:nvSpPr>
        <p:spPr>
          <a:xfrm>
            <a:off x="4258818" y="2258568"/>
            <a:ext cx="1368704" cy="311404"/>
          </a:xfrm>
          <a:prstGeom prst="roundRect">
            <a:avLst>
              <a:gd name="adj" fmla="val 50000"/>
            </a:avLst>
          </a:prstGeom>
          <a:solidFill>
            <a:schemeClr val="accent5"/>
          </a:solidFill>
          <a:ln/>
        </p:spPr>
      </p:sp>
      <p:pic>
        <p:nvPicPr>
          <p:cNvPr id="9" name="chip-icon-457" descr="LIVE_FAIL">    </p:cNvPr>
          <p:cNvPicPr>
            <a:picLocks noChangeAspect="1"/>
          </p:cNvPicPr>
          <p:nvPr/>
        </p:nvPicPr>
        <p:blipFill>
          <a:blip r:embed="rId1"/>
          <a:stretch>
            <a:fillRect/>
          </a:stretch>
        </p:blipFill>
        <p:spPr>
          <a:xfrm>
            <a:off x="4368546" y="2320849"/>
            <a:ext cx="186842" cy="186842"/>
          </a:xfrm>
          <a:prstGeom prst="rect">
            <a:avLst/>
          </a:prstGeom>
        </p:spPr>
      </p:pic>
      <p:sp>
        <p:nvSpPr>
          <p:cNvPr id="10" name="chip-text-458"/>
          <p:cNvSpPr txBox="1"/>
          <p:nvPr/>
        </p:nvSpPr>
        <p:spPr>
          <a:xfrm>
            <a:off x="4619396" y="2258568"/>
            <a:ext cx="998982" cy="311404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zh-TW" altLang="en-US" sz="1300" b="1" dirty="0">
                <a:solidFill>
                  <a:schemeClr val="bg1"/>
                </a:solidFill>
              </a:rPr>
              <a:t>LIVE_FAIL</a:t>
            </a:r>
            <a:endParaRPr lang="zh-TW" sz="1300" dirty="0"/>
          </a:p>
        </p:txBody>
      </p:sp>
      <p:sp>
        <p:nvSpPr>
          <p:cNvPr id="11" name="text-459"/>
          <p:cNvSpPr txBox="1"/>
          <p:nvPr/>
        </p:nvSpPr>
        <p:spPr>
          <a:xfrm>
            <a:off x="868680" y="2743200"/>
            <a:ext cx="4754880" cy="82296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buNone/>
            </a:pPr>
            <a:r>
              <a:rPr lang="zh-TW" altLang="en-US" sz="1500" dirty="0">
                <a:solidFill>
                  <a:schemeClr val="tx1"/>
                </a:solidFill>
              </a:rPr>
              <a:t>讀取後直接回答，跳過提案工具；Host 以 UNEXPECTED_TOOL_SEQUENCE 擋下，未寫入。</a:t>
            </a:r>
            <a:endParaRPr lang="zh-TW" sz="1500" dirty="0"/>
          </a:p>
        </p:txBody>
      </p:sp>
      <p:sp>
        <p:nvSpPr>
          <p:cNvPr id="12" name="text-460"/>
          <p:cNvSpPr txBox="1"/>
          <p:nvPr/>
        </p:nvSpPr>
        <p:spPr>
          <a:xfrm>
            <a:off x="868680" y="3611880"/>
            <a:ext cx="1554480" cy="548640"/>
          </a:xfrm>
          <a:prstGeom prst="rect">
            <a:avLst/>
          </a:prstGeom>
          <a:noFill/>
          <a:ln/>
        </p:spPr>
        <p:txBody>
          <a:bodyPr wrap="square" lIns="0" tIns="0" rIns="0" bIns="0" rtlCol="0" anchor="b"/>
          <a:lstStyle/>
          <a:p>
            <a:pPr indent="0" marL="0">
              <a:buNone/>
            </a:pPr>
            <a:r>
              <a:rPr lang="zh-TW" altLang="en-US" sz="2800" b="1" dirty="0">
                <a:solidFill>
                  <a:schemeClr val="accent5"/>
                </a:solidFill>
              </a:rPr>
              <a:t>2</a:t>
            </a:r>
            <a:endParaRPr lang="zh-TW" sz="2800" dirty="0"/>
          </a:p>
        </p:txBody>
      </p:sp>
      <p:sp>
        <p:nvSpPr>
          <p:cNvPr id="13" name="text-461"/>
          <p:cNvSpPr txBox="1"/>
          <p:nvPr/>
        </p:nvSpPr>
        <p:spPr>
          <a:xfrm>
            <a:off x="868680" y="4206240"/>
            <a:ext cx="1554480" cy="27432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buNone/>
            </a:pPr>
            <a:r>
              <a:rPr lang="zh-TW" altLang="en-US" sz="1200" dirty="0">
                <a:solidFill>
                  <a:schemeClr val="accent6"/>
                </a:solidFill>
              </a:rPr>
              <a:t>次模型回覆</a:t>
            </a:r>
            <a:endParaRPr lang="zh-TW" sz="1200" dirty="0"/>
          </a:p>
        </p:txBody>
      </p:sp>
      <p:sp>
        <p:nvSpPr>
          <p:cNvPr id="14" name="text-462"/>
          <p:cNvSpPr txBox="1"/>
          <p:nvPr/>
        </p:nvSpPr>
        <p:spPr>
          <a:xfrm>
            <a:off x="2468880" y="3611880"/>
            <a:ext cx="1554480" cy="548640"/>
          </a:xfrm>
          <a:prstGeom prst="rect">
            <a:avLst/>
          </a:prstGeom>
          <a:noFill/>
          <a:ln/>
        </p:spPr>
        <p:txBody>
          <a:bodyPr wrap="square" lIns="0" tIns="0" rIns="0" bIns="0" rtlCol="0" anchor="b"/>
          <a:lstStyle/>
          <a:p>
            <a:pPr indent="0" marL="0">
              <a:buNone/>
            </a:pPr>
            <a:r>
              <a:rPr lang="zh-TW" altLang="en-US" sz="2800" b="1" dirty="0">
                <a:solidFill>
                  <a:schemeClr val="accent5"/>
                </a:solidFill>
              </a:rPr>
              <a:t>2,133</a:t>
            </a:r>
            <a:endParaRPr lang="zh-TW" sz="2800" dirty="0"/>
          </a:p>
        </p:txBody>
      </p:sp>
      <p:sp>
        <p:nvSpPr>
          <p:cNvPr id="15" name="text-463"/>
          <p:cNvSpPr txBox="1"/>
          <p:nvPr/>
        </p:nvSpPr>
        <p:spPr>
          <a:xfrm>
            <a:off x="2468880" y="4206240"/>
            <a:ext cx="1554480" cy="27432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buNone/>
            </a:pPr>
            <a:r>
              <a:rPr lang="zh-TW" altLang="en-US" sz="1200" dirty="0">
                <a:solidFill>
                  <a:schemeClr val="accent6"/>
                </a:solidFill>
              </a:rPr>
              <a:t>tokens</a:t>
            </a:r>
            <a:endParaRPr lang="zh-TW" sz="1200" dirty="0"/>
          </a:p>
        </p:txBody>
      </p:sp>
      <p:sp>
        <p:nvSpPr>
          <p:cNvPr id="16" name="text-464"/>
          <p:cNvSpPr txBox="1"/>
          <p:nvPr/>
        </p:nvSpPr>
        <p:spPr>
          <a:xfrm>
            <a:off x="4069080" y="3611880"/>
            <a:ext cx="1554480" cy="548640"/>
          </a:xfrm>
          <a:prstGeom prst="rect">
            <a:avLst/>
          </a:prstGeom>
          <a:noFill/>
          <a:ln/>
        </p:spPr>
        <p:txBody>
          <a:bodyPr wrap="square" lIns="0" tIns="0" rIns="0" bIns="0" rtlCol="0" anchor="b"/>
          <a:lstStyle/>
          <a:p>
            <a:pPr indent="0" marL="0">
              <a:buNone/>
            </a:pPr>
            <a:r>
              <a:rPr lang="zh-TW" altLang="en-US" sz="2800" b="1" dirty="0">
                <a:solidFill>
                  <a:schemeClr val="accent5"/>
                </a:solidFill>
              </a:rPr>
              <a:t>6.518 s</a:t>
            </a:r>
            <a:endParaRPr lang="zh-TW" sz="2800" dirty="0"/>
          </a:p>
        </p:txBody>
      </p:sp>
      <p:sp>
        <p:nvSpPr>
          <p:cNvPr id="17" name="text-465"/>
          <p:cNvSpPr txBox="1"/>
          <p:nvPr/>
        </p:nvSpPr>
        <p:spPr>
          <a:xfrm>
            <a:off x="4069080" y="4206240"/>
            <a:ext cx="1554480" cy="27432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buNone/>
            </a:pPr>
            <a:r>
              <a:rPr lang="zh-TW" altLang="en-US" sz="1200" dirty="0">
                <a:solidFill>
                  <a:schemeClr val="accent6"/>
                </a:solidFill>
              </a:rPr>
              <a:t>觀測時間</a:t>
            </a:r>
            <a:endParaRPr lang="zh-TW" sz="1200" dirty="0"/>
          </a:p>
        </p:txBody>
      </p:sp>
      <p:sp>
        <p:nvSpPr>
          <p:cNvPr id="18" name="card-466"/>
          <p:cNvSpPr/>
          <p:nvPr/>
        </p:nvSpPr>
        <p:spPr>
          <a:xfrm>
            <a:off x="6245352" y="2011680"/>
            <a:ext cx="5394960" cy="2880360"/>
          </a:xfrm>
          <a:prstGeom prst="roundRect">
            <a:avLst>
              <a:gd name="adj" fmla="val 2540"/>
            </a:avLst>
          </a:prstGeom>
          <a:solidFill>
            <a:schemeClr val="bg1"/>
          </a:solidFill>
          <a:ln w="12700">
            <a:solidFill>
              <a:schemeClr val="bg2"/>
            </a:solidFill>
            <a:prstDash val="solid"/>
          </a:ln>
          <a:effectLst>
            <a:outerShdw sx="100000" sy="100000" kx="0" ky="0" algn="bl" rotWithShape="0" blurRad="127000" dist="25400" dir="5400000">
              <a:srgbClr val="1A2233">
                <a:alpha val="10000"/>
              </a:srgbClr>
            </a:outerShdw>
          </a:effectLst>
        </p:spPr>
      </p:sp>
      <p:sp>
        <p:nvSpPr>
          <p:cNvPr id="19" name="text-467"/>
          <p:cNvSpPr txBox="1"/>
          <p:nvPr/>
        </p:nvSpPr>
        <p:spPr>
          <a:xfrm>
            <a:off x="6565392" y="2212848"/>
            <a:ext cx="2743200" cy="402336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zh-TW" altLang="en-US" sz="2100" b="1" dirty="0">
                <a:solidFill>
                  <a:schemeClr val="tx1"/>
                </a:solidFill>
              </a:rPr>
              <a:t>Session 候選</a:t>
            </a:r>
            <a:endParaRPr lang="zh-TW" sz="2100" dirty="0"/>
          </a:p>
        </p:txBody>
      </p:sp>
      <p:sp>
        <p:nvSpPr>
          <p:cNvPr id="20" name="chip-pass-468"/>
          <p:cNvSpPr/>
          <p:nvPr/>
        </p:nvSpPr>
        <p:spPr>
          <a:xfrm>
            <a:off x="9955530" y="2258568"/>
            <a:ext cx="1368704" cy="311404"/>
          </a:xfrm>
          <a:prstGeom prst="roundRect">
            <a:avLst>
              <a:gd name="adj" fmla="val 50000"/>
            </a:avLst>
          </a:prstGeom>
          <a:solidFill>
            <a:schemeClr val="accent2"/>
          </a:solidFill>
          <a:ln/>
        </p:spPr>
      </p:sp>
      <p:pic>
        <p:nvPicPr>
          <p:cNvPr id="21" name="chip-icon-469" descr="LIVE_PASS">    </p:cNvPr>
          <p:cNvPicPr>
            <a:picLocks noChangeAspect="1"/>
          </p:cNvPicPr>
          <p:nvPr/>
        </p:nvPicPr>
        <p:blipFill>
          <a:blip r:embed="rId2"/>
          <a:stretch>
            <a:fillRect/>
          </a:stretch>
        </p:blipFill>
        <p:spPr>
          <a:xfrm>
            <a:off x="10065258" y="2320849"/>
            <a:ext cx="186842" cy="186842"/>
          </a:xfrm>
          <a:prstGeom prst="rect">
            <a:avLst/>
          </a:prstGeom>
        </p:spPr>
      </p:pic>
      <p:sp>
        <p:nvSpPr>
          <p:cNvPr id="22" name="chip-text-470"/>
          <p:cNvSpPr txBox="1"/>
          <p:nvPr/>
        </p:nvSpPr>
        <p:spPr>
          <a:xfrm>
            <a:off x="10316108" y="2258568"/>
            <a:ext cx="998982" cy="311404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zh-TW" altLang="en-US" sz="1300" b="1" dirty="0">
                <a:solidFill>
                  <a:schemeClr val="bg1"/>
                </a:solidFill>
              </a:rPr>
              <a:t>LIVE_PASS</a:t>
            </a:r>
            <a:endParaRPr lang="zh-TW" sz="1300" dirty="0"/>
          </a:p>
        </p:txBody>
      </p:sp>
      <p:sp>
        <p:nvSpPr>
          <p:cNvPr id="23" name="text-471"/>
          <p:cNvSpPr txBox="1"/>
          <p:nvPr/>
        </p:nvSpPr>
        <p:spPr>
          <a:xfrm>
            <a:off x="6565392" y="2743200"/>
            <a:ext cx="4754880" cy="82296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buNone/>
            </a:pPr>
            <a:r>
              <a:rPr lang="zh-TW" altLang="en-US" sz="1500" dirty="0">
                <a:solidFill>
                  <a:schemeClr val="tx1"/>
                </a:solidFill>
              </a:rPr>
              <a:t>依序提案、等待確認，使用者確認後完成草稿。</a:t>
            </a:r>
            <a:endParaRPr lang="zh-TW" sz="1500" dirty="0"/>
          </a:p>
        </p:txBody>
      </p:sp>
      <p:sp>
        <p:nvSpPr>
          <p:cNvPr id="24" name="text-472"/>
          <p:cNvSpPr txBox="1"/>
          <p:nvPr/>
        </p:nvSpPr>
        <p:spPr>
          <a:xfrm>
            <a:off x="6565392" y="3611880"/>
            <a:ext cx="1554480" cy="548640"/>
          </a:xfrm>
          <a:prstGeom prst="rect">
            <a:avLst/>
          </a:prstGeom>
          <a:noFill/>
          <a:ln/>
        </p:spPr>
        <p:txBody>
          <a:bodyPr wrap="square" lIns="0" tIns="0" rIns="0" bIns="0" rtlCol="0" anchor="b"/>
          <a:lstStyle/>
          <a:p>
            <a:pPr indent="0" marL="0">
              <a:buNone/>
            </a:pPr>
            <a:r>
              <a:rPr lang="zh-TW" altLang="en-US" sz="2800" b="1" dirty="0">
                <a:solidFill>
                  <a:schemeClr val="accent2"/>
                </a:solidFill>
              </a:rPr>
              <a:t>3</a:t>
            </a:r>
            <a:endParaRPr lang="zh-TW" sz="2800" dirty="0"/>
          </a:p>
        </p:txBody>
      </p:sp>
      <p:sp>
        <p:nvSpPr>
          <p:cNvPr id="25" name="text-473"/>
          <p:cNvSpPr txBox="1"/>
          <p:nvPr/>
        </p:nvSpPr>
        <p:spPr>
          <a:xfrm>
            <a:off x="6565392" y="4206240"/>
            <a:ext cx="1554480" cy="27432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buNone/>
            </a:pPr>
            <a:r>
              <a:rPr lang="zh-TW" altLang="en-US" sz="1200" dirty="0">
                <a:solidFill>
                  <a:schemeClr val="accent6"/>
                </a:solidFill>
              </a:rPr>
              <a:t>次模型回覆</a:t>
            </a:r>
            <a:endParaRPr lang="zh-TW" sz="1200" dirty="0"/>
          </a:p>
        </p:txBody>
      </p:sp>
      <p:sp>
        <p:nvSpPr>
          <p:cNvPr id="26" name="text-474"/>
          <p:cNvSpPr txBox="1"/>
          <p:nvPr/>
        </p:nvSpPr>
        <p:spPr>
          <a:xfrm>
            <a:off x="8165592" y="3611880"/>
            <a:ext cx="1554480" cy="548640"/>
          </a:xfrm>
          <a:prstGeom prst="rect">
            <a:avLst/>
          </a:prstGeom>
          <a:noFill/>
          <a:ln/>
        </p:spPr>
        <p:txBody>
          <a:bodyPr wrap="square" lIns="0" tIns="0" rIns="0" bIns="0" rtlCol="0" anchor="b"/>
          <a:lstStyle/>
          <a:p>
            <a:pPr indent="0" marL="0">
              <a:buNone/>
            </a:pPr>
            <a:r>
              <a:rPr lang="zh-TW" altLang="en-US" sz="2800" b="1" dirty="0">
                <a:solidFill>
                  <a:schemeClr val="accent2"/>
                </a:solidFill>
              </a:rPr>
              <a:t>4,352</a:t>
            </a:r>
            <a:endParaRPr lang="zh-TW" sz="2800" dirty="0"/>
          </a:p>
        </p:txBody>
      </p:sp>
      <p:sp>
        <p:nvSpPr>
          <p:cNvPr id="27" name="text-475"/>
          <p:cNvSpPr txBox="1"/>
          <p:nvPr/>
        </p:nvSpPr>
        <p:spPr>
          <a:xfrm>
            <a:off x="8165592" y="4206240"/>
            <a:ext cx="1554480" cy="27432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buNone/>
            </a:pPr>
            <a:r>
              <a:rPr lang="zh-TW" altLang="en-US" sz="1200" dirty="0">
                <a:solidFill>
                  <a:schemeClr val="accent6"/>
                </a:solidFill>
              </a:rPr>
              <a:t>tokens</a:t>
            </a:r>
            <a:endParaRPr lang="zh-TW" sz="1200" dirty="0"/>
          </a:p>
        </p:txBody>
      </p:sp>
      <p:sp>
        <p:nvSpPr>
          <p:cNvPr id="28" name="text-476"/>
          <p:cNvSpPr txBox="1"/>
          <p:nvPr/>
        </p:nvSpPr>
        <p:spPr>
          <a:xfrm>
            <a:off x="9765792" y="3611880"/>
            <a:ext cx="1554480" cy="548640"/>
          </a:xfrm>
          <a:prstGeom prst="rect">
            <a:avLst/>
          </a:prstGeom>
          <a:noFill/>
          <a:ln/>
        </p:spPr>
        <p:txBody>
          <a:bodyPr wrap="square" lIns="0" tIns="0" rIns="0" bIns="0" rtlCol="0" anchor="b"/>
          <a:lstStyle/>
          <a:p>
            <a:pPr indent="0" marL="0">
              <a:buNone/>
            </a:pPr>
            <a:r>
              <a:rPr lang="zh-TW" altLang="en-US" sz="2800" b="1" dirty="0">
                <a:solidFill>
                  <a:schemeClr val="accent2"/>
                </a:solidFill>
              </a:rPr>
              <a:t>5.183 s</a:t>
            </a:r>
            <a:endParaRPr lang="zh-TW" sz="2800" dirty="0"/>
          </a:p>
        </p:txBody>
      </p:sp>
      <p:sp>
        <p:nvSpPr>
          <p:cNvPr id="29" name="text-477"/>
          <p:cNvSpPr txBox="1"/>
          <p:nvPr/>
        </p:nvSpPr>
        <p:spPr>
          <a:xfrm>
            <a:off x="9765792" y="4206240"/>
            <a:ext cx="1554480" cy="27432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buNone/>
            </a:pPr>
            <a:r>
              <a:rPr lang="zh-TW" altLang="en-US" sz="1200" dirty="0">
                <a:solidFill>
                  <a:schemeClr val="accent6"/>
                </a:solidFill>
              </a:rPr>
              <a:t>觀測時間</a:t>
            </a:r>
            <a:endParaRPr lang="zh-TW" sz="1200" dirty="0"/>
          </a:p>
        </p:txBody>
      </p:sp>
      <p:pic>
        <p:nvPicPr>
          <p:cNvPr id="30" name="icon-478" descr="TriangleAlert">    </p:cNvPr>
          <p:cNvPicPr>
            <a:picLocks noChangeAspect="1"/>
          </p:cNvPicPr>
          <p:nvPr/>
        </p:nvPicPr>
        <p:blipFill>
          <a:blip r:embed="rId3"/>
          <a:stretch>
            <a:fillRect/>
          </a:stretch>
        </p:blipFill>
        <p:spPr>
          <a:xfrm>
            <a:off x="548640" y="5230368"/>
            <a:ext cx="329184" cy="329184"/>
          </a:xfrm>
          <a:prstGeom prst="rect">
            <a:avLst/>
          </a:prstGeom>
        </p:spPr>
      </p:pic>
      <p:sp>
        <p:nvSpPr>
          <p:cNvPr id="31" name="text-479"/>
          <p:cNvSpPr txBox="1"/>
          <p:nvPr/>
        </p:nvSpPr>
        <p:spPr>
          <a:xfrm>
            <a:off x="1005840" y="5212080"/>
            <a:ext cx="10607040" cy="36576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zh-TW" altLang="en-US" sz="1600" b="1" dirty="0">
                <a:solidFill>
                  <a:schemeClr val="accent3"/>
                </a:solidFill>
              </a:rPr>
              <a:t>只有一組樣本，而且兩者完成的終點不同：不能宣稱記憶提升了品質或降低成本。</a:t>
            </a:r>
            <a:endParaRPr lang="zh-TW" sz="1600" dirty="0"/>
          </a:p>
        </p:txBody>
      </p:sp>
      <p:sp>
        <p:nvSpPr>
          <p:cNvPr id="32" name="text-480"/>
          <p:cNvSpPr txBox="1"/>
          <p:nvPr/>
        </p:nvSpPr>
        <p:spPr>
          <a:xfrm>
            <a:off x="1005840" y="5650992"/>
            <a:ext cx="10607040" cy="329184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zh-TW" altLang="en-US" sz="1400" dirty="0">
                <a:solidFill>
                  <a:schemeClr val="accent6"/>
                </a:solidFill>
              </a:rPr>
              <a:t>課程指定的 Google Cloud／ADC Gemini：LIVE_NOT_RUN（依組員選擇使用 OpenAI，不能拿來替代）。</a:t>
            </a:r>
            <a:endParaRPr lang="zh-TW" sz="1400" dirty="0"/>
          </a:p>
        </p:txBody>
      </p:sp>
      <p:sp>
        <p:nvSpPr>
          <p:cNvPr id="25" name="Slide Number Placeholder 0"/>
          <p:cNvSpPr>
            <a:spLocks noGrp="1"/>
          </p:cNvSpPr>
          <p:nvPr>
            <p:ph type="sldNum" sz="quarter" idx="4294967295"/>
          </p:nvPr>
        </p:nvSpPr>
        <p:spPr>
          <a:xfrm>
            <a:off x="11091672" y="6400800"/>
            <a:ext cx="548640" cy="256032"/>
          </a:xfrm>
          <a:prstGeom prst="rect">
            <a:avLst/>
          </a:prstGeom>
          <a:extLst>
            <a:ext uri="{C572A759-6A51-4108-AA02-DFA0A04FC94B}">
              <ma14:wrappingTextBoxFlag xmlns:ma14="http://schemas.microsoft.com/office/mac/drawingml/2011/main" val="0"/>
            </a:ext>
          </a:extLst>
        </p:spPr>
        <p:txBody>
          <a:bodyPr/>
          <a:lstStyle>
            <a:lvl1pPr>
              <a:defRPr sz="1000">
                <a:solidFill>
                  <a:schemeClr val="accent6"/>
                </a:solidFill>
              </a:defRPr>
            </a:lvl1pPr>
          </a:lstStyle>
          <a:p>
            <a:pPr algn="r"/>
            <a:fld id="{F7021451-1387-4CA6-816F-3879F97B5CBC}" type="slidenum">
              <a:rPr b="0" lang="en-US"/>
              <a:t>13</a:t>
            </a:fld>
            <a:endParaRPr lang="en-US"/>
          </a:p>
        </p:txBody>
      </p:sp>
    </p:spTree>
  </p:cSld>
  <p:clrMapOvr>
    <a:masterClrMapping/>
  </p:clrMapOvr>
</p:sld>
</file>

<file path=ppt/slides/slide14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14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ext 0"/>
          <p:cNvSpPr/>
          <p:nvPr>
            <p:ph idx="100" type="body" hasCustomPrompt="1"/>
          </p:nvPr>
        </p:nvSpPr>
        <p:spPr>
          <a:xfrm>
            <a:off x="548640" y="365760"/>
            <a:ext cx="8778240" cy="27432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algn="l" indent="0" marL="0">
              <a:buNone/>
            </a:pPr>
            <a:r>
              <a:rPr lang="zh-TW" altLang="en-US" sz="1300" b="1" dirty="0">
                <a:solidFill>
                  <a:schemeClr val="accent6"/>
                </a:solidFill>
              </a:rPr>
              <a:t>已完成、待驗證與規劃</a:t>
            </a:r>
            <a:endParaRPr lang="zh-TW" sz="1300" dirty="0"/>
          </a:p>
        </p:txBody>
      </p:sp>
      <p:sp>
        <p:nvSpPr>
          <p:cNvPr id="3" name="Text 0"/>
          <p:cNvSpPr/>
          <p:nvPr>
            <p:ph idx="101" type="title" hasCustomPrompt="1"/>
          </p:nvPr>
        </p:nvSpPr>
        <p:spPr>
          <a:xfrm>
            <a:off x="548640" y="658368"/>
            <a:ext cx="11064240" cy="68580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algn="l" indent="0" marL="0">
              <a:buNone/>
            </a:pPr>
            <a:r>
              <a:rPr lang="zh-TW" altLang="en-US" sz="3000" b="1" dirty="0">
                <a:solidFill>
                  <a:schemeClr val="tx1"/>
                </a:solidFill>
              </a:rPr>
              <a:t>下一步：把判讀結果接進草稿工具</a:t>
            </a:r>
            <a:endParaRPr lang="zh-TW" sz="3000" dirty="0"/>
          </a:p>
        </p:txBody>
      </p:sp>
      <p:sp>
        <p:nvSpPr>
          <p:cNvPr id="5" name="card-481"/>
          <p:cNvSpPr/>
          <p:nvPr/>
        </p:nvSpPr>
        <p:spPr>
          <a:xfrm>
            <a:off x="548640" y="1600200"/>
            <a:ext cx="3520440" cy="3931920"/>
          </a:xfrm>
          <a:prstGeom prst="roundRect">
            <a:avLst>
              <a:gd name="adj" fmla="val 2078"/>
            </a:avLst>
          </a:prstGeom>
          <a:solidFill>
            <a:schemeClr val="bg2"/>
          </a:solidFill>
          <a:ln/>
        </p:spPr>
      </p:sp>
      <p:sp>
        <p:nvSpPr>
          <p:cNvPr id="6" name="icon-bg-482"/>
          <p:cNvSpPr/>
          <p:nvPr/>
        </p:nvSpPr>
        <p:spPr>
          <a:xfrm>
            <a:off x="777240" y="1801368"/>
            <a:ext cx="457200" cy="457200"/>
          </a:xfrm>
          <a:prstGeom prst="ellipse">
            <a:avLst/>
          </a:prstGeom>
          <a:solidFill>
            <a:schemeClr val="accent2"/>
          </a:solidFill>
          <a:ln/>
        </p:spPr>
      </p:sp>
      <p:pic>
        <p:nvPicPr>
          <p:cNvPr id="7" name="icon-483" descr="CircleCheck">    </p:cNvPr>
          <p:cNvPicPr>
            <a:picLocks noChangeAspect="1"/>
          </p:cNvPicPr>
          <p:nvPr/>
        </p:nvPicPr>
        <p:blipFill>
          <a:blip r:embed="rId1"/>
          <a:stretch>
            <a:fillRect/>
          </a:stretch>
        </p:blipFill>
        <p:spPr>
          <a:xfrm>
            <a:off x="886968" y="1911096"/>
            <a:ext cx="237744" cy="237744"/>
          </a:xfrm>
          <a:prstGeom prst="rect">
            <a:avLst/>
          </a:prstGeom>
        </p:spPr>
      </p:pic>
      <p:sp>
        <p:nvSpPr>
          <p:cNvPr id="8" name="text-484"/>
          <p:cNvSpPr txBox="1"/>
          <p:nvPr/>
        </p:nvSpPr>
        <p:spPr>
          <a:xfrm>
            <a:off x="1353312" y="1801368"/>
            <a:ext cx="2651760" cy="45720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zh-TW" altLang="en-US" sz="1700" b="1" dirty="0">
                <a:solidFill>
                  <a:schemeClr val="accent2"/>
                </a:solidFill>
              </a:rPr>
              <a:t>已完成且已驗證</a:t>
            </a:r>
            <a:endParaRPr lang="zh-TW" sz="1700" dirty="0"/>
          </a:p>
        </p:txBody>
      </p:sp>
      <p:sp>
        <p:nvSpPr>
          <p:cNvPr id="9" name="card-485"/>
          <p:cNvSpPr/>
          <p:nvPr/>
        </p:nvSpPr>
        <p:spPr>
          <a:xfrm>
            <a:off x="749808" y="2487168"/>
            <a:ext cx="3118104" cy="822960"/>
          </a:xfrm>
          <a:prstGeom prst="roundRect">
            <a:avLst>
              <a:gd name="adj" fmla="val 8889"/>
            </a:avLst>
          </a:prstGeom>
          <a:solidFill>
            <a:schemeClr val="bg1"/>
          </a:solidFill>
          <a:ln/>
        </p:spPr>
      </p:sp>
      <p:sp>
        <p:nvSpPr>
          <p:cNvPr id="10" name="text-486"/>
          <p:cNvSpPr txBox="1"/>
          <p:nvPr/>
        </p:nvSpPr>
        <p:spPr>
          <a:xfrm>
            <a:off x="914400" y="2487168"/>
            <a:ext cx="2834640" cy="82296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zh-TW" altLang="en-US" sz="1400" dirty="0">
                <a:solidFill>
                  <a:schemeClr val="tx1"/>
                </a:solidFill>
              </a:rPr>
              <a:t>文字語意比對：LIVE_PASS</a:t>
            </a:r>
            <a:endParaRPr lang="zh-TW" sz="1400" dirty="0"/>
          </a:p>
        </p:txBody>
      </p:sp>
      <p:sp>
        <p:nvSpPr>
          <p:cNvPr id="11" name="card-487"/>
          <p:cNvSpPr/>
          <p:nvPr/>
        </p:nvSpPr>
        <p:spPr>
          <a:xfrm>
            <a:off x="749808" y="3465576"/>
            <a:ext cx="3118104" cy="822960"/>
          </a:xfrm>
          <a:prstGeom prst="roundRect">
            <a:avLst>
              <a:gd name="adj" fmla="val 8889"/>
            </a:avLst>
          </a:prstGeom>
          <a:solidFill>
            <a:schemeClr val="bg1"/>
          </a:solidFill>
          <a:ln/>
        </p:spPr>
      </p:sp>
      <p:sp>
        <p:nvSpPr>
          <p:cNvPr id="12" name="text-488"/>
          <p:cNvSpPr txBox="1"/>
          <p:nvPr/>
        </p:nvSpPr>
        <p:spPr>
          <a:xfrm>
            <a:off x="914400" y="3465576"/>
            <a:ext cx="2834640" cy="82296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zh-TW" altLang="en-US" sz="1400" dirty="0">
                <a:solidFill>
                  <a:schemeClr val="tx1"/>
                </a:solidFill>
              </a:rPr>
              <a:t>補件工具流程：LIVE_PASS</a:t>
            </a:r>
            <a:endParaRPr lang="zh-TW" sz="1400" dirty="0"/>
          </a:p>
        </p:txBody>
      </p:sp>
      <p:sp>
        <p:nvSpPr>
          <p:cNvPr id="13" name="card-489"/>
          <p:cNvSpPr/>
          <p:nvPr/>
        </p:nvSpPr>
        <p:spPr>
          <a:xfrm>
            <a:off x="749808" y="4443984"/>
            <a:ext cx="3118104" cy="822960"/>
          </a:xfrm>
          <a:prstGeom prst="roundRect">
            <a:avLst>
              <a:gd name="adj" fmla="val 8889"/>
            </a:avLst>
          </a:prstGeom>
          <a:solidFill>
            <a:schemeClr val="bg1"/>
          </a:solidFill>
          <a:ln/>
        </p:spPr>
      </p:sp>
      <p:sp>
        <p:nvSpPr>
          <p:cNvPr id="14" name="text-490"/>
          <p:cNvSpPr txBox="1"/>
          <p:nvPr/>
        </p:nvSpPr>
        <p:spPr>
          <a:xfrm>
            <a:off x="914400" y="4443984"/>
            <a:ext cx="2834640" cy="82296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zh-TW" altLang="en-US" sz="1400" dirty="0">
                <a:solidFill>
                  <a:schemeClr val="tx1"/>
                </a:solidFill>
              </a:rPr>
              <a:t>Session 清除與跨人隔離</a:t>
            </a:r>
            <a:endParaRPr lang="zh-TW" sz="1400" dirty="0"/>
          </a:p>
        </p:txBody>
      </p:sp>
      <p:sp>
        <p:nvSpPr>
          <p:cNvPr id="15" name="card-491"/>
          <p:cNvSpPr/>
          <p:nvPr/>
        </p:nvSpPr>
        <p:spPr>
          <a:xfrm>
            <a:off x="4334256" y="1600200"/>
            <a:ext cx="3520440" cy="3931920"/>
          </a:xfrm>
          <a:prstGeom prst="roundRect">
            <a:avLst>
              <a:gd name="adj" fmla="val 2078"/>
            </a:avLst>
          </a:prstGeom>
          <a:solidFill>
            <a:schemeClr val="bg2"/>
          </a:solidFill>
          <a:ln/>
        </p:spPr>
      </p:sp>
      <p:sp>
        <p:nvSpPr>
          <p:cNvPr id="16" name="icon-bg-492"/>
          <p:cNvSpPr/>
          <p:nvPr/>
        </p:nvSpPr>
        <p:spPr>
          <a:xfrm>
            <a:off x="4562856" y="1801368"/>
            <a:ext cx="457200" cy="457200"/>
          </a:xfrm>
          <a:prstGeom prst="ellipse">
            <a:avLst/>
          </a:prstGeom>
          <a:solidFill>
            <a:schemeClr val="accent3"/>
          </a:solidFill>
          <a:ln/>
        </p:spPr>
      </p:sp>
      <p:pic>
        <p:nvPicPr>
          <p:cNvPr id="17" name="icon-493" descr="Clock">    </p:cNvPr>
          <p:cNvPicPr>
            <a:picLocks noChangeAspect="1"/>
          </p:cNvPicPr>
          <p:nvPr/>
        </p:nvPicPr>
        <p:blipFill>
          <a:blip r:embed="rId2"/>
          <a:stretch>
            <a:fillRect/>
          </a:stretch>
        </p:blipFill>
        <p:spPr>
          <a:xfrm>
            <a:off x="4672584" y="1911096"/>
            <a:ext cx="237744" cy="237744"/>
          </a:xfrm>
          <a:prstGeom prst="rect">
            <a:avLst/>
          </a:prstGeom>
        </p:spPr>
      </p:pic>
      <p:sp>
        <p:nvSpPr>
          <p:cNvPr id="18" name="text-494"/>
          <p:cNvSpPr txBox="1"/>
          <p:nvPr/>
        </p:nvSpPr>
        <p:spPr>
          <a:xfrm>
            <a:off x="5138928" y="1801368"/>
            <a:ext cx="2651760" cy="45720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zh-TW" altLang="en-US" sz="1700" b="1" dirty="0">
                <a:solidFill>
                  <a:schemeClr val="accent3"/>
                </a:solidFill>
              </a:rPr>
              <a:t>已實作，待真實驗證</a:t>
            </a:r>
            <a:endParaRPr lang="zh-TW" sz="1700" dirty="0"/>
          </a:p>
        </p:txBody>
      </p:sp>
      <p:sp>
        <p:nvSpPr>
          <p:cNvPr id="19" name="card-495"/>
          <p:cNvSpPr/>
          <p:nvPr/>
        </p:nvSpPr>
        <p:spPr>
          <a:xfrm>
            <a:off x="4535424" y="2487168"/>
            <a:ext cx="3118104" cy="822960"/>
          </a:xfrm>
          <a:prstGeom prst="roundRect">
            <a:avLst>
              <a:gd name="adj" fmla="val 8889"/>
            </a:avLst>
          </a:prstGeom>
          <a:solidFill>
            <a:schemeClr val="bg1"/>
          </a:solidFill>
          <a:ln/>
        </p:spPr>
      </p:sp>
      <p:sp>
        <p:nvSpPr>
          <p:cNvPr id="20" name="text-496"/>
          <p:cNvSpPr txBox="1"/>
          <p:nvPr/>
        </p:nvSpPr>
        <p:spPr>
          <a:xfrm>
            <a:off x="4700016" y="2487168"/>
            <a:ext cx="2834640" cy="82296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zh-TW" altLang="en-US" sz="1400" dirty="0">
                <a:solidFill>
                  <a:schemeClr val="tx1"/>
                </a:solidFill>
              </a:rPr>
              <a:t>PDF 預檢：gpt-5.4 最終結果</a:t>
            </a:r>
            <a:endParaRPr lang="zh-TW" sz="1400" dirty="0"/>
          </a:p>
        </p:txBody>
      </p:sp>
      <p:sp>
        <p:nvSpPr>
          <p:cNvPr id="21" name="card-497"/>
          <p:cNvSpPr/>
          <p:nvPr/>
        </p:nvSpPr>
        <p:spPr>
          <a:xfrm>
            <a:off x="4535424" y="3465576"/>
            <a:ext cx="3118104" cy="822960"/>
          </a:xfrm>
          <a:prstGeom prst="roundRect">
            <a:avLst>
              <a:gd name="adj" fmla="val 8889"/>
            </a:avLst>
          </a:prstGeom>
          <a:solidFill>
            <a:schemeClr val="bg1"/>
          </a:solidFill>
          <a:ln/>
        </p:spPr>
      </p:sp>
      <p:sp>
        <p:nvSpPr>
          <p:cNvPr id="22" name="text-498"/>
          <p:cNvSpPr txBox="1"/>
          <p:nvPr/>
        </p:nvSpPr>
        <p:spPr>
          <a:xfrm>
            <a:off x="4700016" y="3465576"/>
            <a:ext cx="2834640" cy="82296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zh-TW" altLang="en-US" sz="1400" dirty="0">
                <a:solidFill>
                  <a:schemeClr val="tx1"/>
                </a:solidFill>
              </a:rPr>
              <a:t>來源 v2 排除：只有離線測試</a:t>
            </a:r>
            <a:endParaRPr lang="zh-TW" sz="1400" dirty="0"/>
          </a:p>
        </p:txBody>
      </p:sp>
      <p:sp>
        <p:nvSpPr>
          <p:cNvPr id="23" name="card-499"/>
          <p:cNvSpPr/>
          <p:nvPr/>
        </p:nvSpPr>
        <p:spPr>
          <a:xfrm>
            <a:off x="4535424" y="4443984"/>
            <a:ext cx="3118104" cy="822960"/>
          </a:xfrm>
          <a:prstGeom prst="roundRect">
            <a:avLst>
              <a:gd name="adj" fmla="val 8889"/>
            </a:avLst>
          </a:prstGeom>
          <a:solidFill>
            <a:schemeClr val="bg1"/>
          </a:solidFill>
          <a:ln/>
        </p:spPr>
      </p:sp>
      <p:sp>
        <p:nvSpPr>
          <p:cNvPr id="24" name="text-500"/>
          <p:cNvSpPr txBox="1"/>
          <p:nvPr/>
        </p:nvSpPr>
        <p:spPr>
          <a:xfrm>
            <a:off x="4700016" y="4443984"/>
            <a:ext cx="2834640" cy="82296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zh-TW" altLang="en-US" sz="1400" dirty="0">
                <a:solidFill>
                  <a:schemeClr val="tx1"/>
                </a:solidFill>
              </a:rPr>
              <a:t>估分區間：未與教師成績校準</a:t>
            </a:r>
            <a:endParaRPr lang="zh-TW" sz="1400" dirty="0"/>
          </a:p>
        </p:txBody>
      </p:sp>
      <p:sp>
        <p:nvSpPr>
          <p:cNvPr id="25" name="card-501"/>
          <p:cNvSpPr/>
          <p:nvPr/>
        </p:nvSpPr>
        <p:spPr>
          <a:xfrm>
            <a:off x="8119872" y="1600200"/>
            <a:ext cx="3520440" cy="3931920"/>
          </a:xfrm>
          <a:prstGeom prst="roundRect">
            <a:avLst>
              <a:gd name="adj" fmla="val 2078"/>
            </a:avLst>
          </a:prstGeom>
          <a:solidFill>
            <a:schemeClr val="bg2"/>
          </a:solidFill>
          <a:ln/>
        </p:spPr>
      </p:sp>
      <p:sp>
        <p:nvSpPr>
          <p:cNvPr id="26" name="icon-bg-502"/>
          <p:cNvSpPr/>
          <p:nvPr/>
        </p:nvSpPr>
        <p:spPr>
          <a:xfrm>
            <a:off x="8348472" y="1801368"/>
            <a:ext cx="457200" cy="457200"/>
          </a:xfrm>
          <a:prstGeom prst="ellipse">
            <a:avLst/>
          </a:prstGeom>
          <a:solidFill>
            <a:schemeClr val="accent4"/>
          </a:solidFill>
          <a:ln/>
        </p:spPr>
      </p:sp>
      <p:pic>
        <p:nvPicPr>
          <p:cNvPr id="27" name="icon-503" descr="Map">    </p:cNvPr>
          <p:cNvPicPr>
            <a:picLocks noChangeAspect="1"/>
          </p:cNvPicPr>
          <p:nvPr/>
        </p:nvPicPr>
        <p:blipFill>
          <a:blip r:embed="rId3"/>
          <a:stretch>
            <a:fillRect/>
          </a:stretch>
        </p:blipFill>
        <p:spPr>
          <a:xfrm>
            <a:off x="8458200" y="1911096"/>
            <a:ext cx="237744" cy="237744"/>
          </a:xfrm>
          <a:prstGeom prst="rect">
            <a:avLst/>
          </a:prstGeom>
        </p:spPr>
      </p:pic>
      <p:sp>
        <p:nvSpPr>
          <p:cNvPr id="28" name="text-504"/>
          <p:cNvSpPr txBox="1"/>
          <p:nvPr/>
        </p:nvSpPr>
        <p:spPr>
          <a:xfrm>
            <a:off x="8924544" y="1801368"/>
            <a:ext cx="2651760" cy="45720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zh-TW" altLang="en-US" sz="1700" b="1" dirty="0">
                <a:solidFill>
                  <a:schemeClr val="accent4"/>
                </a:solidFill>
              </a:rPr>
              <a:t>規劃中（期末前）</a:t>
            </a:r>
            <a:endParaRPr lang="zh-TW" sz="1700" dirty="0"/>
          </a:p>
        </p:txBody>
      </p:sp>
      <p:sp>
        <p:nvSpPr>
          <p:cNvPr id="29" name="card-505"/>
          <p:cNvSpPr/>
          <p:nvPr/>
        </p:nvSpPr>
        <p:spPr>
          <a:xfrm>
            <a:off x="8321040" y="2487168"/>
            <a:ext cx="3118104" cy="822960"/>
          </a:xfrm>
          <a:prstGeom prst="roundRect">
            <a:avLst>
              <a:gd name="adj" fmla="val 8889"/>
            </a:avLst>
          </a:prstGeom>
          <a:solidFill>
            <a:schemeClr val="bg1"/>
          </a:solidFill>
          <a:ln/>
        </p:spPr>
      </p:sp>
      <p:sp>
        <p:nvSpPr>
          <p:cNvPr id="30" name="text-506"/>
          <p:cNvSpPr txBox="1"/>
          <p:nvPr/>
        </p:nvSpPr>
        <p:spPr>
          <a:xfrm>
            <a:off x="8485632" y="2487168"/>
            <a:ext cx="2834640" cy="82296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zh-TW" altLang="en-US" sz="1400" dirty="0">
                <a:solidFill>
                  <a:schemeClr val="tx1"/>
                </a:solidFill>
              </a:rPr>
              <a:t>P0　判讀結果接入草稿工具</a:t>
            </a:r>
            <a:endParaRPr lang="zh-TW" sz="1400" dirty="0"/>
          </a:p>
        </p:txBody>
      </p:sp>
      <p:sp>
        <p:nvSpPr>
          <p:cNvPr id="31" name="card-507"/>
          <p:cNvSpPr/>
          <p:nvPr/>
        </p:nvSpPr>
        <p:spPr>
          <a:xfrm>
            <a:off x="8321040" y="3465576"/>
            <a:ext cx="3118104" cy="822960"/>
          </a:xfrm>
          <a:prstGeom prst="roundRect">
            <a:avLst>
              <a:gd name="adj" fmla="val 8889"/>
            </a:avLst>
          </a:prstGeom>
          <a:solidFill>
            <a:schemeClr val="bg1"/>
          </a:solidFill>
          <a:ln/>
        </p:spPr>
      </p:sp>
      <p:sp>
        <p:nvSpPr>
          <p:cNvPr id="32" name="text-508"/>
          <p:cNvSpPr txBox="1"/>
          <p:nvPr/>
        </p:nvSpPr>
        <p:spPr>
          <a:xfrm>
            <a:off x="8485632" y="3465576"/>
            <a:ext cx="2834640" cy="82296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zh-TW" altLang="en-US" sz="1400" dirty="0">
                <a:solidFill>
                  <a:schemeClr val="tx1"/>
                </a:solidFill>
              </a:rPr>
              <a:t>P0　20 組教師標註案例</a:t>
            </a:r>
            <a:endParaRPr lang="zh-TW" sz="1400" dirty="0"/>
          </a:p>
        </p:txBody>
      </p:sp>
      <p:sp>
        <p:nvSpPr>
          <p:cNvPr id="33" name="card-509"/>
          <p:cNvSpPr/>
          <p:nvPr/>
        </p:nvSpPr>
        <p:spPr>
          <a:xfrm>
            <a:off x="8321040" y="4443984"/>
            <a:ext cx="3118104" cy="822960"/>
          </a:xfrm>
          <a:prstGeom prst="roundRect">
            <a:avLst>
              <a:gd name="adj" fmla="val 8889"/>
            </a:avLst>
          </a:prstGeom>
          <a:solidFill>
            <a:schemeClr val="bg1"/>
          </a:solidFill>
          <a:ln/>
        </p:spPr>
      </p:sp>
      <p:sp>
        <p:nvSpPr>
          <p:cNvPr id="34" name="text-510"/>
          <p:cNvSpPr txBox="1"/>
          <p:nvPr/>
        </p:nvSpPr>
        <p:spPr>
          <a:xfrm>
            <a:off x="8485632" y="4443984"/>
            <a:ext cx="2834640" cy="82296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zh-TW" altLang="en-US" sz="1400" dirty="0">
                <a:solidFill>
                  <a:schemeClr val="tx1"/>
                </a:solidFill>
              </a:rPr>
              <a:t>P1　掃描 PDF OCR、正式登入</a:t>
            </a:r>
            <a:endParaRPr lang="zh-TW" sz="1400" dirty="0"/>
          </a:p>
        </p:txBody>
      </p:sp>
      <p:pic>
        <p:nvPicPr>
          <p:cNvPr id="35" name="icon-511" descr="Target">    </p:cNvPr>
          <p:cNvPicPr>
            <a:picLocks noChangeAspect="1"/>
          </p:cNvPicPr>
          <p:nvPr/>
        </p:nvPicPr>
        <p:blipFill>
          <a:blip r:embed="rId4"/>
          <a:stretch>
            <a:fillRect/>
          </a:stretch>
        </p:blipFill>
        <p:spPr>
          <a:xfrm>
            <a:off x="548640" y="5760720"/>
            <a:ext cx="310896" cy="310896"/>
          </a:xfrm>
          <a:prstGeom prst="rect">
            <a:avLst/>
          </a:prstGeom>
        </p:spPr>
      </p:pic>
      <p:sp>
        <p:nvSpPr>
          <p:cNvPr id="36" name="text-512"/>
          <p:cNvSpPr txBox="1"/>
          <p:nvPr/>
        </p:nvSpPr>
        <p:spPr>
          <a:xfrm>
            <a:off x="987552" y="5742432"/>
            <a:ext cx="10607040" cy="36576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zh-TW" altLang="en-US" sz="1500" b="1" dirty="0">
                <a:solidFill>
                  <a:schemeClr val="tx1"/>
                </a:solidFill>
              </a:rPr>
              <a:t>驗收：20 組標註案例 · 跨人隔離 · 來源變更拒寫 · 可重現 trace，並分開報告正確率與拒答率。</a:t>
            </a:r>
            <a:endParaRPr lang="zh-TW" sz="1500" dirty="0"/>
          </a:p>
        </p:txBody>
      </p:sp>
      <p:sp>
        <p:nvSpPr>
          <p:cNvPr id="25" name="Slide Number Placeholder 0"/>
          <p:cNvSpPr>
            <a:spLocks noGrp="1"/>
          </p:cNvSpPr>
          <p:nvPr>
            <p:ph type="sldNum" sz="quarter" idx="4294967295"/>
          </p:nvPr>
        </p:nvSpPr>
        <p:spPr>
          <a:xfrm>
            <a:off x="11091672" y="6400800"/>
            <a:ext cx="548640" cy="256032"/>
          </a:xfrm>
          <a:prstGeom prst="rect">
            <a:avLst/>
          </a:prstGeom>
          <a:extLst>
            <a:ext uri="{C572A759-6A51-4108-AA02-DFA0A04FC94B}">
              <ma14:wrappingTextBoxFlag xmlns:ma14="http://schemas.microsoft.com/office/mac/drawingml/2011/main" val="0"/>
            </a:ext>
          </a:extLst>
        </p:spPr>
        <p:txBody>
          <a:bodyPr/>
          <a:lstStyle>
            <a:lvl1pPr>
              <a:defRPr sz="1000">
                <a:solidFill>
                  <a:schemeClr val="accent6"/>
                </a:solidFill>
              </a:defRPr>
            </a:lvl1pPr>
          </a:lstStyle>
          <a:p>
            <a:pPr algn="r"/>
            <a:fld id="{F7021451-1387-4CA6-816F-3879F97B5CBC}" type="slidenum">
              <a:rPr b="0" lang="en-US"/>
              <a:t>14</a:t>
            </a:fld>
            <a:endParaRPr lang="en-US"/>
          </a:p>
        </p:txBody>
      </p:sp>
    </p:spTree>
  </p:cSld>
  <p:clrMapOvr>
    <a:masterClrMapping/>
  </p:clrMapOvr>
</p:sld>
</file>

<file path=ppt/slides/slide15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15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ext 0"/>
          <p:cNvSpPr/>
          <p:nvPr>
            <p:ph idx="100" type="body" hasCustomPrompt="1"/>
          </p:nvPr>
        </p:nvSpPr>
        <p:spPr>
          <a:xfrm>
            <a:off x="548640" y="365760"/>
            <a:ext cx="8778240" cy="27432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algn="l" indent="0" marL="0">
              <a:buNone/>
            </a:pPr>
            <a:r>
              <a:rPr lang="zh-TW" altLang="en-US" sz="1300" b="1" dirty="0">
                <a:solidFill>
                  <a:schemeClr val="accent1"/>
                </a:solidFill>
              </a:rPr>
              <a:t>團隊與後續</a:t>
            </a:r>
            <a:endParaRPr lang="zh-TW" sz="1300" dirty="0"/>
          </a:p>
        </p:txBody>
      </p:sp>
      <p:sp>
        <p:nvSpPr>
          <p:cNvPr id="3" name="Text 0"/>
          <p:cNvSpPr/>
          <p:nvPr>
            <p:ph idx="101" type="title" hasCustomPrompt="1"/>
          </p:nvPr>
        </p:nvSpPr>
        <p:spPr>
          <a:xfrm>
            <a:off x="548640" y="658368"/>
            <a:ext cx="11064240" cy="68580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algn="l" indent="0" marL="0">
              <a:buNone/>
            </a:pPr>
            <a:r>
              <a:rPr lang="zh-TW" altLang="en-US" sz="3000" b="1" dirty="0">
                <a:solidFill>
                  <a:schemeClr val="bg1"/>
                </a:solidFill>
              </a:rPr>
              <a:t>分工與問答</a:t>
            </a:r>
            <a:endParaRPr lang="zh-TW" sz="3000" dirty="0"/>
          </a:p>
        </p:txBody>
      </p:sp>
      <p:sp>
        <p:nvSpPr>
          <p:cNvPr id="5" name="member-card-513"/>
          <p:cNvSpPr/>
          <p:nvPr/>
        </p:nvSpPr>
        <p:spPr>
          <a:xfrm>
            <a:off x="548640" y="1645920"/>
            <a:ext cx="5394960" cy="2057400"/>
          </a:xfrm>
          <a:prstGeom prst="roundRect">
            <a:avLst>
              <a:gd name="adj" fmla="val 4444"/>
            </a:avLst>
          </a:prstGeom>
          <a:solidFill>
            <a:schemeClr val="bg1">
              <a:alpha val="10000"/>
            </a:schemeClr>
          </a:solidFill>
          <a:ln w="12700">
            <a:solidFill>
              <a:schemeClr val="bg1">
                <a:alpha val="30000"/>
              </a:schemeClr>
            </a:solidFill>
            <a:prstDash val="solid"/>
          </a:ln>
        </p:spPr>
      </p:sp>
      <p:sp>
        <p:nvSpPr>
          <p:cNvPr id="6" name="icon-bg-514"/>
          <p:cNvSpPr/>
          <p:nvPr/>
        </p:nvSpPr>
        <p:spPr>
          <a:xfrm>
            <a:off x="868680" y="1920240"/>
            <a:ext cx="603504" cy="603504"/>
          </a:xfrm>
          <a:prstGeom prst="ellipse">
            <a:avLst/>
          </a:prstGeom>
          <a:solidFill>
            <a:schemeClr val="accent1"/>
          </a:solidFill>
          <a:ln/>
        </p:spPr>
      </p:sp>
      <p:pic>
        <p:nvPicPr>
          <p:cNvPr id="7" name="icon-515" descr="User">    </p:cNvPr>
          <p:cNvPicPr>
            <a:picLocks noChangeAspect="1"/>
          </p:cNvPicPr>
          <p:nvPr/>
        </p:nvPicPr>
        <p:blipFill>
          <a:blip r:embed="rId1"/>
          <a:stretch>
            <a:fillRect/>
          </a:stretch>
        </p:blipFill>
        <p:spPr>
          <a:xfrm>
            <a:off x="1013521" y="2065081"/>
            <a:ext cx="313822" cy="313822"/>
          </a:xfrm>
          <a:prstGeom prst="rect">
            <a:avLst/>
          </a:prstGeom>
        </p:spPr>
      </p:pic>
      <p:sp>
        <p:nvSpPr>
          <p:cNvPr id="8" name="text-516"/>
          <p:cNvSpPr txBox="1"/>
          <p:nvPr/>
        </p:nvSpPr>
        <p:spPr>
          <a:xfrm>
            <a:off x="1691640" y="1901952"/>
            <a:ext cx="2743200" cy="402336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zh-TW" altLang="en-US" sz="2400" b="1" dirty="0">
                <a:solidFill>
                  <a:schemeClr val="bg1"/>
                </a:solidFill>
              </a:rPr>
              <a:t>陳冠友</a:t>
            </a:r>
            <a:endParaRPr lang="zh-TW" sz="2400" dirty="0"/>
          </a:p>
        </p:txBody>
      </p:sp>
      <p:sp>
        <p:nvSpPr>
          <p:cNvPr id="9" name="text-517"/>
          <p:cNvSpPr txBox="1"/>
          <p:nvPr/>
        </p:nvSpPr>
        <p:spPr>
          <a:xfrm>
            <a:off x="1691640" y="2304288"/>
            <a:ext cx="2743200" cy="27432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buNone/>
            </a:pPr>
            <a:r>
              <a:rPr lang="zh-TW" altLang="en-US" sz="1300" dirty="0">
                <a:solidFill>
                  <a:schemeClr val="bg2"/>
                </a:solidFill>
              </a:rPr>
              <a:t>S11259039 · 隊長</a:t>
            </a:r>
            <a:endParaRPr lang="zh-TW" sz="1300" dirty="0"/>
          </a:p>
        </p:txBody>
      </p:sp>
      <p:sp>
        <p:nvSpPr>
          <p:cNvPr id="10" name="text-518"/>
          <p:cNvSpPr txBox="1"/>
          <p:nvPr/>
        </p:nvSpPr>
        <p:spPr>
          <a:xfrm>
            <a:off x="868680" y="2788920"/>
            <a:ext cx="1828800" cy="27432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buNone/>
            </a:pPr>
            <a:r>
              <a:rPr lang="zh-TW" altLang="en-US" sz="1300" b="1" dirty="0">
                <a:solidFill>
                  <a:schemeClr val="accent1"/>
                </a:solidFill>
              </a:rPr>
              <a:t>建議主講</a:t>
            </a:r>
            <a:endParaRPr lang="zh-TW" sz="1300" dirty="0"/>
          </a:p>
        </p:txBody>
      </p:sp>
      <p:sp>
        <p:nvSpPr>
          <p:cNvPr id="11" name="text-519"/>
          <p:cNvSpPr txBox="1"/>
          <p:nvPr/>
        </p:nvSpPr>
        <p:spPr>
          <a:xfrm>
            <a:off x="868680" y="3072384"/>
            <a:ext cx="4846320" cy="45720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buNone/>
            </a:pPr>
            <a:r>
              <a:rPr lang="zh-TW" altLang="en-US" sz="1600" dirty="0">
                <a:solidFill>
                  <a:schemeClr val="bg1"/>
                </a:solidFill>
              </a:rPr>
              <a:t>後端、工具確認、Session 記憶與 PDF 預檢示範</a:t>
            </a:r>
            <a:endParaRPr lang="zh-TW" sz="1600" dirty="0"/>
          </a:p>
        </p:txBody>
      </p:sp>
      <p:sp>
        <p:nvSpPr>
          <p:cNvPr id="12" name="member-card-520"/>
          <p:cNvSpPr/>
          <p:nvPr/>
        </p:nvSpPr>
        <p:spPr>
          <a:xfrm>
            <a:off x="6245352" y="1645920"/>
            <a:ext cx="5394960" cy="2057400"/>
          </a:xfrm>
          <a:prstGeom prst="roundRect">
            <a:avLst>
              <a:gd name="adj" fmla="val 4444"/>
            </a:avLst>
          </a:prstGeom>
          <a:solidFill>
            <a:schemeClr val="bg1">
              <a:alpha val="10000"/>
            </a:schemeClr>
          </a:solidFill>
          <a:ln w="12700">
            <a:solidFill>
              <a:schemeClr val="bg1">
                <a:alpha val="30000"/>
              </a:schemeClr>
            </a:solidFill>
            <a:prstDash val="solid"/>
          </a:ln>
        </p:spPr>
      </p:sp>
      <p:sp>
        <p:nvSpPr>
          <p:cNvPr id="13" name="icon-bg-521"/>
          <p:cNvSpPr/>
          <p:nvPr/>
        </p:nvSpPr>
        <p:spPr>
          <a:xfrm>
            <a:off x="6565392" y="1920240"/>
            <a:ext cx="603504" cy="603504"/>
          </a:xfrm>
          <a:prstGeom prst="ellipse">
            <a:avLst/>
          </a:prstGeom>
          <a:solidFill>
            <a:schemeClr val="accent1"/>
          </a:solidFill>
          <a:ln/>
        </p:spPr>
      </p:sp>
      <p:pic>
        <p:nvPicPr>
          <p:cNvPr id="14" name="icon-522" descr="User">    </p:cNvPr>
          <p:cNvPicPr>
            <a:picLocks noChangeAspect="1"/>
          </p:cNvPicPr>
          <p:nvPr/>
        </p:nvPicPr>
        <p:blipFill>
          <a:blip r:embed="rId2"/>
          <a:stretch>
            <a:fillRect/>
          </a:stretch>
        </p:blipFill>
        <p:spPr>
          <a:xfrm>
            <a:off x="6710233" y="2065081"/>
            <a:ext cx="313822" cy="313822"/>
          </a:xfrm>
          <a:prstGeom prst="rect">
            <a:avLst/>
          </a:prstGeom>
        </p:spPr>
      </p:pic>
      <p:sp>
        <p:nvSpPr>
          <p:cNvPr id="15" name="text-523"/>
          <p:cNvSpPr txBox="1"/>
          <p:nvPr/>
        </p:nvSpPr>
        <p:spPr>
          <a:xfrm>
            <a:off x="7388352" y="1901952"/>
            <a:ext cx="2743200" cy="402336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zh-TW" altLang="en-US" sz="2400" b="1" dirty="0">
                <a:solidFill>
                  <a:schemeClr val="bg1"/>
                </a:solidFill>
              </a:rPr>
              <a:t>林崇偉</a:t>
            </a:r>
            <a:endParaRPr lang="zh-TW" sz="2400" dirty="0"/>
          </a:p>
        </p:txBody>
      </p:sp>
      <p:sp>
        <p:nvSpPr>
          <p:cNvPr id="16" name="text-524"/>
          <p:cNvSpPr txBox="1"/>
          <p:nvPr/>
        </p:nvSpPr>
        <p:spPr>
          <a:xfrm>
            <a:off x="7388352" y="2304288"/>
            <a:ext cx="2743200" cy="27432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buNone/>
            </a:pPr>
            <a:r>
              <a:rPr lang="zh-TW" altLang="en-US" sz="1300" dirty="0">
                <a:solidFill>
                  <a:schemeClr val="bg2"/>
                </a:solidFill>
              </a:rPr>
              <a:t>S11259031 · 隊員</a:t>
            </a:r>
            <a:endParaRPr lang="zh-TW" sz="1300" dirty="0"/>
          </a:p>
        </p:txBody>
      </p:sp>
      <p:sp>
        <p:nvSpPr>
          <p:cNvPr id="17" name="text-525"/>
          <p:cNvSpPr txBox="1"/>
          <p:nvPr/>
        </p:nvSpPr>
        <p:spPr>
          <a:xfrm>
            <a:off x="6565392" y="2788920"/>
            <a:ext cx="1828800" cy="27432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buNone/>
            </a:pPr>
            <a:r>
              <a:rPr lang="zh-TW" altLang="en-US" sz="1300" b="1" dirty="0">
                <a:solidFill>
                  <a:schemeClr val="accent1"/>
                </a:solidFill>
              </a:rPr>
              <a:t>建議主講</a:t>
            </a:r>
            <a:endParaRPr lang="zh-TW" sz="1300" dirty="0"/>
          </a:p>
        </p:txBody>
      </p:sp>
      <p:sp>
        <p:nvSpPr>
          <p:cNvPr id="18" name="text-526"/>
          <p:cNvSpPr txBox="1"/>
          <p:nvPr/>
        </p:nvSpPr>
        <p:spPr>
          <a:xfrm>
            <a:off x="6565392" y="3072384"/>
            <a:ext cx="4846320" cy="45720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buNone/>
            </a:pPr>
            <a:r>
              <a:rPr lang="zh-TW" altLang="en-US" sz="1600" dirty="0">
                <a:solidFill>
                  <a:schemeClr val="bg1"/>
                </a:solidFill>
              </a:rPr>
              <a:t>使用情境、來源引用、測試與失敗分析</a:t>
            </a:r>
            <a:endParaRPr lang="zh-TW" sz="1600" dirty="0"/>
          </a:p>
        </p:txBody>
      </p:sp>
      <p:sp>
        <p:nvSpPr>
          <p:cNvPr id="19" name="text-527"/>
          <p:cNvSpPr txBox="1"/>
          <p:nvPr/>
        </p:nvSpPr>
        <p:spPr>
          <a:xfrm>
            <a:off x="548640" y="3931920"/>
            <a:ext cx="11064240" cy="329184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buNone/>
            </a:pPr>
            <a:r>
              <a:rPr lang="zh-TW" altLang="en-US" sz="1400" dirty="0">
                <a:solidFill>
                  <a:schemeClr val="accent1"/>
                </a:solidFill>
              </a:rPr>
              <a:t>以上是建議分工，實際貢獻待兩位確認；開發、測試與簡報製作有使用 AI 工具（Codex、Claude）協助。</a:t>
            </a:r>
            <a:endParaRPr lang="zh-TW" sz="1400" dirty="0"/>
          </a:p>
        </p:txBody>
      </p:sp>
      <p:sp>
        <p:nvSpPr>
          <p:cNvPr id="20" name="time-seg-528"/>
          <p:cNvSpPr/>
          <p:nvPr/>
        </p:nvSpPr>
        <p:spPr>
          <a:xfrm>
            <a:off x="548640" y="4617720"/>
            <a:ext cx="7700162" cy="566928"/>
          </a:xfrm>
          <a:prstGeom prst="rect">
            <a:avLst/>
          </a:prstGeom>
          <a:solidFill>
            <a:schemeClr val="accent1"/>
          </a:solidFill>
          <a:ln/>
        </p:spPr>
      </p:sp>
      <p:sp>
        <p:nvSpPr>
          <p:cNvPr id="21" name="text-529"/>
          <p:cNvSpPr txBox="1"/>
          <p:nvPr/>
        </p:nvSpPr>
        <p:spPr>
          <a:xfrm>
            <a:off x="685800" y="4617720"/>
            <a:ext cx="7517282" cy="56692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zh-TW" altLang="en-US" sz="1500" b="1" dirty="0">
                <a:solidFill>
                  <a:schemeClr val="tx2"/>
                </a:solidFill>
              </a:rPr>
              <a:t>簡報＋示範 14 分鐘</a:t>
            </a:r>
            <a:endParaRPr lang="zh-TW" sz="1500" dirty="0"/>
          </a:p>
        </p:txBody>
      </p:sp>
      <p:sp>
        <p:nvSpPr>
          <p:cNvPr id="22" name="time-seg-530"/>
          <p:cNvSpPr/>
          <p:nvPr/>
        </p:nvSpPr>
        <p:spPr>
          <a:xfrm>
            <a:off x="8294522" y="4617720"/>
            <a:ext cx="2750058" cy="566928"/>
          </a:xfrm>
          <a:prstGeom prst="rect">
            <a:avLst/>
          </a:prstGeom>
          <a:solidFill>
            <a:schemeClr val="bg1"/>
          </a:solidFill>
          <a:ln/>
        </p:spPr>
      </p:sp>
      <p:sp>
        <p:nvSpPr>
          <p:cNvPr id="23" name="text-531"/>
          <p:cNvSpPr txBox="1"/>
          <p:nvPr/>
        </p:nvSpPr>
        <p:spPr>
          <a:xfrm>
            <a:off x="8431682" y="4617720"/>
            <a:ext cx="2567178" cy="56692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zh-TW" altLang="en-US" sz="1500" b="1" dirty="0">
                <a:solidFill>
                  <a:schemeClr val="tx2"/>
                </a:solidFill>
              </a:rPr>
              <a:t>問答 5 分鐘</a:t>
            </a:r>
            <a:endParaRPr lang="zh-TW" sz="1500" dirty="0"/>
          </a:p>
        </p:txBody>
      </p:sp>
      <p:sp>
        <p:nvSpPr>
          <p:cNvPr id="24" name="time-seg-532"/>
          <p:cNvSpPr/>
          <p:nvPr/>
        </p:nvSpPr>
        <p:spPr>
          <a:xfrm>
            <a:off x="11090300" y="4617720"/>
            <a:ext cx="550012" cy="566928"/>
          </a:xfrm>
          <a:prstGeom prst="rect">
            <a:avLst/>
          </a:prstGeom>
          <a:solidFill>
            <a:schemeClr val="accent6"/>
          </a:solidFill>
          <a:ln/>
        </p:spPr>
      </p:sp>
      <p:sp>
        <p:nvSpPr>
          <p:cNvPr id="25" name="text-533"/>
          <p:cNvSpPr txBox="1"/>
          <p:nvPr/>
        </p:nvSpPr>
        <p:spPr>
          <a:xfrm>
            <a:off x="11090300" y="4617720"/>
            <a:ext cx="550012" cy="56692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zh-TW" altLang="en-US" sz="1200" b="1" dirty="0">
                <a:solidFill>
                  <a:schemeClr val="bg1"/>
                </a:solidFill>
              </a:rPr>
              <a:t>緩衝</a:t>
            </a:r>
            <a:endParaRPr lang="zh-TW" sz="1200" dirty="0"/>
          </a:p>
        </p:txBody>
      </p:sp>
      <p:sp>
        <p:nvSpPr>
          <p:cNvPr id="26" name="text-534"/>
          <p:cNvSpPr txBox="1"/>
          <p:nvPr/>
        </p:nvSpPr>
        <p:spPr>
          <a:xfrm>
            <a:off x="9811512" y="5257800"/>
            <a:ext cx="1828800" cy="27432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algn="r" indent="0" marL="0">
              <a:buNone/>
            </a:pPr>
            <a:r>
              <a:rPr lang="zh-TW" altLang="en-US" sz="1200" dirty="0">
                <a:solidFill>
                  <a:schemeClr val="bg2"/>
                </a:solidFill>
              </a:rPr>
              <a:t>共 20 分鐘</a:t>
            </a:r>
            <a:endParaRPr lang="zh-TW" sz="1200" dirty="0"/>
          </a:p>
        </p:txBody>
      </p:sp>
      <p:sp>
        <p:nvSpPr>
          <p:cNvPr id="27" name="text-535"/>
          <p:cNvSpPr txBox="1"/>
          <p:nvPr/>
        </p:nvSpPr>
        <p:spPr>
          <a:xfrm>
            <a:off x="548640" y="5440680"/>
            <a:ext cx="7315200" cy="54864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zh-TW" altLang="en-US" sz="2600" b="1" dirty="0">
                <a:solidFill>
                  <a:schemeClr val="bg1"/>
                </a:solidFill>
              </a:rPr>
              <a:t>謝謝，歡迎提問</a:t>
            </a:r>
            <a:endParaRPr lang="zh-TW" sz="2600" dirty="0"/>
          </a:p>
        </p:txBody>
      </p:sp>
      <p:sp>
        <p:nvSpPr>
          <p:cNvPr id="25" name="Slide Number Placeholder 0"/>
          <p:cNvSpPr>
            <a:spLocks noGrp="1"/>
          </p:cNvSpPr>
          <p:nvPr>
            <p:ph type="sldNum" sz="quarter" idx="4294967295"/>
          </p:nvPr>
        </p:nvSpPr>
        <p:spPr>
          <a:xfrm>
            <a:off x="11091672" y="6400800"/>
            <a:ext cx="548640" cy="256032"/>
          </a:xfrm>
          <a:prstGeom prst="rect">
            <a:avLst/>
          </a:prstGeom>
          <a:extLst>
            <a:ext uri="{C572A759-6A51-4108-AA02-DFA0A04FC94B}">
              <ma14:wrappingTextBoxFlag xmlns:ma14="http://schemas.microsoft.com/office/mac/drawingml/2011/main" val="0"/>
            </a:ext>
          </a:extLst>
        </p:spPr>
        <p:txBody>
          <a:bodyPr/>
          <a:lstStyle>
            <a:lvl1pPr>
              <a:defRPr sz="1000">
                <a:solidFill>
                  <a:schemeClr val="bg2"/>
                </a:solidFill>
              </a:defRPr>
            </a:lvl1pPr>
          </a:lstStyle>
          <a:p>
            <a:pPr algn="r"/>
            <a:fld id="{F7021451-1387-4CA6-816F-3879F97B5CBC}" type="slidenum">
              <a:rPr b="0" lang="en-US"/>
              <a:t>15</a:t>
            </a:fld>
            <a:endParaRPr lang="en-US"/>
          </a:p>
        </p:txBody>
      </p:sp>
    </p:spTree>
  </p:cSld>
  <p:clrMapOvr>
    <a:masterClrMapping/>
  </p:clrMapOvr>
</p:sld>
</file>

<file path=ppt/theme/theme1.xml><?xml version="1.0" encoding="utf-8"?>
<a:theme xmlns:a="http://schemas.openxmlformats.org/drawingml/2006/main" name="Team02 Ink and Status">
  <a:themeElements>
    <a:clrScheme name="Team02 Ink and Status">
      <a:dk1>
        <a:srgbClr val="1A2233"/>
      </a:dk1>
      <a:lt1>
        <a:srgbClr val="FFFFFF"/>
      </a:lt1>
      <a:dk2>
        <a:srgbClr val="1F2D4A"/>
      </a:dk2>
      <a:lt2>
        <a:srgbClr val="EEF2F7"/>
      </a:lt2>
      <a:accent1>
        <a:srgbClr val="F5C542"/>
      </a:accent1>
      <a:accent2>
        <a:srgbClr val="1E8A5A"/>
      </a:accent2>
      <a:accent3>
        <a:srgbClr val="C25E12"/>
      </a:accent3>
      <a:accent4>
        <a:srgbClr val="3D6BB3"/>
      </a:accent4>
      <a:accent5>
        <a:srgbClr val="C73541"/>
      </a:accent5>
      <a:accent6>
        <a:srgbClr val="66768C"/>
      </a:accent6>
      <a:hlink>
        <a:srgbClr val="3D6BB3"/>
      </a:hlink>
      <a:folHlink>
        <a:srgbClr val="66768C"/>
      </a:folHlink>
    </a:clrScheme>
    <a:fontScheme name="Team02 Ink and Status">
      <a:majorFont>
        <a:latin typeface="PingFang TC"/>
        <a:ea typeface="PingFang TC"/>
        <a:cs typeface=""/>
        <a:font script="Jpan" typeface="游ゴシック Light"/>
        <a:font script="Hang" typeface="맑은 고딕"/>
        <a:font script="Hans" typeface="等线 Light"/>
        <a:font script="Hant" typeface="PingFang TC"/>
        <a:font script="Arab" typeface="Times New Roman"/>
        <a:font script="Hebr" typeface="Times New Roman"/>
        <a:font script="Thai" typeface="Angsana New"/>
        <a:font script="Ethi" typeface="Nyala"/>
        <a:font script="Beng" typeface="Vrinda"/>
        <a:font script="Gujr" typeface="Shruti"/>
        <a:font script="Khmr" typeface="MoolBoran"/>
        <a:font script="Knda" typeface="Tunga"/>
        <a:font script="Guru" typeface="Raavi"/>
        <a:font script="Cans" typeface="Euphemia"/>
        <a:font script="Cher" typeface="Plantagenet Cherokee"/>
        <a:font script="Yiii" typeface="Microsoft Yi Baiti"/>
        <a:font script="Tibt" typeface="Microsoft Himalaya"/>
        <a:font script="Thaa" typeface="MV Boli"/>
        <a:font script="Deva" typeface="Mangal"/>
        <a:font script="Telu" typeface="Gautami"/>
        <a:font script="Taml" typeface="Latha"/>
        <a:font script="Syrc" typeface="Estrangelo Edessa"/>
        <a:font script="Orya" typeface="Kalinga"/>
        <a:font script="Mlym" typeface="Kartika"/>
        <a:font script="Laoo" typeface="DokChampa"/>
        <a:font script="Sinh" typeface="Iskoola Pota"/>
        <a:font script="Mong" typeface="Mongolian Baiti"/>
        <a:font script="Viet" typeface="Times New Roman"/>
        <a:font script="Uigh" typeface="Microsoft Uighur"/>
        <a:font script="Geor" typeface="Sylfaen"/>
        <a:font script="Armn" typeface="Arial"/>
        <a:font script="Bugi" typeface="Leelawadee UI"/>
        <a:font script="Bopo" typeface="Microsoft JhengHei"/>
        <a:font script="Java" typeface="Javanese Text"/>
        <a:font script="Lisu" typeface="Segoe UI"/>
        <a:font script="Mymr" typeface="Myanmar Text"/>
        <a:font script="Nkoo" typeface="Ebrima"/>
        <a:font script="Olck" typeface="Nirmala UI"/>
        <a:font script="Osma" typeface="Ebrima"/>
        <a:font script="Phag" typeface="Phagspa"/>
        <a:font script="Syrn" typeface="Estrangelo Edessa"/>
        <a:font script="Syrj" typeface="Estrangelo Edessa"/>
        <a:font script="Syre" typeface="Estrangelo Edessa"/>
        <a:font script="Sora" typeface="Nirmala UI"/>
        <a:font script="Tale" typeface="Microsoft Tai Le"/>
        <a:font script="Talu" typeface="Microsoft New Tai Lue"/>
        <a:font script="Tfng" typeface="Ebrima"/>
      </a:majorFont>
      <a:minorFont>
        <a:latin typeface="PingFang TC"/>
        <a:ea typeface="PingFang TC"/>
        <a:cs typeface=""/>
        <a:font script="Jpan" typeface="游ゴシック"/>
        <a:font script="Hang" typeface="맑은 고딕"/>
        <a:font script="Hans" typeface="等线"/>
        <a:font script="Hant" typeface="PingFang TC"/>
        <a:font script="Arab" typeface="Arial"/>
        <a:font script="Hebr" typeface="Arial"/>
        <a:font script="Thai" typeface="Cordia New"/>
        <a:font script="Ethi" typeface="Nyala"/>
        <a:font script="Beng" typeface="Vrinda"/>
        <a:font script="Gujr" typeface="Shruti"/>
        <a:font script="Khmr" typeface="DaunPenh"/>
        <a:font script="Knda" typeface="Tunga"/>
        <a:font script="Guru" typeface="Raavi"/>
        <a:font script="Cans" typeface="Euphemia"/>
        <a:font script="Cher" typeface="Plantagenet Cherokee"/>
        <a:font script="Yiii" typeface="Microsoft Yi Baiti"/>
        <a:font script="Tibt" typeface="Microsoft Himalaya"/>
        <a:font script="Thaa" typeface="MV Boli"/>
        <a:font script="Deva" typeface="Mangal"/>
        <a:font script="Telu" typeface="Gautami"/>
        <a:font script="Taml" typeface="Latha"/>
        <a:font script="Syrc" typeface="Estrangelo Edessa"/>
        <a:font script="Orya" typeface="Kalinga"/>
        <a:font script="Mlym" typeface="Kartika"/>
        <a:font script="Laoo" typeface="DokChampa"/>
        <a:font script="Sinh" typeface="Iskoola Pota"/>
        <a:font script="Mong" typeface="Mongolian Baiti"/>
        <a:font script="Viet" typeface="Arial"/>
        <a:font script="Uigh" typeface="Microsoft Uighur"/>
        <a:font script="Geor" typeface="Sylfaen"/>
        <a:font script="Armn" typeface="Arial"/>
        <a:font script="Bugi" typeface="Leelawadee UI"/>
        <a:font script="Bopo" typeface="Microsoft JhengHei"/>
        <a:font script="Java" typeface="Javanese Text"/>
        <a:font script="Lisu" typeface="Segoe UI"/>
        <a:font script="Mymr" typeface="Myanmar Text"/>
        <a:font script="Nkoo" typeface="Ebrima"/>
        <a:font script="Olck" typeface="Nirmala UI"/>
        <a:font script="Osma" typeface="Ebrima"/>
        <a:font script="Phag" typeface="Phagspa"/>
        <a:font script="Syrn" typeface="Estrangelo Edessa"/>
        <a:font script="Syrj" typeface="Estrangelo Edessa"/>
        <a:font script="Syre" typeface="Estrangelo Edessa"/>
        <a:font script="Sora" typeface="Nirmala UI"/>
        <a:font script="Tale" typeface="Microsoft Tai Le"/>
        <a:font script="Talu" typeface="Microsoft New Tai Lue"/>
        <a:font script="Tfng" typeface="Ebrima"/>
      </a:minorFont>
    </a:fontScheme>
    <a:fmtScheme name="Office">
      <a:fillStyleLst>
        <a:solidFill>
          <a:schemeClr val="phClr"/>
        </a:solidFill>
        <a:gradFill rotWithShape="1">
          <a:gsLst>
            <a:gs pos="0">
              <a:schemeClr val="phClr">
                <a:lumMod val="110000"/>
                <a:satMod val="105000"/>
                <a:tint val="67000"/>
              </a:schemeClr>
            </a:gs>
            <a:gs pos="50000">
              <a:schemeClr val="phClr">
                <a:lumMod val="105000"/>
                <a:satMod val="103000"/>
                <a:tint val="73000"/>
              </a:schemeClr>
            </a:gs>
            <a:gs pos="100000">
              <a:schemeClr val="phClr">
                <a:lumMod val="105000"/>
                <a:satMod val="109000"/>
                <a:tint val="81000"/>
              </a:schemeClr>
            </a:gs>
          </a:gsLst>
          <a:lin ang="5400000" scaled="0"/>
        </a:gradFill>
        <a:gradFill rotWithShape="1">
          <a:gsLst>
            <a:gs pos="0">
              <a:schemeClr val="phClr">
                <a:satMod val="103000"/>
                <a:lumMod val="102000"/>
                <a:tint val="94000"/>
              </a:schemeClr>
            </a:gs>
            <a:gs pos="50000">
              <a:schemeClr val="phClr">
                <a:satMod val="110000"/>
                <a:lumMod val="100000"/>
                <a:shade val="100000"/>
              </a:schemeClr>
            </a:gs>
            <a:gs pos="100000">
              <a:schemeClr val="phClr">
                <a:lumMod val="99000"/>
                <a:satMod val="120000"/>
                <a:shade val="78000"/>
              </a:schemeClr>
            </a:gs>
          </a:gsLst>
          <a:lin ang="5400000" scaled="0"/>
        </a:gradFill>
      </a:fillStyleLst>
      <a:lnStyleLst>
        <a:ln w="6350" cap="flat" cmpd="sng" algn="ctr">
          <a:solidFill>
            <a:schemeClr val="phClr"/>
          </a:solidFill>
          <a:prstDash val="solid"/>
          <a:miter lim="800000"/>
        </a:ln>
        <a:ln w="12700" cap="flat" cmpd="sng" algn="ctr">
          <a:solidFill>
            <a:schemeClr val="phClr"/>
          </a:solidFill>
          <a:prstDash val="solid"/>
          <a:miter lim="800000"/>
        </a:ln>
        <a:ln w="19050" cap="flat" cmpd="sng" algn="ctr">
          <a:solidFill>
            <a:schemeClr val="phClr"/>
          </a:solidFill>
          <a:prstDash val="solid"/>
          <a:miter lim="800000"/>
        </a:ln>
      </a:lnStyleLst>
      <a:effectStyleLst>
        <a:effectStyle>
          <a:effectLst/>
        </a:effectStyle>
        <a:effectStyle>
          <a:effectLst/>
        </a:effectStyle>
        <a:effectStyle>
          <a:effectLst>
            <a:outerShdw blurRad="57150" dist="19050" dir="5400000" algn="ctr" rotWithShape="0">
              <a:srgbClr val="000000">
                <a:alpha val="63000"/>
              </a:srgbClr>
            </a:outerShdw>
          </a:effectLst>
        </a:effectStyle>
      </a:effectStyleLst>
      <a:bgFillStyleLst>
        <a:solidFill>
          <a:schemeClr val="phClr"/>
        </a:solidFill>
        <a:solidFill>
          <a:schemeClr val="phClr">
            <a:tint val="95000"/>
            <a:satMod val="170000"/>
          </a:schemeClr>
        </a:solidFill>
        <a:gradFill rotWithShape="1">
          <a:gsLst>
            <a:gs pos="0">
              <a:schemeClr val="phClr">
                <a:tint val="93000"/>
                <a:satMod val="150000"/>
                <a:shade val="98000"/>
                <a:lumMod val="102000"/>
              </a:schemeClr>
            </a:gs>
            <a:gs pos="50000">
              <a:schemeClr val="phClr">
                <a:tint val="98000"/>
                <a:satMod val="130000"/>
                <a:shade val="90000"/>
                <a:lumMod val="103000"/>
              </a:schemeClr>
            </a:gs>
            <a:gs pos="100000">
              <a:schemeClr val="phClr">
                <a:shade val="63000"/>
                <a:satMod val="120000"/>
              </a:schemeClr>
            </a:gs>
          </a:gsLst>
          <a:lin ang="5400000" scaled="0"/>
        </a:gradFill>
      </a:bgFillStyleLst>
    </a:fmtScheme>
  </a:themeElements>
  <a:objectDefaults/>
  <a:extraClrSchemeLst/>
  <a:extLst>
    <a:ext uri="{05A4C25C-085E-4340-85A3-A5531E510DB2}">
      <thm15:themeFamily xmlns:thm15="http://schemas.microsoft.com/office/thememl/2012/main" name="Office Theme" id="{62F939B6-93AF-4DB8-9C6B-D6C7DFDC589F}" vid="{4A3C46E8-61CC-4603-A589-7422A47A8E4A}"/>
    </a:ext>
  </a:extLst>
</a:theme>
</file>

<file path=docProps/app.xml><?xml version="1.0" encoding="utf-8"?>
<Properties xmlns="http://schemas.openxmlformats.org/officeDocument/2006/extended-properties" xmlns:vt="http://schemas.openxmlformats.org/officeDocument/2006/docPropsVTypes">
  <TotalTime>0</TotalTime>
  <Words>0</Words>
  <Application>Microsoft Office PowerPoint</Application>
  <PresentationFormat>On-screen Show (16:9)</PresentationFormat>
  <Paragraphs>0</Paragraphs>
  <Slides>15</Slides>
  <Notes>15</Notes>
  <HiddenSlides>0</HiddenSlides>
  <MMClips>0</MMClips>
  <ScaleCrop>false</ScaleCrop>
  <HeadingPairs>
    <vt:vector size="6" baseType="variant">
      <vt:variant>
        <vt:lpstr>Fonts Used</vt:lpstr>
      </vt:variant>
      <vt:variant>
        <vt:i4>2</vt:i4>
      </vt:variant>
      <vt:variant>
        <vt:lpstr>Theme</vt:lpstr>
      </vt:variant>
      <vt:variant>
        <vt:i4>1</vt:i4>
      </vt:variant>
      <vt:variant>
        <vt:lpstr>Slide Titles</vt:lpstr>
      </vt:variant>
      <vt:variant>
        <vt:i4>15</vt:i4>
      </vt:variant>
    </vt:vector>
  </HeadingPairs>
  <TitlesOfParts>
    <vt:vector size="18" baseType="lpstr">
      <vt:lpstr>Arial</vt:lpstr>
      <vt:lpstr>Calibri</vt:lpstr>
      <vt:lpstr>Office Theme</vt:lpstr>
      <vt:lpstr>Slide 1</vt:lpstr>
      <vt:lpstr>Slide 2</vt:lpstr>
      <vt:lpstr>Slide 3</vt:lpstr>
      <vt:lpstr>Slide 4</vt:lpstr>
      <vt:lpstr>Slide 5</vt:lpstr>
      <vt:lpstr>Slide 6</vt:lpstr>
      <vt:lpstr>Slide 7</vt:lpstr>
      <vt:lpstr>Slide 8</vt:lpstr>
      <vt:lpstr>Slide 9</vt:lpstr>
      <vt:lpstr>Slide 10</vt:lpstr>
      <vt:lpstr>Slide 11</vt:lpstr>
      <vt:lpstr>Slide 12</vt:lpstr>
      <vt:lpstr>Slide 13</vt:lpstr>
      <vt:lpstr>Slide 14</vt:lpstr>
      <vt:lpstr>Slide 15</vt:lpstr>
    </vt:vector>
  </TitlesOfParts>
  <Company>PptxGenJS</Company>
  <LinksUpToDate>false</LinksUpToDate>
  <SharedDoc>false</SharedDoc>
  <HyperlinksChanged>false</HyperlinksChanged>
  <AppVersion>16.0000</AppVersion>
</Properties>
</file>

<file path=docProps/core.xml><?xml version="1.0" encoding="utf-8"?>
<cp:coreProperties xmlns:cp="http://schemas.openxmlformats.org/package/2006/metadata/core-properties" xmlns:dc="http://purl.org/dc/elements/1.1/" xmlns:dcterms="http://purl.org/dc/terms/" xmlns:dcmitype="http://purl.org/dc/dcmitype/" xmlns:xsi="http://www.w3.org/2001/XMLSchema-instance">
  <dc:title>作業規格與缺漏檢查助手：階段成果檢視（v2）</dc:title>
  <dc:subject>PptxGenJS Presentation</dc:subject>
  <dc:creator>第 02 組</dc:creator>
  <cp:lastModifiedBy>第 02 組</cp:lastModifiedBy>
  <cp:revision>1</cp:revision>
  <dcterms:created xsi:type="dcterms:W3CDTF">2026-10-29T13:06:41Z</dcterms:created>
  <dcterms:modified xsi:type="dcterms:W3CDTF">2026-10-29T13:06:41Z</dcterms:modified>
</cp:coreProperties>
</file>